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da8a561c-ef59-8e39-621a-76b6acd5e7f1}">
          <p14:sldIdLst>
            <p14:sldId id="256"/>
            <p14:sldId id="257"/>
            <p14:sldId id="258"/>
          </p14:sldIdLst>
        </p14:section>
        <p14:section name="Architecture" id="{f6b04870-f2f8-07bf-9c3e-f61b4893beaa}">
          <p14:sldIdLst>
            <p14:sldId id="259"/>
          </p14:sldIdLst>
        </p14:section>
        <p14:section name="Language" id="{8246dc8b-57e5-6116-8387-41c32d901846}">
          <p14:sldIdLst>
            <p14:sldId id="260"/>
            <p14:sldId id="261"/>
            <p14:sldId id="262"/>
          </p14:sldIdLst>
        </p14:section>
        <p14:section name="One line" id="{ce9da908-b047-571e-4c81-a9dfa43aaf56}">
          <p14:sldIdLst>
            <p14:sldId id="263"/>
            <p14:sldId id="264"/>
            <p14:sldId id="265"/>
          </p14:sldIdLst>
        </p14:section>
        <p14:section name="Inside the compiler" id="{69a3159c-853e-2095-4ecd-ad8c0286673e}">
          <p14:sldIdLst>
            <p14:sldId id="266"/>
            <p14:sldId id="267"/>
            <p14:sldId id="268"/>
            <p14:sldId id="269"/>
            <p14:sldId id="270"/>
          </p14:sldIdLst>
        </p14:section>
        <p14:section name="Status" id="{626f4bf4-8d19-9880-bae9-80067f5b96af}">
          <p14:sldIdLst>
            <p14:sldId id="271"/>
          </p14:sldIdLst>
        </p14:section>
        <p14:section name="Close" id="{8f5cc77d-5b93-18b8-2286-f2f543af9dfd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NOTE_TITLE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874520"/>
            <a:ext cx="658368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800" b="1" spc="-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8800" b="1" spc="-300" kern="0" dirty="0">
                <a:solidFill>
                  <a:schemeClr val="tx1"/>
                </a:solidFill>
              </a:rPr>
              <a:t> </a:t>
            </a:r>
            <a:endParaRPr lang="en-US" sz="8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310128"/>
            <a:ext cx="54864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400" dirty="0">
                <a:solidFill>
                  <a:schemeClr val="accent2"/>
                </a:solidFill>
              </a:rPr>
              <a:t> 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572000"/>
            <a:ext cx="64008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spc="100" kern="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300" spc="100" kern="0" dirty="0">
                <a:solidFill>
                  <a:schemeClr val="tx2"/>
                </a:solidFill>
              </a:rPr>
              <a:t> 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NOTE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96112"/>
            <a:ext cx="10545775" cy="12984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spc="-12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1"/>
                </a:solidFill>
              </a:rPr>
              <a:t> 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NOTE_CENTER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96112"/>
            <a:ext cx="10545775" cy="12984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b="1" spc="-120" kern="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4400" b="1" spc="-120" kern="0" dirty="0">
                <a:solidFill>
                  <a:schemeClr val="tx1"/>
                </a:solidFill>
              </a:rPr>
              <a:t> 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NOTE_STATEMENT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43000" y="1783080"/>
            <a:ext cx="9905695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400" b="1" spc="-60" kern="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3400" b="1" spc="-60" kern="0" dirty="0">
                <a:solidFill>
                  <a:schemeClr val="tx1"/>
                </a:solidFill>
              </a:rPr>
              <a:t> 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4846320"/>
            <a:ext cx="1054577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spc="100" kern="0" dirty="0">
                <a:solidFill>
                  <a:schemeClr val="tx2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400" spc="100" kern="0" dirty="0">
                <a:solidFill>
                  <a:schemeClr val="tx2"/>
                </a:solidFill>
              </a:rPr>
              <a:t> 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Jaskaran-Singh-ops/AeroDSL" TargetMode="Externa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mb22_title"/>
          <p:cNvSpPr/>
          <p:nvPr/>
        </p:nvSpPr>
        <p:spPr>
          <a:xfrm>
            <a:off x="5577840" y="-91440"/>
            <a:ext cx="7863840" cy="6217920"/>
          </a:xfrm>
          <a:prstGeom prst="ellipse">
            <a:avLst/>
          </a:prstGeom>
          <a:gradFill rotWithShape="1">
            <a:gsLst>
              <a:gs pos="0">
                <a:schemeClr val="accent1">
                  <a:lumMod val="22000"/>
                </a:schemeClr>
              </a:gs>
              <a:gs pos="70000">
                <a:schemeClr val="bg1"/>
              </a:gs>
              <a:gs pos="100000">
                <a:schemeClr val="bg1"/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ring0"/>
          <p:cNvSpPr/>
          <p:nvPr/>
        </p:nvSpPr>
        <p:spPr>
          <a:xfrm>
            <a:off x="8229600" y="2468880"/>
            <a:ext cx="2194560" cy="2194560"/>
          </a:xfrm>
          <a:prstGeom prst="ellipse">
            <a:avLst/>
          </a:prstGeom>
          <a:ln w="9525">
            <a:solidFill>
              <a:schemeClr val="accent6"/>
            </a:solidFill>
            <a:prstDash val="solid"/>
          </a:ln>
        </p:spPr>
      </p:sp>
      <p:sp>
        <p:nvSpPr>
          <p:cNvPr id="4" name="ring1"/>
          <p:cNvSpPr/>
          <p:nvPr/>
        </p:nvSpPr>
        <p:spPr>
          <a:xfrm>
            <a:off x="7132320" y="1371600"/>
            <a:ext cx="4389120" cy="4389120"/>
          </a:xfrm>
          <a:prstGeom prst="ellipse">
            <a:avLst/>
          </a:prstGeom>
          <a:ln w="9525">
            <a:solidFill>
              <a:schemeClr val="accent6"/>
            </a:solidFill>
            <a:prstDash val="solid"/>
          </a:ln>
        </p:spPr>
      </p:sp>
      <p:sp>
        <p:nvSpPr>
          <p:cNvPr id="5" name="ring2"/>
          <p:cNvSpPr/>
          <p:nvPr/>
        </p:nvSpPr>
        <p:spPr>
          <a:xfrm>
            <a:off x="6035040" y="274320"/>
            <a:ext cx="6583680" cy="6583680"/>
          </a:xfrm>
          <a:prstGeom prst="ellipse">
            <a:avLst/>
          </a:prstGeom>
          <a:ln w="9525">
            <a:solidFill>
              <a:schemeClr val="accent6"/>
            </a:solidFill>
            <a:prstDash val="solid"/>
          </a:ln>
        </p:spPr>
      </p:sp>
      <p:sp>
        <p:nvSpPr>
          <p:cNvPr id="6" name="ring3"/>
          <p:cNvSpPr/>
          <p:nvPr/>
        </p:nvSpPr>
        <p:spPr>
          <a:xfrm>
            <a:off x="4937760" y="-822960"/>
            <a:ext cx="8778240" cy="8778240"/>
          </a:xfrm>
          <a:prstGeom prst="ellipse">
            <a:avLst/>
          </a:prstGeom>
          <a:ln w="9525">
            <a:solidFill>
              <a:schemeClr val="accent6"/>
            </a:solidFill>
            <a:prstDash val="solid"/>
          </a:ln>
        </p:spPr>
      </p:sp>
      <p:sp>
        <p:nvSpPr>
          <p:cNvPr id="7" name="faint0"/>
          <p:cNvSpPr/>
          <p:nvPr/>
        </p:nvSpPr>
        <p:spPr>
          <a:xfrm>
            <a:off x="4389120" y="5669280"/>
            <a:ext cx="8686800" cy="1920240"/>
          </a:xfrm>
          <a:custGeom>
            <a:avLst/>
            <a:gdLst/>
            <a:ahLst/>
            <a:cxnLst/>
            <a:rect l="l" t="t" r="r" b="b"/>
            <a:pathLst>
              <a:path w="8686800" h="1920240">
                <a:moveTo>
                  <a:pt x="0" y="1920240"/>
                </a:moveTo>
                <a:cubicBezTo>
                  <a:pt x="3291840" y="1005840"/>
                  <a:pt x="6035040" y="914400"/>
                  <a:pt x="8686800" y="0"/>
                </a:cubicBezTo>
              </a:path>
            </a:pathLst>
          </a:custGeom>
          <a:ln w="9525">
            <a:solidFill>
              <a:schemeClr val="accent5"/>
            </a:solidFill>
            <a:prstDash val="solid"/>
          </a:ln>
        </p:spPr>
      </p:sp>
      <p:sp>
        <p:nvSpPr>
          <p:cNvPr id="8" name="faint1"/>
          <p:cNvSpPr/>
          <p:nvPr/>
        </p:nvSpPr>
        <p:spPr>
          <a:xfrm>
            <a:off x="10424160" y="-365760"/>
            <a:ext cx="2834640" cy="6766560"/>
          </a:xfrm>
          <a:custGeom>
            <a:avLst/>
            <a:gdLst/>
            <a:ahLst/>
            <a:cxnLst/>
            <a:rect l="l" t="t" r="r" b="b"/>
            <a:pathLst>
              <a:path w="2834640" h="6766560">
                <a:moveTo>
                  <a:pt x="1097280" y="0"/>
                </a:moveTo>
                <a:cubicBezTo>
                  <a:pt x="0" y="2011680"/>
                  <a:pt x="914400" y="4572000"/>
                  <a:pt x="2834640" y="6766560"/>
                </a:cubicBezTo>
              </a:path>
            </a:pathLst>
          </a:custGeom>
          <a:ln w="9525">
            <a:solidFill>
              <a:schemeClr val="accent5"/>
            </a:solidFill>
            <a:prstDash val="solid"/>
          </a:ln>
        </p:spPr>
      </p:sp>
      <p:sp>
        <p:nvSpPr>
          <p:cNvPr id="9" name="silver0"/>
          <p:cNvSpPr/>
          <p:nvPr/>
        </p:nvSpPr>
        <p:spPr>
          <a:xfrm>
            <a:off x="5120640" y="4114800"/>
            <a:ext cx="7680960" cy="3200400"/>
          </a:xfrm>
          <a:custGeom>
            <a:avLst/>
            <a:gdLst/>
            <a:ahLst/>
            <a:cxnLst/>
            <a:rect l="l" t="t" r="r" b="b"/>
            <a:pathLst>
              <a:path w="7680960" h="3200400">
                <a:moveTo>
                  <a:pt x="0" y="3200400"/>
                </a:moveTo>
                <a:cubicBezTo>
                  <a:pt x="2194560" y="1645920"/>
                  <a:pt x="4206240" y="1097280"/>
                  <a:pt x="7680960" y="0"/>
                </a:cubicBezTo>
              </a:path>
            </a:pathLst>
          </a:custGeom>
          <a:ln w="11430">
            <a:solidFill>
              <a:schemeClr val="accent4"/>
            </a:solidFill>
            <a:prstDash val="solid"/>
          </a:ln>
        </p:spPr>
      </p:sp>
      <p:sp>
        <p:nvSpPr>
          <p:cNvPr id="10" name="ac0"/>
          <p:cNvSpPr/>
          <p:nvPr/>
        </p:nvSpPr>
        <p:spPr>
          <a:xfrm rot="4260000">
            <a:off x="9333601" y="5135602"/>
            <a:ext cx="100584" cy="155448"/>
          </a:xfrm>
          <a:prstGeom prst="triangle">
            <a:avLst/>
          </a:prstGeom>
          <a:solidFill>
            <a:schemeClr val="accent3"/>
          </a:solidFill>
          <a:ln/>
        </p:spPr>
      </p:sp>
      <p:sp>
        <p:nvSpPr>
          <p:cNvPr id="11" name="acl0"/>
          <p:cNvSpPr txBox="1"/>
          <p:nvPr/>
        </p:nvSpPr>
        <p:spPr>
          <a:xfrm>
            <a:off x="9511909" y="492071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BA117</a:t>
            </a:r>
            <a:endParaRPr lang="en-US" sz="900" dirty="0"/>
          </a:p>
        </p:txBody>
      </p:sp>
      <p:sp>
        <p:nvSpPr>
          <p:cNvPr id="12" name="silver1"/>
          <p:cNvSpPr/>
          <p:nvPr/>
        </p:nvSpPr>
        <p:spPr>
          <a:xfrm>
            <a:off x="7955280" y="365760"/>
            <a:ext cx="4754880" cy="5669280"/>
          </a:xfrm>
          <a:custGeom>
            <a:avLst/>
            <a:gdLst/>
            <a:ahLst/>
            <a:cxnLst/>
            <a:rect l="l" t="t" r="r" b="b"/>
            <a:pathLst>
              <a:path w="4754880" h="5669280">
                <a:moveTo>
                  <a:pt x="4754880" y="5669280"/>
                </a:moveTo>
                <a:cubicBezTo>
                  <a:pt x="2834640" y="5029200"/>
                  <a:pt x="1097280" y="3840480"/>
                  <a:pt x="0" y="0"/>
                </a:cubicBezTo>
              </a:path>
            </a:pathLst>
          </a:custGeom>
          <a:ln w="11430">
            <a:solidFill>
              <a:schemeClr val="accent4"/>
            </a:solidFill>
            <a:prstDash val="solid"/>
          </a:ln>
        </p:spPr>
      </p:sp>
      <p:sp>
        <p:nvSpPr>
          <p:cNvPr id="13" name="ac1"/>
          <p:cNvSpPr/>
          <p:nvPr/>
        </p:nvSpPr>
        <p:spPr>
          <a:xfrm rot="-2940000">
            <a:off x="10371019" y="4704659"/>
            <a:ext cx="100584" cy="155448"/>
          </a:xfrm>
          <a:prstGeom prst="triangle">
            <a:avLst/>
          </a:prstGeom>
          <a:solidFill>
            <a:schemeClr val="accent3"/>
          </a:solidFill>
          <a:ln/>
        </p:spPr>
      </p:sp>
      <p:sp>
        <p:nvSpPr>
          <p:cNvPr id="14" name="acl1"/>
          <p:cNvSpPr txBox="1"/>
          <p:nvPr/>
        </p:nvSpPr>
        <p:spPr>
          <a:xfrm>
            <a:off x="10549327" y="4489775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SG811</a:t>
            </a:r>
            <a:endParaRPr lang="en-US" sz="900" dirty="0"/>
          </a:p>
        </p:txBody>
      </p:sp>
      <p:sp>
        <p:nvSpPr>
          <p:cNvPr id="15" name="silver2"/>
          <p:cNvSpPr/>
          <p:nvPr/>
        </p:nvSpPr>
        <p:spPr>
          <a:xfrm>
            <a:off x="6766560" y="-457200"/>
            <a:ext cx="6217920" cy="3108960"/>
          </a:xfrm>
          <a:custGeom>
            <a:avLst/>
            <a:gdLst/>
            <a:ahLst/>
            <a:cxnLst/>
            <a:rect l="l" t="t" r="r" b="b"/>
            <a:pathLst>
              <a:path w="6217920" h="3108960">
                <a:moveTo>
                  <a:pt x="0" y="0"/>
                </a:moveTo>
                <a:cubicBezTo>
                  <a:pt x="1645920" y="1645920"/>
                  <a:pt x="2926080" y="1737360"/>
                  <a:pt x="6217920" y="3108960"/>
                </a:cubicBezTo>
              </a:path>
            </a:pathLst>
          </a:custGeom>
          <a:ln w="11430">
            <a:solidFill>
              <a:schemeClr val="accent4"/>
            </a:solidFill>
            <a:prstDash val="solid"/>
          </a:ln>
        </p:spPr>
      </p:sp>
      <p:sp>
        <p:nvSpPr>
          <p:cNvPr id="16" name="ac2"/>
          <p:cNvSpPr/>
          <p:nvPr/>
        </p:nvSpPr>
        <p:spPr>
          <a:xfrm rot="6720000">
            <a:off x="9495655" y="1241767"/>
            <a:ext cx="100584" cy="155448"/>
          </a:xfrm>
          <a:prstGeom prst="triangle">
            <a:avLst/>
          </a:prstGeom>
          <a:solidFill>
            <a:schemeClr val="accent3"/>
          </a:solidFill>
          <a:ln/>
        </p:spPr>
      </p:sp>
      <p:sp>
        <p:nvSpPr>
          <p:cNvPr id="17" name="acl2"/>
          <p:cNvSpPr txBox="1"/>
          <p:nvPr/>
        </p:nvSpPr>
        <p:spPr>
          <a:xfrm>
            <a:off x="9673963" y="1026883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QR572</a:t>
            </a:r>
            <a:endParaRPr lang="en-US" sz="900" dirty="0"/>
          </a:p>
        </p:txBody>
      </p:sp>
      <p:sp>
        <p:nvSpPr>
          <p:cNvPr id="18" name="hero_fadeL"/>
          <p:cNvSpPr/>
          <p:nvPr/>
        </p:nvSpPr>
        <p:spPr>
          <a:xfrm>
            <a:off x="3108960" y="2240280"/>
            <a:ext cx="7132320" cy="4983480"/>
          </a:xfrm>
          <a:custGeom>
            <a:avLst/>
            <a:gdLst/>
            <a:ahLst/>
            <a:cxnLst/>
            <a:rect l="l" t="t" r="r" b="b"/>
            <a:pathLst>
              <a:path w="7132320" h="4983480">
                <a:moveTo>
                  <a:pt x="0" y="4983480"/>
                </a:moveTo>
                <a:cubicBezTo>
                  <a:pt x="2926080" y="3886200"/>
                  <a:pt x="4846320" y="960120"/>
                  <a:pt x="7132320" y="0"/>
                </a:cubicBezTo>
              </a:path>
            </a:pathLst>
          </a:custGeom>
          <a:ln w="22225">
            <a:gradFill>
              <a:gsLst>
                <a:gs pos="0">
                  <a:schemeClr val="accent1">
                    <a:alpha val="0"/>
                  </a:schemeClr>
                </a:gs>
                <a:gs pos="60000">
                  <a:schemeClr val="accent1">
                    <a:alpha val="10000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0" scaled="0"/>
            </a:gradFill>
            <a:prstDash val="solid"/>
          </a:ln>
        </p:spPr>
      </p:sp>
      <p:sp>
        <p:nvSpPr>
          <p:cNvPr id="19" name="heroNext"/>
          <p:cNvSpPr/>
          <p:nvPr/>
        </p:nvSpPr>
        <p:spPr>
          <a:xfrm>
            <a:off x="10241280" y="1737360"/>
            <a:ext cx="2468880" cy="502920"/>
          </a:xfrm>
          <a:custGeom>
            <a:avLst/>
            <a:gdLst/>
            <a:ahLst/>
            <a:cxnLst/>
            <a:rect l="l" t="t" r="r" b="b"/>
            <a:pathLst>
              <a:path w="2468880" h="502920">
                <a:moveTo>
                  <a:pt x="0" y="502920"/>
                </a:moveTo>
                <a:cubicBezTo>
                  <a:pt x="822960" y="155448"/>
                  <a:pt x="1554480" y="45720"/>
                  <a:pt x="2468880" y="0"/>
                </a:cubicBezTo>
              </a:path>
            </a:pathLst>
          </a:custGeom>
          <a:ln w="12700">
            <a:solidFill>
              <a:schemeClr val="accent1"/>
            </a:solidFill>
            <a:prstDash val="dash"/>
          </a:ln>
        </p:spPr>
      </p:sp>
      <p:sp>
        <p:nvSpPr>
          <p:cNvPr id="20" name="heroAc_halo"/>
          <p:cNvSpPr/>
          <p:nvPr/>
        </p:nvSpPr>
        <p:spPr>
          <a:xfrm rot="4020000">
            <a:off x="10172700" y="2130552"/>
            <a:ext cx="137160" cy="219456"/>
          </a:xfrm>
          <a:prstGeom prst="triangle">
            <a:avLst/>
          </a:prstGeom>
          <a:solidFill>
            <a:schemeClr val="accent1"/>
          </a:solidFill>
          <a:ln/>
          <a:effectLst>
            <a:glow rad="114300">
              <a:schemeClr val="accent1">
                <a:alpha val="45000"/>
              </a:schemeClr>
            </a:glow>
          </a:effectLst>
        </p:spPr>
      </p:sp>
      <p:sp>
        <p:nvSpPr>
          <p:cNvPr id="21" name="heroLabel"/>
          <p:cNvSpPr txBox="1"/>
          <p:nvPr/>
        </p:nvSpPr>
        <p:spPr>
          <a:xfrm>
            <a:off x="10287000" y="24231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AI202</a:t>
            </a:r>
            <a:endParaRPr lang="en-US" sz="1000" dirty="0"/>
          </a:p>
        </p:txBody>
      </p:sp>
      <p:sp>
        <p:nvSpPr>
          <p:cNvPr id="22" name="Text 0"/>
          <p:cNvSpPr/>
          <p:nvPr>
            <p:ph idx="100" type="title" hasCustomPrompt="1"/>
          </p:nvPr>
        </p:nvSpPr>
        <p:spPr>
          <a:xfrm>
            <a:off x="822960" y="1874520"/>
            <a:ext cx="6583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800" b="1" spc="-300" kern="0" dirty="0">
                <a:solidFill>
                  <a:schemeClr val="tx1"/>
                </a:solidFill>
              </a:rPr>
              <a:t>AeroDSL</a:t>
            </a:r>
            <a:endParaRPr lang="en-US" sz="8800" dirty="0"/>
          </a:p>
        </p:txBody>
      </p:sp>
      <p:sp>
        <p:nvSpPr>
          <p:cNvPr id="23" name="Text 0"/>
          <p:cNvSpPr/>
          <p:nvPr>
            <p:ph idx="101" type="body" hasCustomPrompt="1"/>
          </p:nvPr>
        </p:nvSpPr>
        <p:spPr>
          <a:xfrm>
            <a:off x="822960" y="3310128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accent2"/>
                </a:solidFill>
              </a:rPr>
              <a:t>A compiler for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chemeClr val="accent2"/>
                </a:solidFill>
              </a:rPr>
              <a:t>aircraft traffic scenarios.</a:t>
            </a:r>
            <a:endParaRPr lang="en-US" sz="2400" dirty="0"/>
          </a:p>
        </p:txBody>
      </p:sp>
      <p:sp>
        <p:nvSpPr>
          <p:cNvPr id="24" name="Text 0"/>
          <p:cNvSpPr/>
          <p:nvPr>
            <p:ph idx="102" type="body" hasCustomPrompt="1"/>
          </p:nvPr>
        </p:nvSpPr>
        <p:spPr>
          <a:xfrm>
            <a:off x="822960" y="45720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chemeClr val="tx1"/>
                </a:solidFill>
              </a:rPr>
              <a:t>Review 2</a:t>
            </a:r>
            <a:r>
              <a:rPr lang="en-US" sz="1300" spc="100" kern="0" dirty="0">
                <a:solidFill>
                  <a:schemeClr val="tx2"/>
                </a:solidFill>
              </a:rPr>
              <a:t>  |  Design &amp; Architecture</a:t>
            </a:r>
            <a:endParaRPr lang="en-US" sz="1300" dirty="0"/>
          </a:p>
        </p:txBody>
      </p:sp>
      <p:sp>
        <p:nvSpPr>
          <p:cNvPr id="25" name="course"/>
          <p:cNvSpPr txBox="1"/>
          <p:nvPr/>
        </p:nvSpPr>
        <p:spPr>
          <a:xfrm>
            <a:off x="822960" y="49560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Compiler Design (BCSE307L)</a:t>
            </a:r>
            <a:endParaRPr lang="en-US" sz="1200" dirty="0"/>
          </a:p>
        </p:txBody>
      </p:sp>
      <p:sp>
        <p:nvSpPr>
          <p:cNvPr id="26" name="team_rule"/>
          <p:cNvSpPr/>
          <p:nvPr/>
        </p:nvSpPr>
        <p:spPr>
          <a:xfrm>
            <a:off x="822960" y="5413248"/>
            <a:ext cx="411480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7" name="tm0_n"/>
          <p:cNvSpPr txBox="1"/>
          <p:nvPr/>
        </p:nvSpPr>
        <p:spPr>
          <a:xfrm>
            <a:off x="822960" y="552297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Kaustav Goel</a:t>
            </a:r>
            <a:endParaRPr lang="en-US" sz="1250" dirty="0"/>
          </a:p>
        </p:txBody>
      </p:sp>
      <p:sp>
        <p:nvSpPr>
          <p:cNvPr id="28" name="tm0_r"/>
          <p:cNvSpPr txBox="1"/>
          <p:nvPr/>
        </p:nvSpPr>
        <p:spPr>
          <a:xfrm>
            <a:off x="822960" y="57607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24BCE0426</a:t>
            </a:r>
            <a:endParaRPr lang="en-US" sz="1050" dirty="0"/>
          </a:p>
        </p:txBody>
      </p:sp>
      <p:sp>
        <p:nvSpPr>
          <p:cNvPr id="29" name="tm1_n"/>
          <p:cNvSpPr txBox="1"/>
          <p:nvPr/>
        </p:nvSpPr>
        <p:spPr>
          <a:xfrm>
            <a:off x="2971800" y="552297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Jaskaran Singh</a:t>
            </a:r>
            <a:endParaRPr lang="en-US" sz="1250" dirty="0"/>
          </a:p>
        </p:txBody>
      </p:sp>
      <p:sp>
        <p:nvSpPr>
          <p:cNvPr id="30" name="tm1_r"/>
          <p:cNvSpPr txBox="1"/>
          <p:nvPr/>
        </p:nvSpPr>
        <p:spPr>
          <a:xfrm>
            <a:off x="2971800" y="57607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24BCE0466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96112"/>
            <a:ext cx="1054577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1"/>
                </a:solidFill>
              </a:rPr>
              <a:t>Index.</a:t>
            </a:r>
            <a:endParaRPr lang="en-US" sz="4400" dirty="0"/>
          </a:p>
        </p:txBody>
      </p:sp>
      <p:sp>
        <p:nvSpPr>
          <p:cNvPr id="3" name="ix_kl"/>
          <p:cNvSpPr txBox="1"/>
          <p:nvPr/>
        </p:nvSpPr>
        <p:spPr>
          <a:xfrm>
            <a:off x="1389888" y="1645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3"/>
                </a:solidFill>
              </a:rPr>
              <a:t>SECTION</a:t>
            </a:r>
            <a:endParaRPr lang="en-US" sz="950" dirty="0"/>
          </a:p>
        </p:txBody>
      </p:sp>
      <p:sp>
        <p:nvSpPr>
          <p:cNvPr id="4" name="ix_kp"/>
          <p:cNvSpPr txBox="1"/>
          <p:nvPr/>
        </p:nvSpPr>
        <p:spPr>
          <a:xfrm>
            <a:off x="4864608" y="16459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spc="150" kern="0" dirty="0">
                <a:solidFill>
                  <a:schemeClr val="accent3"/>
                </a:solidFill>
              </a:rPr>
              <a:t>SLIDE</a:t>
            </a:r>
            <a:endParaRPr lang="en-US" sz="950" dirty="0"/>
          </a:p>
        </p:txBody>
      </p:sp>
      <p:sp>
        <p:nvSpPr>
          <p:cNvPr id="5" name="ix_kl2"/>
          <p:cNvSpPr txBox="1"/>
          <p:nvPr/>
        </p:nvSpPr>
        <p:spPr>
          <a:xfrm>
            <a:off x="6979615" y="1645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3"/>
                </a:solidFill>
              </a:rPr>
              <a:t>SECTION</a:t>
            </a:r>
            <a:endParaRPr lang="en-US" sz="950" dirty="0"/>
          </a:p>
        </p:txBody>
      </p:sp>
      <p:sp>
        <p:nvSpPr>
          <p:cNvPr id="6" name="ix_kp2"/>
          <p:cNvSpPr txBox="1"/>
          <p:nvPr/>
        </p:nvSpPr>
        <p:spPr>
          <a:xfrm>
            <a:off x="10454335" y="16459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spc="150" kern="0" dirty="0">
                <a:solidFill>
                  <a:schemeClr val="accent3"/>
                </a:solidFill>
              </a:rPr>
              <a:t>SLIDE</a:t>
            </a:r>
            <a:endParaRPr lang="en-US" sz="950" dirty="0"/>
          </a:p>
        </p:txBody>
      </p:sp>
      <p:sp>
        <p:nvSpPr>
          <p:cNvPr id="7" name="ix0_r"/>
          <p:cNvSpPr/>
          <p:nvPr/>
        </p:nvSpPr>
        <p:spPr>
          <a:xfrm>
            <a:off x="822960" y="1938528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8" name="ix0_n"/>
          <p:cNvSpPr txBox="1"/>
          <p:nvPr/>
        </p:nvSpPr>
        <p:spPr>
          <a:xfrm>
            <a:off x="822960" y="20665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ix0_h"/>
          <p:cNvSpPr txBox="1"/>
          <p:nvPr/>
        </p:nvSpPr>
        <p:spPr>
          <a:xfrm>
            <a:off x="1389888" y="202996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Introduction</a:t>
            </a:r>
            <a:endParaRPr lang="en-US" sz="1600" dirty="0"/>
          </a:p>
        </p:txBody>
      </p:sp>
      <p:sp>
        <p:nvSpPr>
          <p:cNvPr id="10" name="ix0_d"/>
          <p:cNvSpPr txBox="1"/>
          <p:nvPr/>
        </p:nvSpPr>
        <p:spPr>
          <a:xfrm>
            <a:off x="1389888" y="2304288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The problem from Review 1, and our answer</a:t>
            </a:r>
            <a:endParaRPr lang="en-US" sz="1150" dirty="0"/>
          </a:p>
        </p:txBody>
      </p:sp>
      <p:sp>
        <p:nvSpPr>
          <p:cNvPr id="11" name="ix0_p"/>
          <p:cNvSpPr txBox="1"/>
          <p:nvPr/>
        </p:nvSpPr>
        <p:spPr>
          <a:xfrm>
            <a:off x="4864608" y="20665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ix1_r"/>
          <p:cNvSpPr/>
          <p:nvPr/>
        </p:nvSpPr>
        <p:spPr>
          <a:xfrm>
            <a:off x="822960" y="2560320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3" name="ix1_n"/>
          <p:cNvSpPr txBox="1"/>
          <p:nvPr/>
        </p:nvSpPr>
        <p:spPr>
          <a:xfrm>
            <a:off x="822960" y="26883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ix1_h"/>
          <p:cNvSpPr txBox="1"/>
          <p:nvPr/>
        </p:nvSpPr>
        <p:spPr>
          <a:xfrm>
            <a:off x="1389888" y="26517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Architecture</a:t>
            </a:r>
            <a:endParaRPr lang="en-US" sz="1600" dirty="0"/>
          </a:p>
        </p:txBody>
      </p:sp>
      <p:sp>
        <p:nvSpPr>
          <p:cNvPr id="15" name="ix1_d"/>
          <p:cNvSpPr txBox="1"/>
          <p:nvPr/>
        </p:nvSpPr>
        <p:spPr>
          <a:xfrm>
            <a:off x="1389888" y="2926080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The whole compiler, top to bottom</a:t>
            </a:r>
            <a:endParaRPr lang="en-US" sz="1150" dirty="0"/>
          </a:p>
        </p:txBody>
      </p:sp>
      <p:sp>
        <p:nvSpPr>
          <p:cNvPr id="16" name="ix1_p"/>
          <p:cNvSpPr txBox="1"/>
          <p:nvPr/>
        </p:nvSpPr>
        <p:spPr>
          <a:xfrm>
            <a:off x="4864608" y="26883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ix2_r"/>
          <p:cNvSpPr/>
          <p:nvPr/>
        </p:nvSpPr>
        <p:spPr>
          <a:xfrm>
            <a:off x="822960" y="3182112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8" name="ix2_n"/>
          <p:cNvSpPr txBox="1"/>
          <p:nvPr/>
        </p:nvSpPr>
        <p:spPr>
          <a:xfrm>
            <a:off x="822960" y="33101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ix2_h"/>
          <p:cNvSpPr txBox="1"/>
          <p:nvPr/>
        </p:nvSpPr>
        <p:spPr>
          <a:xfrm>
            <a:off x="1389888" y="3273552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language</a:t>
            </a:r>
            <a:endParaRPr lang="en-US" sz="1600" dirty="0"/>
          </a:p>
        </p:txBody>
      </p:sp>
      <p:sp>
        <p:nvSpPr>
          <p:cNvPr id="20" name="ix2_d"/>
          <p:cNvSpPr txBox="1"/>
          <p:nvPr/>
        </p:nvSpPr>
        <p:spPr>
          <a:xfrm>
            <a:off x="1389888" y="3547872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A scenario, written as a program</a:t>
            </a:r>
            <a:endParaRPr lang="en-US" sz="1150" dirty="0"/>
          </a:p>
        </p:txBody>
      </p:sp>
      <p:sp>
        <p:nvSpPr>
          <p:cNvPr id="21" name="ix2_p"/>
          <p:cNvSpPr txBox="1"/>
          <p:nvPr/>
        </p:nvSpPr>
        <p:spPr>
          <a:xfrm>
            <a:off x="4864608" y="3310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ix3_r"/>
          <p:cNvSpPr/>
          <p:nvPr/>
        </p:nvSpPr>
        <p:spPr>
          <a:xfrm>
            <a:off x="822960" y="3803904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3" name="ix3_n"/>
          <p:cNvSpPr txBox="1"/>
          <p:nvPr/>
        </p:nvSpPr>
        <p:spPr>
          <a:xfrm>
            <a:off x="822960" y="39319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ix3_h"/>
          <p:cNvSpPr txBox="1"/>
          <p:nvPr/>
        </p:nvSpPr>
        <p:spPr>
          <a:xfrm>
            <a:off x="1389888" y="389534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Grammar and parse tree</a:t>
            </a:r>
            <a:endParaRPr lang="en-US" sz="1600" dirty="0"/>
          </a:p>
        </p:txBody>
      </p:sp>
      <p:sp>
        <p:nvSpPr>
          <p:cNvPr id="25" name="ix3_d"/>
          <p:cNvSpPr txBox="1"/>
          <p:nvPr/>
        </p:nvSpPr>
        <p:spPr>
          <a:xfrm>
            <a:off x="1389888" y="4169664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The language in EBNF; one line, parsed</a:t>
            </a:r>
            <a:endParaRPr lang="en-US" sz="1150" dirty="0"/>
          </a:p>
        </p:txBody>
      </p:sp>
      <p:sp>
        <p:nvSpPr>
          <p:cNvPr id="26" name="ix3_p"/>
          <p:cNvSpPr txBox="1"/>
          <p:nvPr/>
        </p:nvSpPr>
        <p:spPr>
          <a:xfrm>
            <a:off x="4864608" y="3931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6–7</a:t>
            </a:r>
            <a:endParaRPr lang="en-US" sz="1300" dirty="0"/>
          </a:p>
        </p:txBody>
      </p:sp>
      <p:sp>
        <p:nvSpPr>
          <p:cNvPr id="27" name="ix4_r"/>
          <p:cNvSpPr/>
          <p:nvPr/>
        </p:nvSpPr>
        <p:spPr>
          <a:xfrm>
            <a:off x="822960" y="4425696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8" name="ix4_n"/>
          <p:cNvSpPr txBox="1"/>
          <p:nvPr/>
        </p:nvSpPr>
        <p:spPr>
          <a:xfrm>
            <a:off x="822960" y="45537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ix4_h"/>
          <p:cNvSpPr txBox="1"/>
          <p:nvPr/>
        </p:nvSpPr>
        <p:spPr>
          <a:xfrm>
            <a:off x="1389888" y="451713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One line through the compiler</a:t>
            </a:r>
            <a:endParaRPr lang="en-US" sz="1600" dirty="0"/>
          </a:p>
        </p:txBody>
      </p:sp>
      <p:sp>
        <p:nvSpPr>
          <p:cNvPr id="30" name="ix4_d"/>
          <p:cNvSpPr txBox="1"/>
          <p:nvPr/>
        </p:nvSpPr>
        <p:spPr>
          <a:xfrm>
            <a:off x="1389888" y="4791456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Front end, middle end, what comes out</a:t>
            </a:r>
            <a:endParaRPr lang="en-US" sz="1150" dirty="0"/>
          </a:p>
        </p:txBody>
      </p:sp>
      <p:sp>
        <p:nvSpPr>
          <p:cNvPr id="31" name="ix4_p"/>
          <p:cNvSpPr txBox="1"/>
          <p:nvPr/>
        </p:nvSpPr>
        <p:spPr>
          <a:xfrm>
            <a:off x="4864608" y="45537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8–10</a:t>
            </a:r>
            <a:endParaRPr lang="en-US" sz="1300" dirty="0"/>
          </a:p>
        </p:txBody>
      </p:sp>
      <p:sp>
        <p:nvSpPr>
          <p:cNvPr id="32" name="ix5_r"/>
          <p:cNvSpPr/>
          <p:nvPr/>
        </p:nvSpPr>
        <p:spPr>
          <a:xfrm>
            <a:off x="822960" y="5047488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33" name="ix5_n"/>
          <p:cNvSpPr txBox="1"/>
          <p:nvPr/>
        </p:nvSpPr>
        <p:spPr>
          <a:xfrm>
            <a:off x="822960" y="51755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ix5_h"/>
          <p:cNvSpPr txBox="1"/>
          <p:nvPr/>
        </p:nvSpPr>
        <p:spPr>
          <a:xfrm>
            <a:off x="1389888" y="513892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Inside the code</a:t>
            </a:r>
            <a:endParaRPr lang="en-US" sz="1600" dirty="0"/>
          </a:p>
        </p:txBody>
      </p:sp>
      <p:sp>
        <p:nvSpPr>
          <p:cNvPr id="35" name="ix5_d"/>
          <p:cNvSpPr txBox="1"/>
          <p:nvPr/>
        </p:nvSpPr>
        <p:spPr>
          <a:xfrm>
            <a:off x="1389888" y="5413248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Files and the core data structures</a:t>
            </a:r>
            <a:endParaRPr lang="en-US" sz="1150" dirty="0"/>
          </a:p>
        </p:txBody>
      </p:sp>
      <p:sp>
        <p:nvSpPr>
          <p:cNvPr id="36" name="ix5_p"/>
          <p:cNvSpPr txBox="1"/>
          <p:nvPr/>
        </p:nvSpPr>
        <p:spPr>
          <a:xfrm>
            <a:off x="4864608" y="51755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300" dirty="0"/>
          </a:p>
        </p:txBody>
      </p:sp>
      <p:sp>
        <p:nvSpPr>
          <p:cNvPr id="37" name="ix6_r"/>
          <p:cNvSpPr/>
          <p:nvPr/>
        </p:nvSpPr>
        <p:spPr>
          <a:xfrm>
            <a:off x="6412687" y="1938528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38" name="ix6_n"/>
          <p:cNvSpPr txBox="1"/>
          <p:nvPr/>
        </p:nvSpPr>
        <p:spPr>
          <a:xfrm>
            <a:off x="6412687" y="20665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300" dirty="0"/>
          </a:p>
        </p:txBody>
      </p:sp>
      <p:sp>
        <p:nvSpPr>
          <p:cNvPr id="39" name="ix6_h"/>
          <p:cNvSpPr txBox="1"/>
          <p:nvPr/>
        </p:nvSpPr>
        <p:spPr>
          <a:xfrm>
            <a:off x="6979615" y="202996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Front end</a:t>
            </a:r>
            <a:endParaRPr lang="en-US" sz="1600" dirty="0"/>
          </a:p>
        </p:txBody>
      </p:sp>
      <p:sp>
        <p:nvSpPr>
          <p:cNvPr id="40" name="ix6_d"/>
          <p:cNvSpPr txBox="1"/>
          <p:nvPr/>
        </p:nvSpPr>
        <p:spPr>
          <a:xfrm>
            <a:off x="6979615" y="2304288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Lexer, parser, symbol table</a:t>
            </a:r>
            <a:endParaRPr lang="en-US" sz="1150" dirty="0"/>
          </a:p>
        </p:txBody>
      </p:sp>
      <p:sp>
        <p:nvSpPr>
          <p:cNvPr id="41" name="ix6_p"/>
          <p:cNvSpPr txBox="1"/>
          <p:nvPr/>
        </p:nvSpPr>
        <p:spPr>
          <a:xfrm>
            <a:off x="10454335" y="20665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300" dirty="0"/>
          </a:p>
        </p:txBody>
      </p:sp>
      <p:sp>
        <p:nvSpPr>
          <p:cNvPr id="42" name="ix7_r"/>
          <p:cNvSpPr/>
          <p:nvPr/>
        </p:nvSpPr>
        <p:spPr>
          <a:xfrm>
            <a:off x="6412687" y="2560320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43" name="ix7_n"/>
          <p:cNvSpPr txBox="1"/>
          <p:nvPr/>
        </p:nvSpPr>
        <p:spPr>
          <a:xfrm>
            <a:off x="6412687" y="26883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300" dirty="0"/>
          </a:p>
        </p:txBody>
      </p:sp>
      <p:sp>
        <p:nvSpPr>
          <p:cNvPr id="44" name="ix7_h"/>
          <p:cNvSpPr txBox="1"/>
          <p:nvPr/>
        </p:nvSpPr>
        <p:spPr>
          <a:xfrm>
            <a:off x="6979615" y="26517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Middle end</a:t>
            </a:r>
            <a:endParaRPr lang="en-US" sz="1600" dirty="0"/>
          </a:p>
        </p:txBody>
      </p:sp>
      <p:sp>
        <p:nvSpPr>
          <p:cNvPr id="45" name="ix7_d"/>
          <p:cNvSpPr txBox="1"/>
          <p:nvPr/>
        </p:nvSpPr>
        <p:spPr>
          <a:xfrm>
            <a:off x="6979615" y="2926080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Three-address code and the control-flow graph</a:t>
            </a:r>
            <a:endParaRPr lang="en-US" sz="1150" dirty="0"/>
          </a:p>
        </p:txBody>
      </p:sp>
      <p:sp>
        <p:nvSpPr>
          <p:cNvPr id="46" name="ix7_p"/>
          <p:cNvSpPr txBox="1"/>
          <p:nvPr/>
        </p:nvSpPr>
        <p:spPr>
          <a:xfrm>
            <a:off x="10454335" y="26883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300" dirty="0"/>
          </a:p>
        </p:txBody>
      </p:sp>
      <p:sp>
        <p:nvSpPr>
          <p:cNvPr id="47" name="ix8_r"/>
          <p:cNvSpPr/>
          <p:nvPr/>
        </p:nvSpPr>
        <p:spPr>
          <a:xfrm>
            <a:off x="6412687" y="3182112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48" name="ix8_n"/>
          <p:cNvSpPr txBox="1"/>
          <p:nvPr/>
        </p:nvSpPr>
        <p:spPr>
          <a:xfrm>
            <a:off x="6412687" y="33101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300" dirty="0"/>
          </a:p>
        </p:txBody>
      </p:sp>
      <p:sp>
        <p:nvSpPr>
          <p:cNvPr id="49" name="ix8_h"/>
          <p:cNvSpPr txBox="1"/>
          <p:nvPr/>
        </p:nvSpPr>
        <p:spPr>
          <a:xfrm>
            <a:off x="6979615" y="3273552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Optimiser</a:t>
            </a:r>
            <a:endParaRPr lang="en-US" sz="1600" dirty="0"/>
          </a:p>
        </p:txBody>
      </p:sp>
      <p:sp>
        <p:nvSpPr>
          <p:cNvPr id="50" name="ix8_d"/>
          <p:cNvSpPr txBox="1"/>
          <p:nvPr/>
        </p:nvSpPr>
        <p:spPr>
          <a:xfrm>
            <a:off x="6979615" y="3547872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Seven passes, run to a fixed point</a:t>
            </a:r>
            <a:endParaRPr lang="en-US" sz="1150" dirty="0"/>
          </a:p>
        </p:txBody>
      </p:sp>
      <p:sp>
        <p:nvSpPr>
          <p:cNvPr id="51" name="ix8_p"/>
          <p:cNvSpPr txBox="1"/>
          <p:nvPr/>
        </p:nvSpPr>
        <p:spPr>
          <a:xfrm>
            <a:off x="10454335" y="3310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300" dirty="0"/>
          </a:p>
        </p:txBody>
      </p:sp>
      <p:sp>
        <p:nvSpPr>
          <p:cNvPr id="52" name="ix9_r"/>
          <p:cNvSpPr/>
          <p:nvPr/>
        </p:nvSpPr>
        <p:spPr>
          <a:xfrm>
            <a:off x="6412687" y="3803904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53" name="ix9_n"/>
          <p:cNvSpPr txBox="1"/>
          <p:nvPr/>
        </p:nvSpPr>
        <p:spPr>
          <a:xfrm>
            <a:off x="6412687" y="39319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54" name="ix9_h"/>
          <p:cNvSpPr txBox="1"/>
          <p:nvPr/>
        </p:nvSpPr>
        <p:spPr>
          <a:xfrm>
            <a:off x="6979615" y="389534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Design decisions</a:t>
            </a:r>
            <a:endParaRPr lang="en-US" sz="1600" dirty="0"/>
          </a:p>
        </p:txBody>
      </p:sp>
      <p:sp>
        <p:nvSpPr>
          <p:cNvPr id="55" name="ix9_d"/>
          <p:cNvSpPr txBox="1"/>
          <p:nvPr/>
        </p:nvSpPr>
        <p:spPr>
          <a:xfrm>
            <a:off x="6979615" y="4169664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Four choices, and what they cost</a:t>
            </a:r>
            <a:endParaRPr lang="en-US" sz="1150" dirty="0"/>
          </a:p>
        </p:txBody>
      </p:sp>
      <p:sp>
        <p:nvSpPr>
          <p:cNvPr id="56" name="ix9_p"/>
          <p:cNvSpPr txBox="1"/>
          <p:nvPr/>
        </p:nvSpPr>
        <p:spPr>
          <a:xfrm>
            <a:off x="10454335" y="3931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300" dirty="0"/>
          </a:p>
        </p:txBody>
      </p:sp>
      <p:sp>
        <p:nvSpPr>
          <p:cNvPr id="57" name="ix10_r"/>
          <p:cNvSpPr/>
          <p:nvPr/>
        </p:nvSpPr>
        <p:spPr>
          <a:xfrm>
            <a:off x="6412687" y="4425696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58" name="ix10_n"/>
          <p:cNvSpPr txBox="1"/>
          <p:nvPr/>
        </p:nvSpPr>
        <p:spPr>
          <a:xfrm>
            <a:off x="6412687" y="45537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300" dirty="0"/>
          </a:p>
        </p:txBody>
      </p:sp>
      <p:sp>
        <p:nvSpPr>
          <p:cNvPr id="59" name="ix10_h"/>
          <p:cNvSpPr txBox="1"/>
          <p:nvPr/>
        </p:nvSpPr>
        <p:spPr>
          <a:xfrm>
            <a:off x="6979615" y="451713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Implementation status</a:t>
            </a:r>
            <a:endParaRPr lang="en-US" sz="1600" dirty="0"/>
          </a:p>
        </p:txBody>
      </p:sp>
      <p:sp>
        <p:nvSpPr>
          <p:cNvPr id="60" name="ix10_d"/>
          <p:cNvSpPr txBox="1"/>
          <p:nvPr/>
        </p:nvSpPr>
        <p:spPr>
          <a:xfrm>
            <a:off x="6979615" y="4791456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Every stage, its files and its size</a:t>
            </a:r>
            <a:endParaRPr lang="en-US" sz="1150" dirty="0"/>
          </a:p>
        </p:txBody>
      </p:sp>
      <p:sp>
        <p:nvSpPr>
          <p:cNvPr id="61" name="ix10_p"/>
          <p:cNvSpPr txBox="1"/>
          <p:nvPr/>
        </p:nvSpPr>
        <p:spPr>
          <a:xfrm>
            <a:off x="10454335" y="45537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300" dirty="0"/>
          </a:p>
        </p:txBody>
      </p:sp>
      <p:sp>
        <p:nvSpPr>
          <p:cNvPr id="62" name="ix_end0"/>
          <p:cNvSpPr/>
          <p:nvPr/>
        </p:nvSpPr>
        <p:spPr>
          <a:xfrm>
            <a:off x="822960" y="5669280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63" name="ix_end1"/>
          <p:cNvSpPr/>
          <p:nvPr/>
        </p:nvSpPr>
        <p:spPr>
          <a:xfrm>
            <a:off x="6412687" y="5669280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96112"/>
            <a:ext cx="1054577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1"/>
                </a:solidFill>
              </a:rPr>
              <a:t>We asked a question.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2"/>
                </a:solidFill>
              </a:rPr>
              <a:t>Then we built the compiler.</a:t>
            </a:r>
            <a:endParaRPr lang="en-US" sz="4400" dirty="0"/>
          </a:p>
        </p:txBody>
      </p:sp>
      <p:sp>
        <p:nvSpPr>
          <p:cNvPr id="3" name="card_stmt"/>
          <p:cNvSpPr/>
          <p:nvPr/>
        </p:nvSpPr>
        <p:spPr>
          <a:xfrm>
            <a:off x="822960" y="2834640"/>
            <a:ext cx="5623560" cy="2514600"/>
          </a:xfrm>
          <a:prstGeom prst="roundRect">
            <a:avLst>
              <a:gd name="adj" fmla="val 5818"/>
            </a:avLst>
          </a:prstGeom>
          <a:gradFill rotWithShape="1">
            <a:gsLst>
              <a:gs pos="0">
                <a:schemeClr val="bg2">
                  <a:lumMod val="125000"/>
                </a:schemeClr>
              </a:gs>
              <a:gs pos="100000">
                <a:schemeClr val="bg2">
                  <a:lumMod val="80000"/>
                </a:schemeClr>
              </a:gs>
            </a:gsLst>
            <a:lin ang="5400000" scaled="0"/>
          </a:gra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stmt_k"/>
          <p:cNvSpPr txBox="1"/>
          <p:nvPr/>
        </p:nvSpPr>
        <p:spPr>
          <a:xfrm>
            <a:off x="1115568" y="268833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3"/>
                </a:solidFill>
              </a:rPr>
              <a:t>THE PROBLEM STATEMENT, FROM REVIEW 1</a:t>
            </a:r>
            <a:endParaRPr lang="en-US" sz="950" dirty="0"/>
          </a:p>
        </p:txBody>
      </p:sp>
      <p:sp>
        <p:nvSpPr>
          <p:cNvPr id="5" name="stmt_t"/>
          <p:cNvSpPr txBox="1"/>
          <p:nvPr/>
        </p:nvSpPr>
        <p:spPr>
          <a:xfrm>
            <a:off x="1115568" y="338328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How can a domain-specific language make aircraft traffic scenarios </a:t>
            </a:r>
            <a:r>
              <a:rPr lang="en-US" sz="1800" dirty="0">
                <a:solidFill>
                  <a:schemeClr val="accent1"/>
                </a:solidFill>
              </a:rPr>
              <a:t>easier to express</a:t>
            </a:r>
            <a:r>
              <a:rPr lang="en-US" sz="1800" dirty="0">
                <a:solidFill>
                  <a:schemeClr val="tx1"/>
                </a:solidFill>
              </a:rPr>
              <a:t> and </a:t>
            </a:r>
            <a:r>
              <a:rPr lang="en-US" sz="1800" dirty="0">
                <a:solidFill>
                  <a:schemeClr val="accent1"/>
                </a:solidFill>
              </a:rPr>
              <a:t>analyse</a:t>
            </a:r>
            <a:r>
              <a:rPr lang="en-US" sz="1800" dirty="0">
                <a:solidFill>
                  <a:schemeClr val="tx1"/>
                </a:solidFill>
              </a:rPr>
              <a:t>, while preserving </a:t>
            </a:r>
            <a:r>
              <a:rPr lang="en-US" sz="1800" dirty="0">
                <a:solidFill>
                  <a:schemeClr val="accent1"/>
                </a:solidFill>
              </a:rPr>
              <a:t>predictable generation into an existing scenario format</a:t>
            </a:r>
            <a:r>
              <a:rPr lang="en-US" sz="1800" dirty="0">
                <a:solidFill>
                  <a:schemeClr val="tx1"/>
                </a:solidFill>
              </a:rPr>
              <a:t>?</a:t>
            </a:r>
            <a:endParaRPr lang="en-US" sz="1800" dirty="0"/>
          </a:p>
        </p:txBody>
      </p:sp>
      <p:sp>
        <p:nvSpPr>
          <p:cNvPr id="6" name="ans_line"/>
          <p:cNvSpPr/>
          <p:nvPr/>
        </p:nvSpPr>
        <p:spPr>
          <a:xfrm>
            <a:off x="6876288" y="3182112"/>
            <a:ext cx="0" cy="164592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7" name="ans0_d_halo"/>
          <p:cNvSpPr/>
          <p:nvPr/>
        </p:nvSpPr>
        <p:spPr>
          <a:xfrm>
            <a:off x="6812280" y="3118104"/>
            <a:ext cx="128016" cy="128016"/>
          </a:xfrm>
          <a:prstGeom prst="ellipse">
            <a:avLst/>
          </a:prstGeom>
          <a:solidFill>
            <a:schemeClr val="accent1"/>
          </a:solidFill>
          <a:ln/>
          <a:effectLst>
            <a:glow rad="114300">
              <a:schemeClr val="accent1">
                <a:alpha val="45000"/>
              </a:schemeClr>
            </a:glow>
          </a:effectLst>
        </p:spPr>
      </p:sp>
      <p:sp>
        <p:nvSpPr>
          <p:cNvPr id="8" name="ans0_h"/>
          <p:cNvSpPr txBox="1"/>
          <p:nvPr/>
        </p:nvSpPr>
        <p:spPr>
          <a:xfrm>
            <a:off x="7159752" y="2962656"/>
            <a:ext cx="42089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Express</a:t>
            </a:r>
            <a:endParaRPr lang="en-US" sz="2200" dirty="0"/>
          </a:p>
        </p:txBody>
      </p:sp>
      <p:sp>
        <p:nvSpPr>
          <p:cNvPr id="9" name="ans0_t"/>
          <p:cNvSpPr txBox="1"/>
          <p:nvPr/>
        </p:nvSpPr>
        <p:spPr>
          <a:xfrm>
            <a:off x="7159752" y="3383280"/>
            <a:ext cx="42089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language: named values, loops, procedures, assert.</a:t>
            </a:r>
            <a:endParaRPr lang="en-US" sz="1300" dirty="0"/>
          </a:p>
        </p:txBody>
      </p:sp>
      <p:sp>
        <p:nvSpPr>
          <p:cNvPr id="10" name="ans1_d_halo"/>
          <p:cNvSpPr/>
          <p:nvPr/>
        </p:nvSpPr>
        <p:spPr>
          <a:xfrm>
            <a:off x="6812280" y="3941064"/>
            <a:ext cx="128016" cy="128016"/>
          </a:xfrm>
          <a:prstGeom prst="ellipse">
            <a:avLst/>
          </a:prstGeom>
          <a:solidFill>
            <a:schemeClr val="accent1"/>
          </a:solidFill>
          <a:ln/>
          <a:effectLst>
            <a:glow rad="114300">
              <a:schemeClr val="accent1">
                <a:alpha val="45000"/>
              </a:schemeClr>
            </a:glow>
          </a:effectLst>
        </p:spPr>
      </p:sp>
      <p:sp>
        <p:nvSpPr>
          <p:cNvPr id="11" name="ans1_h"/>
          <p:cNvSpPr txBox="1"/>
          <p:nvPr/>
        </p:nvSpPr>
        <p:spPr>
          <a:xfrm>
            <a:off x="7159752" y="3785616"/>
            <a:ext cx="42089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Analyse</a:t>
            </a:r>
            <a:endParaRPr lang="en-US" sz="2200" dirty="0"/>
          </a:p>
        </p:txBody>
      </p:sp>
      <p:sp>
        <p:nvSpPr>
          <p:cNvPr id="12" name="ans1_t"/>
          <p:cNvSpPr txBox="1"/>
          <p:nvPr/>
        </p:nvSpPr>
        <p:spPr>
          <a:xfrm>
            <a:off x="7159752" y="4206240"/>
            <a:ext cx="42089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checker: mistakes reported before anything runs.</a:t>
            </a:r>
            <a:endParaRPr lang="en-US" sz="1300" dirty="0"/>
          </a:p>
        </p:txBody>
      </p:sp>
      <p:sp>
        <p:nvSpPr>
          <p:cNvPr id="13" name="ans2_d_halo"/>
          <p:cNvSpPr/>
          <p:nvPr/>
        </p:nvSpPr>
        <p:spPr>
          <a:xfrm>
            <a:off x="6812280" y="4764024"/>
            <a:ext cx="128016" cy="128016"/>
          </a:xfrm>
          <a:prstGeom prst="ellipse">
            <a:avLst/>
          </a:prstGeom>
          <a:solidFill>
            <a:schemeClr val="accent1"/>
          </a:solidFill>
          <a:ln/>
          <a:effectLst>
            <a:glow rad="114300">
              <a:schemeClr val="accent1">
                <a:alpha val="45000"/>
              </a:schemeClr>
            </a:glow>
          </a:effectLst>
        </p:spPr>
      </p:sp>
      <p:sp>
        <p:nvSpPr>
          <p:cNvPr id="14" name="ans2_h"/>
          <p:cNvSpPr txBox="1"/>
          <p:nvPr/>
        </p:nvSpPr>
        <p:spPr>
          <a:xfrm>
            <a:off x="7159752" y="4608576"/>
            <a:ext cx="42089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Generate</a:t>
            </a:r>
            <a:endParaRPr lang="en-US" sz="2200" dirty="0"/>
          </a:p>
        </p:txBody>
      </p:sp>
      <p:sp>
        <p:nvSpPr>
          <p:cNvPr id="15" name="ans2_t"/>
          <p:cNvSpPr txBox="1"/>
          <p:nvPr/>
        </p:nvSpPr>
        <p:spPr>
          <a:xfrm>
            <a:off x="7159752" y="5029200"/>
            <a:ext cx="42089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compiler: BlueSky’s .scn format, the same every time.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96112"/>
            <a:ext cx="1054577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1"/>
                </a:solidFill>
              </a:rPr>
              <a:t>The whole compiler,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2"/>
                </a:solidFill>
              </a:rPr>
              <a:t>connected.</a:t>
            </a:r>
            <a:endParaRPr lang="en-US" sz="4400" dirty="0"/>
          </a:p>
        </p:txBody>
      </p:sp>
      <p:pic>
        <p:nvPicPr>
          <p:cNvPr id="3" name="arch_img" descr="AeroDSL compiler architecture: twelve stages from the .aero source to the BlueSky .scn file, with the symbol table, SSA, diagnostics and driver beside th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8708" y="182880"/>
            <a:ext cx="4382947" cy="6492240"/>
          </a:xfrm>
          <a:prstGeom prst="rect">
            <a:avLst/>
          </a:prstGeom>
        </p:spPr>
      </p:pic>
      <p:sp>
        <p:nvSpPr>
          <p:cNvPr id="4" name="k0_r"/>
          <p:cNvSpPr/>
          <p:nvPr/>
        </p:nvSpPr>
        <p:spPr>
          <a:xfrm>
            <a:off x="822960" y="2615184"/>
            <a:ext cx="625426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5" name="k0_h"/>
          <p:cNvSpPr txBox="1"/>
          <p:nvPr/>
        </p:nvSpPr>
        <p:spPr>
          <a:xfrm>
            <a:off x="822960" y="2734056"/>
            <a:ext cx="62542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Twelve stages, four parts</a:t>
            </a:r>
            <a:endParaRPr lang="en-US" sz="1550" dirty="0"/>
          </a:p>
        </p:txBody>
      </p:sp>
      <p:sp>
        <p:nvSpPr>
          <p:cNvPr id="6" name="k0_d"/>
          <p:cNvSpPr txBox="1"/>
          <p:nvPr/>
        </p:nvSpPr>
        <p:spPr>
          <a:xfrm>
            <a:off x="822960" y="3054096"/>
            <a:ext cx="6254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Front end, middle end, back end and runtime, in 20 C files and one header.</a:t>
            </a:r>
            <a:endParaRPr lang="en-US" sz="1200" dirty="0"/>
          </a:p>
        </p:txBody>
      </p:sp>
      <p:sp>
        <p:nvSpPr>
          <p:cNvPr id="7" name="k1_r"/>
          <p:cNvSpPr/>
          <p:nvPr/>
        </p:nvSpPr>
        <p:spPr>
          <a:xfrm>
            <a:off x="822960" y="3529584"/>
            <a:ext cx="625426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8" name="k1_h"/>
          <p:cNvSpPr txBox="1"/>
          <p:nvPr/>
        </p:nvSpPr>
        <p:spPr>
          <a:xfrm>
            <a:off x="822960" y="3648456"/>
            <a:ext cx="62542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Each arrow is a data structure</a:t>
            </a:r>
            <a:endParaRPr lang="en-US" sz="1550" dirty="0"/>
          </a:p>
        </p:txBody>
      </p:sp>
      <p:sp>
        <p:nvSpPr>
          <p:cNvPr id="9" name="k1_d"/>
          <p:cNvSpPr txBox="1"/>
          <p:nvPr/>
        </p:nvSpPr>
        <p:spPr>
          <a:xfrm>
            <a:off x="822960" y="3968496"/>
            <a:ext cx="6254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Token[], AST, Ir[] quadruples, Block[], Bc[], the event trace: what one stage hands the next.</a:t>
            </a:r>
            <a:endParaRPr lang="en-US" sz="1200" dirty="0"/>
          </a:p>
        </p:txBody>
      </p:sp>
      <p:sp>
        <p:nvSpPr>
          <p:cNvPr id="10" name="k2_r"/>
          <p:cNvSpPr/>
          <p:nvPr/>
        </p:nvSpPr>
        <p:spPr>
          <a:xfrm>
            <a:off x="822960" y="4443984"/>
            <a:ext cx="625426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1" name="k2_h"/>
          <p:cNvSpPr txBox="1"/>
          <p:nvPr/>
        </p:nvSpPr>
        <p:spPr>
          <a:xfrm>
            <a:off x="822960" y="4562856"/>
            <a:ext cx="62542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Most stages can be printed</a:t>
            </a:r>
            <a:endParaRPr lang="en-US" sz="1550" dirty="0"/>
          </a:p>
        </p:txBody>
      </p:sp>
      <p:sp>
        <p:nvSpPr>
          <p:cNvPr id="12" name="k2_d"/>
          <p:cNvSpPr txBox="1"/>
          <p:nvPr/>
        </p:nvSpPr>
        <p:spPr>
          <a:xfrm>
            <a:off x="822960" y="4882896"/>
            <a:ext cx="6254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--tokens  --ast  --ir  --cfg  --ssa  --opt-ir  --bc  --trace  --scn</a:t>
            </a:r>
            <a:endParaRPr lang="en-US" sz="1200" dirty="0"/>
          </a:p>
        </p:txBody>
      </p:sp>
      <p:sp>
        <p:nvSpPr>
          <p:cNvPr id="13" name="k3_r"/>
          <p:cNvSpPr/>
          <p:nvPr/>
        </p:nvSpPr>
        <p:spPr>
          <a:xfrm>
            <a:off x="822960" y="5358384"/>
            <a:ext cx="625426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4" name="k3_h"/>
          <p:cNvSpPr txBox="1"/>
          <p:nvPr/>
        </p:nvSpPr>
        <p:spPr>
          <a:xfrm>
            <a:off x="822960" y="5477256"/>
            <a:ext cx="62542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Shared by every stage</a:t>
            </a:r>
            <a:endParaRPr lang="en-US" sz="1550" dirty="0"/>
          </a:p>
        </p:txBody>
      </p:sp>
      <p:sp>
        <p:nvSpPr>
          <p:cNvPr id="15" name="k3_d"/>
          <p:cNvSpPr txBox="1"/>
          <p:nvPr/>
        </p:nvSpPr>
        <p:spPr>
          <a:xfrm>
            <a:off x="822960" y="5797296"/>
            <a:ext cx="6254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The symbol table, one diagnostics list, and compile.c, which stops at the first phase that reports an error.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96112"/>
            <a:ext cx="1054577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1"/>
                </a:solidFill>
              </a:rPr>
              <a:t>A scenario, written as a program.</a:t>
            </a:r>
            <a:endParaRPr lang="en-US" sz="4400" dirty="0"/>
          </a:p>
        </p:txBody>
      </p:sp>
      <p:sp>
        <p:nvSpPr>
          <p:cNvPr id="3" name="sub"/>
          <p:cNvSpPr txBox="1"/>
          <p:nvPr/>
        </p:nvSpPr>
        <p:spPr>
          <a:xfrm>
            <a:off x="822960" y="1645920"/>
            <a:ext cx="105457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Example 5: climb, wait until the aircraft passes FL300, then turn.</a:t>
            </a:r>
            <a:endParaRPr lang="en-US" sz="1700" dirty="0"/>
          </a:p>
        </p:txBody>
      </p:sp>
      <p:sp>
        <p:nvSpPr>
          <p:cNvPr id="4" name="card_src"/>
          <p:cNvSpPr/>
          <p:nvPr/>
        </p:nvSpPr>
        <p:spPr>
          <a:xfrm>
            <a:off x="822960" y="2240280"/>
            <a:ext cx="5989320" cy="3931920"/>
          </a:xfrm>
          <a:prstGeom prst="roundRect">
            <a:avLst>
              <a:gd name="adj" fmla="val 3721"/>
            </a:avLst>
          </a:prstGeom>
          <a:gradFill rotWithShape="1">
            <a:gsLst>
              <a:gs pos="0">
                <a:schemeClr val="bg2">
                  <a:lumMod val="125000"/>
                </a:schemeClr>
              </a:gs>
              <a:gs pos="100000">
                <a:schemeClr val="bg2">
                  <a:lumMod val="80000"/>
                </a:schemeClr>
              </a:gs>
            </a:gsLst>
            <a:lin ang="5400000" scaled="0"/>
          </a:gra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src_k"/>
          <p:cNvSpPr txBox="1"/>
          <p:nvPr/>
        </p:nvSpPr>
        <p:spPr>
          <a:xfrm>
            <a:off x="1097280" y="2441448"/>
            <a:ext cx="544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1"/>
                </a:solidFill>
              </a:rPr>
              <a:t>AERODSL · EXAMPLES/05_LOOP.AERO</a:t>
            </a:r>
            <a:endParaRPr lang="en-US" sz="950" dirty="0"/>
          </a:p>
        </p:txBody>
      </p:sp>
      <p:sp>
        <p:nvSpPr>
          <p:cNvPr id="6" name="src_rule"/>
          <p:cNvSpPr/>
          <p:nvPr/>
        </p:nvSpPr>
        <p:spPr>
          <a:xfrm>
            <a:off x="822960" y="2770632"/>
            <a:ext cx="598932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7" name="src_code"/>
          <p:cNvSpPr txBox="1"/>
          <p:nvPr/>
        </p:nvSpPr>
        <p:spPr>
          <a:xfrm>
            <a:off x="1097280" y="2935224"/>
            <a:ext cx="5577840" cy="2844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"Wait for level, then turn"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VOMAN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12.95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77.67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AI202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A320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VOMAN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FL240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hdg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090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spd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280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KT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AI202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climb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FL320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waited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AI202.alt &lt; FL300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waited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waited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"reached FL300 after "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waited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seconds"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AI202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heading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270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AI202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FL300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aircraft should have passed FL300"</a:t>
            </a:r>
            <a:endParaRPr lang="en-US" sz="1100" dirty="0"/>
          </a:p>
        </p:txBody>
      </p:sp>
      <p:sp>
        <p:nvSpPr>
          <p:cNvPr id="8" name="g0_r"/>
          <p:cNvSpPr/>
          <p:nvPr/>
        </p:nvSpPr>
        <p:spPr>
          <a:xfrm>
            <a:off x="7132320" y="2240280"/>
            <a:ext cx="423367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9" name="g0_k"/>
          <p:cNvSpPr txBox="1"/>
          <p:nvPr/>
        </p:nvSpPr>
        <p:spPr>
          <a:xfrm>
            <a:off x="7132320" y="23408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1300" dirty="0"/>
          </a:p>
        </p:txBody>
      </p:sp>
      <p:sp>
        <p:nvSpPr>
          <p:cNvPr id="10" name="g0_d"/>
          <p:cNvSpPr txBox="1"/>
          <p:nvPr/>
        </p:nvSpPr>
        <p:spPr>
          <a:xfrm>
            <a:off x="8549640" y="2331720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a named waypoint</a:t>
            </a:r>
            <a:endParaRPr lang="en-US" sz="1200" dirty="0"/>
          </a:p>
        </p:txBody>
      </p:sp>
      <p:sp>
        <p:nvSpPr>
          <p:cNvPr id="11" name="g1_r"/>
          <p:cNvSpPr/>
          <p:nvPr/>
        </p:nvSpPr>
        <p:spPr>
          <a:xfrm>
            <a:off x="7132320" y="2747772"/>
            <a:ext cx="423367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2" name="g1_k"/>
          <p:cNvSpPr txBox="1"/>
          <p:nvPr/>
        </p:nvSpPr>
        <p:spPr>
          <a:xfrm>
            <a:off x="7132320" y="28483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</a:t>
            </a:r>
            <a:endParaRPr lang="en-US" sz="1300" dirty="0"/>
          </a:p>
        </p:txBody>
      </p:sp>
      <p:sp>
        <p:nvSpPr>
          <p:cNvPr id="13" name="g1_d"/>
          <p:cNvSpPr txBox="1"/>
          <p:nvPr/>
        </p:nvSpPr>
        <p:spPr>
          <a:xfrm>
            <a:off x="8549640" y="2839212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an aircraft entering, with its starting state</a:t>
            </a:r>
            <a:endParaRPr lang="en-US" sz="1200" dirty="0"/>
          </a:p>
        </p:txBody>
      </p:sp>
      <p:sp>
        <p:nvSpPr>
          <p:cNvPr id="14" name="g2_r"/>
          <p:cNvSpPr/>
          <p:nvPr/>
        </p:nvSpPr>
        <p:spPr>
          <a:xfrm>
            <a:off x="7132320" y="3255264"/>
            <a:ext cx="423367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5" name="g2_k"/>
          <p:cNvSpPr txBox="1"/>
          <p:nvPr/>
        </p:nvSpPr>
        <p:spPr>
          <a:xfrm>
            <a:off x="7132320" y="3355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</a:t>
            </a:r>
            <a:endParaRPr lang="en-US" sz="1300" dirty="0"/>
          </a:p>
        </p:txBody>
      </p:sp>
      <p:sp>
        <p:nvSpPr>
          <p:cNvPr id="16" name="g2_d"/>
          <p:cNvSpPr txBox="1"/>
          <p:nvPr/>
        </p:nvSpPr>
        <p:spPr>
          <a:xfrm>
            <a:off x="8549640" y="3346704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an instruction: climb, descend, heading, speed, direct</a:t>
            </a:r>
            <a:endParaRPr lang="en-US" sz="1200" dirty="0"/>
          </a:p>
        </p:txBody>
      </p:sp>
      <p:sp>
        <p:nvSpPr>
          <p:cNvPr id="17" name="g3_r"/>
          <p:cNvSpPr/>
          <p:nvPr/>
        </p:nvSpPr>
        <p:spPr>
          <a:xfrm>
            <a:off x="7132320" y="3762756"/>
            <a:ext cx="423367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8" name="g3_k"/>
          <p:cNvSpPr txBox="1"/>
          <p:nvPr/>
        </p:nvSpPr>
        <p:spPr>
          <a:xfrm>
            <a:off x="7132320" y="38633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</a:t>
            </a:r>
            <a:endParaRPr lang="en-US" sz="1300" dirty="0"/>
          </a:p>
        </p:txBody>
      </p:sp>
      <p:sp>
        <p:nvSpPr>
          <p:cNvPr id="19" name="g3_d"/>
          <p:cNvSpPr txBox="1"/>
          <p:nvPr/>
        </p:nvSpPr>
        <p:spPr>
          <a:xfrm>
            <a:off x="8549640" y="3854196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let simulated time pass</a:t>
            </a:r>
            <a:endParaRPr lang="en-US" sz="1200" dirty="0"/>
          </a:p>
        </p:txBody>
      </p:sp>
      <p:sp>
        <p:nvSpPr>
          <p:cNvPr id="20" name="g4_r"/>
          <p:cNvSpPr/>
          <p:nvPr/>
        </p:nvSpPr>
        <p:spPr>
          <a:xfrm>
            <a:off x="7132320" y="4270248"/>
            <a:ext cx="423367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1" name="g4_k"/>
          <p:cNvSpPr txBox="1"/>
          <p:nvPr/>
        </p:nvSpPr>
        <p:spPr>
          <a:xfrm>
            <a:off x="7132320" y="4370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while if</a:t>
            </a:r>
            <a:endParaRPr lang="en-US" sz="1300" dirty="0"/>
          </a:p>
        </p:txBody>
      </p:sp>
      <p:sp>
        <p:nvSpPr>
          <p:cNvPr id="22" name="g4_d"/>
          <p:cNvSpPr txBox="1"/>
          <p:nvPr/>
        </p:nvSpPr>
        <p:spPr>
          <a:xfrm>
            <a:off x="8549640" y="4361688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named values, and reacting to the situation</a:t>
            </a:r>
            <a:endParaRPr lang="en-US" sz="1200" dirty="0"/>
          </a:p>
        </p:txBody>
      </p:sp>
      <p:sp>
        <p:nvSpPr>
          <p:cNvPr id="23" name="g5_r"/>
          <p:cNvSpPr/>
          <p:nvPr/>
        </p:nvSpPr>
        <p:spPr>
          <a:xfrm>
            <a:off x="7132320" y="4777740"/>
            <a:ext cx="423367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4" name="g5_k"/>
          <p:cNvSpPr txBox="1"/>
          <p:nvPr/>
        </p:nvSpPr>
        <p:spPr>
          <a:xfrm>
            <a:off x="7132320" y="48783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 call</a:t>
            </a:r>
            <a:endParaRPr lang="en-US" sz="1300" dirty="0"/>
          </a:p>
        </p:txBody>
      </p:sp>
      <p:sp>
        <p:nvSpPr>
          <p:cNvPr id="25" name="g5_d"/>
          <p:cNvSpPr txBox="1"/>
          <p:nvPr/>
        </p:nvSpPr>
        <p:spPr>
          <a:xfrm>
            <a:off x="8549640" y="4869180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reusable procedures (example 3)</a:t>
            </a:r>
            <a:endParaRPr lang="en-US" sz="1200" dirty="0"/>
          </a:p>
        </p:txBody>
      </p:sp>
      <p:sp>
        <p:nvSpPr>
          <p:cNvPr id="26" name="g6_r"/>
          <p:cNvSpPr/>
          <p:nvPr/>
        </p:nvSpPr>
        <p:spPr>
          <a:xfrm>
            <a:off x="7132320" y="5285232"/>
            <a:ext cx="423367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7" name="g6_k"/>
          <p:cNvSpPr txBox="1"/>
          <p:nvPr/>
        </p:nvSpPr>
        <p:spPr>
          <a:xfrm>
            <a:off x="7132320" y="5385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endParaRPr lang="en-US" sz="1300" dirty="0"/>
          </a:p>
        </p:txBody>
      </p:sp>
      <p:sp>
        <p:nvSpPr>
          <p:cNvPr id="28" name="g6_d"/>
          <p:cNvSpPr txBox="1"/>
          <p:nvPr/>
        </p:nvSpPr>
        <p:spPr>
          <a:xfrm>
            <a:off x="8549640" y="5376672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the scenario’s purpose, checked when it runs</a:t>
            </a:r>
            <a:endParaRPr lang="en-US" sz="1200" dirty="0"/>
          </a:p>
        </p:txBody>
      </p:sp>
      <p:sp>
        <p:nvSpPr>
          <p:cNvPr id="29" name="becomes_r"/>
          <p:cNvSpPr/>
          <p:nvPr/>
        </p:nvSpPr>
        <p:spPr>
          <a:xfrm>
            <a:off x="7132320" y="5797296"/>
            <a:ext cx="423367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0" name="becomes"/>
          <p:cNvSpPr txBox="1"/>
          <p:nvPr/>
        </p:nvSpPr>
        <p:spPr>
          <a:xfrm>
            <a:off x="7132320" y="5879592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loop becomes  </a:t>
            </a: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00:03:20.00&gt;HDG AI202,270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96112"/>
            <a:ext cx="1054577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1"/>
                </a:solidFill>
              </a:rPr>
              <a:t>The grammar, on one slide.</a:t>
            </a:r>
            <a:endParaRPr lang="en-US" sz="4400" dirty="0"/>
          </a:p>
        </p:txBody>
      </p:sp>
      <p:sp>
        <p:nvSpPr>
          <p:cNvPr id="3" name="sub"/>
          <p:cNvSpPr txBox="1"/>
          <p:nvPr/>
        </p:nvSpPr>
        <p:spPr>
          <a:xfrm>
            <a:off x="822960" y="1645920"/>
            <a:ext cx="105457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Written in EBNF, and LL(1): each rule is one function in src/parser.c.</a:t>
            </a:r>
            <a:endParaRPr lang="en-US" sz="1700" dirty="0"/>
          </a:p>
        </p:txBody>
      </p:sp>
      <p:sp>
        <p:nvSpPr>
          <p:cNvPr id="4" name="card_gram"/>
          <p:cNvSpPr/>
          <p:nvPr/>
        </p:nvSpPr>
        <p:spPr>
          <a:xfrm>
            <a:off x="822960" y="2212848"/>
            <a:ext cx="6035040" cy="3767328"/>
          </a:xfrm>
          <a:prstGeom prst="roundRect">
            <a:avLst>
              <a:gd name="adj" fmla="val 3883"/>
            </a:avLst>
          </a:prstGeom>
          <a:gradFill rotWithShape="1">
            <a:gsLst>
              <a:gs pos="0">
                <a:schemeClr val="bg2">
                  <a:lumMod val="125000"/>
                </a:schemeClr>
              </a:gs>
              <a:gs pos="100000">
                <a:schemeClr val="bg2">
                  <a:lumMod val="80000"/>
                </a:schemeClr>
              </a:gs>
            </a:gsLst>
            <a:lin ang="5400000" scaled="0"/>
          </a:gra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gram_k"/>
          <p:cNvSpPr txBox="1"/>
          <p:nvPr/>
        </p:nvSpPr>
        <p:spPr>
          <a:xfrm>
            <a:off x="1097280" y="24140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3"/>
                </a:solidFill>
              </a:rPr>
              <a:t>PROGRAMS AND STATEMENTS  ·  DOCS/SPEC.MD §4</a:t>
            </a:r>
            <a:endParaRPr lang="en-US" sz="950" dirty="0"/>
          </a:p>
        </p:txBody>
      </p:sp>
      <p:sp>
        <p:nvSpPr>
          <p:cNvPr id="6" name="gram_rule"/>
          <p:cNvSpPr/>
          <p:nvPr/>
        </p:nvSpPr>
        <p:spPr>
          <a:xfrm>
            <a:off x="822960" y="2743200"/>
            <a:ext cx="60350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7" name="gram_code"/>
          <p:cNvSpPr txBox="1"/>
          <p:nvPr/>
        </p:nvSpPr>
        <p:spPr>
          <a:xfrm>
            <a:off x="1097280" y="2907792"/>
            <a:ext cx="5623560" cy="2922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::=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"scenario"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::=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fix_decl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flight_decl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proc_decl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stmt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fix_decl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::=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"fix"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CALLSIGN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coord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coord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flight_decl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::=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"flight"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CALLSIGN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CALLSIGN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"enter"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CALLSIGN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"alt"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"hdg"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"spd"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proc_decl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::=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"proc"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"("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","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")"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"end"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stmt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::=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"let"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"="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"="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"clear"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clear_op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"advance"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"if"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"then"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"else"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"end"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"while"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"do"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"end"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"assert"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","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"call"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"("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","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"print"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print_arg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","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print_arg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"return"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clear_op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::=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"climb"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"descend"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"heading"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"speed"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"direct"</a:t>
            </a:r>
            <a:endParaRPr lang="en-US" sz="1050" dirty="0"/>
          </a:p>
        </p:txBody>
      </p:sp>
      <p:sp>
        <p:nvSpPr>
          <p:cNvPr id="8" name="lad_k"/>
          <p:cNvSpPr txBox="1"/>
          <p:nvPr/>
        </p:nvSpPr>
        <p:spPr>
          <a:xfrm>
            <a:off x="7178040" y="2212848"/>
            <a:ext cx="4190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3"/>
                </a:solidFill>
              </a:rPr>
              <a:t>EXPRESSIONS: ONE LEVEL, ONE FUNCTION</a:t>
            </a:r>
            <a:endParaRPr lang="en-US" sz="950" dirty="0"/>
          </a:p>
        </p:txBody>
      </p:sp>
      <p:sp>
        <p:nvSpPr>
          <p:cNvPr id="9" name="lad_lo"/>
          <p:cNvSpPr txBox="1"/>
          <p:nvPr/>
        </p:nvSpPr>
        <p:spPr>
          <a:xfrm>
            <a:off x="7178040" y="2212848"/>
            <a:ext cx="4190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lowest</a:t>
            </a:r>
            <a:endParaRPr lang="en-US" sz="950" dirty="0"/>
          </a:p>
        </p:txBody>
      </p:sp>
      <p:sp>
        <p:nvSpPr>
          <p:cNvPr id="10" name="l0_r"/>
          <p:cNvSpPr/>
          <p:nvPr/>
        </p:nvSpPr>
        <p:spPr>
          <a:xfrm>
            <a:off x="7178040" y="2505456"/>
            <a:ext cx="419069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1" name="l0_o"/>
          <p:cNvSpPr txBox="1"/>
          <p:nvPr/>
        </p:nvSpPr>
        <p:spPr>
          <a:xfrm>
            <a:off x="7178040" y="256032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endParaRPr lang="en-US" sz="1150" dirty="0"/>
          </a:p>
        </p:txBody>
      </p:sp>
      <p:sp>
        <p:nvSpPr>
          <p:cNvPr id="12" name="l0_f"/>
          <p:cNvSpPr txBox="1"/>
          <p:nvPr/>
        </p:nvSpPr>
        <p:spPr>
          <a:xfrm>
            <a:off x="9326880" y="2569464"/>
            <a:ext cx="20418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parse_expr</a:t>
            </a:r>
            <a:endParaRPr lang="en-US" sz="1050" dirty="0"/>
          </a:p>
        </p:txBody>
      </p:sp>
      <p:sp>
        <p:nvSpPr>
          <p:cNvPr id="13" name="l1_r"/>
          <p:cNvSpPr/>
          <p:nvPr/>
        </p:nvSpPr>
        <p:spPr>
          <a:xfrm>
            <a:off x="7178040" y="2807208"/>
            <a:ext cx="419069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4" name="l1_o"/>
          <p:cNvSpPr txBox="1"/>
          <p:nvPr/>
        </p:nvSpPr>
        <p:spPr>
          <a:xfrm>
            <a:off x="7178040" y="2862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1150" dirty="0"/>
          </a:p>
        </p:txBody>
      </p:sp>
      <p:sp>
        <p:nvSpPr>
          <p:cNvPr id="15" name="l1_f"/>
          <p:cNvSpPr txBox="1"/>
          <p:nvPr/>
        </p:nvSpPr>
        <p:spPr>
          <a:xfrm>
            <a:off x="9326880" y="2871216"/>
            <a:ext cx="20418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parse_and</a:t>
            </a:r>
            <a:endParaRPr lang="en-US" sz="1050" dirty="0"/>
          </a:p>
        </p:txBody>
      </p:sp>
      <p:sp>
        <p:nvSpPr>
          <p:cNvPr id="16" name="l2_r"/>
          <p:cNvSpPr/>
          <p:nvPr/>
        </p:nvSpPr>
        <p:spPr>
          <a:xfrm>
            <a:off x="7178040" y="3108960"/>
            <a:ext cx="419069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7" name="l2_o"/>
          <p:cNvSpPr txBox="1"/>
          <p:nvPr/>
        </p:nvSpPr>
        <p:spPr>
          <a:xfrm>
            <a:off x="7178040" y="31638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endParaRPr lang="en-US" sz="1150" dirty="0"/>
          </a:p>
        </p:txBody>
      </p:sp>
      <p:sp>
        <p:nvSpPr>
          <p:cNvPr id="18" name="l2_f"/>
          <p:cNvSpPr txBox="1"/>
          <p:nvPr/>
        </p:nvSpPr>
        <p:spPr>
          <a:xfrm>
            <a:off x="9326880" y="3172968"/>
            <a:ext cx="20418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parse_not</a:t>
            </a:r>
            <a:endParaRPr lang="en-US" sz="1050" dirty="0"/>
          </a:p>
        </p:txBody>
      </p:sp>
      <p:sp>
        <p:nvSpPr>
          <p:cNvPr id="19" name="l3_r"/>
          <p:cNvSpPr/>
          <p:nvPr/>
        </p:nvSpPr>
        <p:spPr>
          <a:xfrm>
            <a:off x="7178040" y="3410712"/>
            <a:ext cx="419069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0" name="l3_o"/>
          <p:cNvSpPr txBox="1"/>
          <p:nvPr/>
        </p:nvSpPr>
        <p:spPr>
          <a:xfrm>
            <a:off x="7178040" y="346557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&lt;= &gt; &gt;= == !=</a:t>
            </a:r>
            <a:endParaRPr lang="en-US" sz="1150" dirty="0"/>
          </a:p>
        </p:txBody>
      </p:sp>
      <p:sp>
        <p:nvSpPr>
          <p:cNvPr id="21" name="l3_f"/>
          <p:cNvSpPr txBox="1"/>
          <p:nvPr/>
        </p:nvSpPr>
        <p:spPr>
          <a:xfrm>
            <a:off x="9326880" y="3474720"/>
            <a:ext cx="20418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parse_rel, one only</a:t>
            </a:r>
            <a:endParaRPr lang="en-US" sz="1050" dirty="0"/>
          </a:p>
        </p:txBody>
      </p:sp>
      <p:sp>
        <p:nvSpPr>
          <p:cNvPr id="22" name="l4_r"/>
          <p:cNvSpPr/>
          <p:nvPr/>
        </p:nvSpPr>
        <p:spPr>
          <a:xfrm>
            <a:off x="7178040" y="3712464"/>
            <a:ext cx="419069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3" name="l4_o"/>
          <p:cNvSpPr txBox="1"/>
          <p:nvPr/>
        </p:nvSpPr>
        <p:spPr>
          <a:xfrm>
            <a:off x="7178040" y="37673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-</a:t>
            </a:r>
            <a:endParaRPr lang="en-US" sz="1150" dirty="0"/>
          </a:p>
        </p:txBody>
      </p:sp>
      <p:sp>
        <p:nvSpPr>
          <p:cNvPr id="24" name="l4_f"/>
          <p:cNvSpPr txBox="1"/>
          <p:nvPr/>
        </p:nvSpPr>
        <p:spPr>
          <a:xfrm>
            <a:off x="9326880" y="3776472"/>
            <a:ext cx="20418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parse_add</a:t>
            </a:r>
            <a:endParaRPr lang="en-US" sz="1050" dirty="0"/>
          </a:p>
        </p:txBody>
      </p:sp>
      <p:sp>
        <p:nvSpPr>
          <p:cNvPr id="25" name="l5_r"/>
          <p:cNvSpPr/>
          <p:nvPr/>
        </p:nvSpPr>
        <p:spPr>
          <a:xfrm>
            <a:off x="7178040" y="4014216"/>
            <a:ext cx="419069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6" name="l5_o"/>
          <p:cNvSpPr txBox="1"/>
          <p:nvPr/>
        </p:nvSpPr>
        <p:spPr>
          <a:xfrm>
            <a:off x="7178040" y="40690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 /  %</a:t>
            </a:r>
            <a:endParaRPr lang="en-US" sz="1150" dirty="0"/>
          </a:p>
        </p:txBody>
      </p:sp>
      <p:sp>
        <p:nvSpPr>
          <p:cNvPr id="27" name="l5_f"/>
          <p:cNvSpPr txBox="1"/>
          <p:nvPr/>
        </p:nvSpPr>
        <p:spPr>
          <a:xfrm>
            <a:off x="9326880" y="4078224"/>
            <a:ext cx="20418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parse_mul</a:t>
            </a:r>
            <a:endParaRPr lang="en-US" sz="1050" dirty="0"/>
          </a:p>
        </p:txBody>
      </p:sp>
      <p:sp>
        <p:nvSpPr>
          <p:cNvPr id="28" name="l6_r"/>
          <p:cNvSpPr/>
          <p:nvPr/>
        </p:nvSpPr>
        <p:spPr>
          <a:xfrm>
            <a:off x="7178040" y="4315968"/>
            <a:ext cx="419069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9" name="l6_o"/>
          <p:cNvSpPr txBox="1"/>
          <p:nvPr/>
        </p:nvSpPr>
        <p:spPr>
          <a:xfrm>
            <a:off x="7178040" y="43708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-x  (unary)</a:t>
            </a:r>
            <a:endParaRPr lang="en-US" sz="1150" dirty="0"/>
          </a:p>
        </p:txBody>
      </p:sp>
      <p:sp>
        <p:nvSpPr>
          <p:cNvPr id="30" name="l6_f"/>
          <p:cNvSpPr txBox="1"/>
          <p:nvPr/>
        </p:nvSpPr>
        <p:spPr>
          <a:xfrm>
            <a:off x="9326880" y="4379976"/>
            <a:ext cx="20418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parse_unary</a:t>
            </a:r>
            <a:endParaRPr lang="en-US" sz="1050" dirty="0"/>
          </a:p>
        </p:txBody>
      </p:sp>
      <p:sp>
        <p:nvSpPr>
          <p:cNvPr id="31" name="l7_r"/>
          <p:cNvSpPr/>
          <p:nvPr/>
        </p:nvSpPr>
        <p:spPr>
          <a:xfrm>
            <a:off x="7178040" y="4617720"/>
            <a:ext cx="419069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2" name="l7_o"/>
          <p:cNvSpPr txBox="1"/>
          <p:nvPr/>
        </p:nvSpPr>
        <p:spPr>
          <a:xfrm>
            <a:off x="7178040" y="467258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.alt .hdg …</a:t>
            </a:r>
            <a:endParaRPr lang="en-US" sz="1150" dirty="0"/>
          </a:p>
        </p:txBody>
      </p:sp>
      <p:sp>
        <p:nvSpPr>
          <p:cNvPr id="33" name="l7_f"/>
          <p:cNvSpPr txBox="1"/>
          <p:nvPr/>
        </p:nvSpPr>
        <p:spPr>
          <a:xfrm>
            <a:off x="9326880" y="4681728"/>
            <a:ext cx="20418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parse_postfix</a:t>
            </a:r>
            <a:endParaRPr lang="en-US" sz="1050" dirty="0"/>
          </a:p>
        </p:txBody>
      </p:sp>
      <p:sp>
        <p:nvSpPr>
          <p:cNvPr id="34" name="l8_r"/>
          <p:cNvSpPr/>
          <p:nvPr/>
        </p:nvSpPr>
        <p:spPr>
          <a:xfrm>
            <a:off x="7178040" y="4919472"/>
            <a:ext cx="419069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5" name="l8_o"/>
          <p:cNvSpPr txBox="1"/>
          <p:nvPr/>
        </p:nvSpPr>
        <p:spPr>
          <a:xfrm>
            <a:off x="7178040" y="497433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 FL320  x  ( )</a:t>
            </a:r>
            <a:endParaRPr lang="en-US" sz="1150" dirty="0"/>
          </a:p>
        </p:txBody>
      </p:sp>
      <p:sp>
        <p:nvSpPr>
          <p:cNvPr id="36" name="l8_f"/>
          <p:cNvSpPr txBox="1"/>
          <p:nvPr/>
        </p:nvSpPr>
        <p:spPr>
          <a:xfrm>
            <a:off x="9326880" y="4983480"/>
            <a:ext cx="20418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parse_primary</a:t>
            </a:r>
            <a:endParaRPr lang="en-US" sz="1050" dirty="0"/>
          </a:p>
        </p:txBody>
      </p:sp>
      <p:sp>
        <p:nvSpPr>
          <p:cNvPr id="37" name="lad_hi"/>
          <p:cNvSpPr txBox="1"/>
          <p:nvPr/>
        </p:nvSpPr>
        <p:spPr>
          <a:xfrm>
            <a:off x="7178040" y="5239512"/>
            <a:ext cx="41906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binds tightest</a:t>
            </a:r>
            <a:endParaRPr lang="en-US" sz="950" dirty="0"/>
          </a:p>
        </p:txBody>
      </p:sp>
      <p:sp>
        <p:nvSpPr>
          <p:cNvPr id="38" name="tok_k"/>
          <p:cNvSpPr txBox="1"/>
          <p:nvPr/>
        </p:nvSpPr>
        <p:spPr>
          <a:xfrm>
            <a:off x="7178040" y="5468112"/>
            <a:ext cx="4190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3"/>
                </a:solidFill>
              </a:rPr>
              <a:t>TOKENS, AS REGULAR EXPRESSIONS</a:t>
            </a:r>
            <a:endParaRPr lang="en-US" sz="950" dirty="0"/>
          </a:p>
        </p:txBody>
      </p:sp>
      <p:sp>
        <p:nvSpPr>
          <p:cNvPr id="39" name="tok"/>
          <p:cNvSpPr txBox="1"/>
          <p:nvPr/>
        </p:nvSpPr>
        <p:spPr>
          <a:xfrm>
            <a:off x="7178040" y="5705856"/>
            <a:ext cx="41906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FLEVEL   FL[0-9]{3}         SPEED  [0-9]{1,3}KT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   [0-9]+(\.[0-9]+)?  IDENT  [a-z][a-z0-9_]*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CALLSIGN [A-Z][A-Z0-9]*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96112"/>
            <a:ext cx="1054577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1"/>
                </a:solidFill>
              </a:rPr>
              <a:t>The parse tree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2"/>
                </a:solidFill>
              </a:rPr>
              <a:t>of one line.</a:t>
            </a:r>
            <a:endParaRPr lang="en-US" sz="4400" dirty="0"/>
          </a:p>
        </p:txBody>
      </p:sp>
      <p:pic>
        <p:nvPicPr>
          <p:cNvPr id="3" name="pt_img" descr="Parse tree of clear AI202 climb cruise - 2000: 27 grammar nodes over 13 levels, each labelled with its parse function, and the 5-node AST the parser actually buil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6229" y="182880"/>
            <a:ext cx="5645426" cy="6492240"/>
          </a:xfrm>
          <a:prstGeom prst="rect">
            <a:avLst/>
          </a:prstGeom>
        </p:spPr>
      </p:pic>
      <p:sp>
        <p:nvSpPr>
          <p:cNvPr id="4" name="k0_r"/>
          <p:cNvSpPr/>
          <p:nvPr/>
        </p:nvSpPr>
        <p:spPr>
          <a:xfrm>
            <a:off x="822960" y="2615184"/>
            <a:ext cx="4991789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5" name="k0_h"/>
          <p:cNvSpPr txBox="1"/>
          <p:nvPr/>
        </p:nvSpPr>
        <p:spPr>
          <a:xfrm>
            <a:off x="822960" y="2734056"/>
            <a:ext cx="499178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Thirteen levels for one line</a:t>
            </a:r>
            <a:endParaRPr lang="en-US" sz="1550" dirty="0"/>
          </a:p>
        </p:txBody>
      </p:sp>
      <p:sp>
        <p:nvSpPr>
          <p:cNvPr id="6" name="k0_d"/>
          <p:cNvSpPr txBox="1"/>
          <p:nvPr/>
        </p:nvSpPr>
        <p:spPr>
          <a:xfrm>
            <a:off x="822960" y="3054096"/>
            <a:ext cx="49917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Every precedence level is a grammar rule, so the name AI202 passes through ten of them.</a:t>
            </a:r>
            <a:endParaRPr lang="en-US" sz="1200" dirty="0"/>
          </a:p>
        </p:txBody>
      </p:sp>
      <p:sp>
        <p:nvSpPr>
          <p:cNvPr id="7" name="k1_r"/>
          <p:cNvSpPr/>
          <p:nvPr/>
        </p:nvSpPr>
        <p:spPr>
          <a:xfrm>
            <a:off x="822960" y="3529584"/>
            <a:ext cx="4991789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8" name="k1_h"/>
          <p:cNvSpPr txBox="1"/>
          <p:nvPr/>
        </p:nvSpPr>
        <p:spPr>
          <a:xfrm>
            <a:off x="822960" y="3648456"/>
            <a:ext cx="499178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One function per rule</a:t>
            </a:r>
            <a:endParaRPr lang="en-US" sz="1550" dirty="0"/>
          </a:p>
        </p:txBody>
      </p:sp>
      <p:sp>
        <p:nvSpPr>
          <p:cNvPr id="9" name="k1_d"/>
          <p:cNvSpPr txBox="1"/>
          <p:nvPr/>
        </p:nvSpPr>
        <p:spPr>
          <a:xfrm>
            <a:off x="822960" y="3968496"/>
            <a:ext cx="49917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Each box is a call in src/parser.c, from parse_stmt down to parse_primary. One token of lookahead picks each one.</a:t>
            </a:r>
            <a:endParaRPr lang="en-US" sz="1200" dirty="0"/>
          </a:p>
        </p:txBody>
      </p:sp>
      <p:sp>
        <p:nvSpPr>
          <p:cNvPr id="10" name="k2_r"/>
          <p:cNvSpPr/>
          <p:nvPr/>
        </p:nvSpPr>
        <p:spPr>
          <a:xfrm>
            <a:off x="822960" y="4443984"/>
            <a:ext cx="4991789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1" name="k2_h"/>
          <p:cNvSpPr txBox="1"/>
          <p:nvPr/>
        </p:nvSpPr>
        <p:spPr>
          <a:xfrm>
            <a:off x="822960" y="4562856"/>
            <a:ext cx="499178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Only five nodes are kept</a:t>
            </a:r>
            <a:endParaRPr lang="en-US" sz="1550" dirty="0"/>
          </a:p>
        </p:txBody>
      </p:sp>
      <p:sp>
        <p:nvSpPr>
          <p:cNvPr id="12" name="k2_d"/>
          <p:cNvSpPr txBox="1"/>
          <p:nvPr/>
        </p:nvSpPr>
        <p:spPr>
          <a:xfrm>
            <a:off x="822960" y="4882896"/>
            <a:ext cx="49917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A level with no operator next returns its child unchanged, so the parser builds the AST directly.</a:t>
            </a:r>
            <a:endParaRPr lang="en-US" sz="1200" dirty="0"/>
          </a:p>
        </p:txBody>
      </p:sp>
      <p:sp>
        <p:nvSpPr>
          <p:cNvPr id="13" name="k3_r"/>
          <p:cNvSpPr/>
          <p:nvPr/>
        </p:nvSpPr>
        <p:spPr>
          <a:xfrm>
            <a:off x="822960" y="5358384"/>
            <a:ext cx="4991789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4" name="k3_h"/>
          <p:cNvSpPr txBox="1"/>
          <p:nvPr/>
        </p:nvSpPr>
        <p:spPr>
          <a:xfrm>
            <a:off x="822960" y="5477256"/>
            <a:ext cx="499178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Names resolved on the way</a:t>
            </a:r>
            <a:endParaRPr lang="en-US" sz="1550" dirty="0"/>
          </a:p>
        </p:txBody>
      </p:sp>
      <p:sp>
        <p:nvSpPr>
          <p:cNvPr id="15" name="k3_d"/>
          <p:cNvSpPr txBox="1"/>
          <p:nvPr/>
        </p:nvSpPr>
        <p:spPr>
          <a:xfrm>
            <a:off x="822960" y="5797296"/>
            <a:ext cx="49917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parse_primary looks up AI202 and cruise in the symbol table as it reaches them.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96112"/>
            <a:ext cx="1054577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1"/>
                </a:solidFill>
              </a:rPr>
              <a:t>Follow one line: the front end.</a:t>
            </a:r>
            <a:endParaRPr lang="en-US" sz="4400" dirty="0"/>
          </a:p>
        </p:txBody>
      </p:sp>
      <p:sp>
        <p:nvSpPr>
          <p:cNvPr id="3" name="sub"/>
          <p:cNvSpPr txBox="1"/>
          <p:nvPr/>
        </p:nvSpPr>
        <p:spPr>
          <a:xfrm>
            <a:off x="822960" y="1645920"/>
            <a:ext cx="105457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examples/13_walkthrough.aero, line 14 (Review 1, slide 5):  </a:t>
            </a:r>
            <a:r>
              <a:rPr lang="en-US" sz="17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 AI202 climb cruise - 2000</a:t>
            </a:r>
            <a:endParaRPr lang="en-US" sz="1700" dirty="0"/>
          </a:p>
        </p:txBody>
      </p:sp>
      <p:sp>
        <p:nvSpPr>
          <p:cNvPr id="4" name="st_l0"/>
          <p:cNvSpPr/>
          <p:nvPr/>
        </p:nvSpPr>
        <p:spPr>
          <a:xfrm>
            <a:off x="914400" y="2212848"/>
            <a:ext cx="1232219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5" name="st_d0_halo"/>
          <p:cNvSpPr/>
          <p:nvPr/>
        </p:nvSpPr>
        <p:spPr>
          <a:xfrm>
            <a:off x="758952" y="2148840"/>
            <a:ext cx="128016" cy="128016"/>
          </a:xfrm>
          <a:prstGeom prst="ellipse">
            <a:avLst/>
          </a:prstGeom>
          <a:solidFill>
            <a:schemeClr val="accent1"/>
          </a:solidFill>
          <a:ln/>
          <a:effectLst>
            <a:glow rad="114300">
              <a:schemeClr val="accent1">
                <a:alpha val="45000"/>
              </a:schemeClr>
            </a:glow>
          </a:effectLst>
        </p:spPr>
      </p:sp>
      <p:sp>
        <p:nvSpPr>
          <p:cNvPr id="6" name="st_t0"/>
          <p:cNvSpPr txBox="1"/>
          <p:nvPr/>
        </p:nvSpPr>
        <p:spPr>
          <a:xfrm>
            <a:off x="758952" y="23408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Tokens</a:t>
            </a:r>
            <a:endParaRPr lang="en-US" sz="1150" dirty="0"/>
          </a:p>
        </p:txBody>
      </p:sp>
      <p:sp>
        <p:nvSpPr>
          <p:cNvPr id="7" name="st_l1"/>
          <p:cNvSpPr/>
          <p:nvPr/>
        </p:nvSpPr>
        <p:spPr>
          <a:xfrm>
            <a:off x="2329499" y="2212848"/>
            <a:ext cx="1232219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8" name="st_d1_halo"/>
          <p:cNvSpPr/>
          <p:nvPr/>
        </p:nvSpPr>
        <p:spPr>
          <a:xfrm>
            <a:off x="2174051" y="2148840"/>
            <a:ext cx="128016" cy="128016"/>
          </a:xfrm>
          <a:prstGeom prst="ellipse">
            <a:avLst/>
          </a:prstGeom>
          <a:solidFill>
            <a:schemeClr val="accent1"/>
          </a:solidFill>
          <a:ln/>
          <a:effectLst>
            <a:glow rad="114300">
              <a:schemeClr val="accent1">
                <a:alpha val="45000"/>
              </a:schemeClr>
            </a:glow>
          </a:effectLst>
        </p:spPr>
      </p:sp>
      <p:sp>
        <p:nvSpPr>
          <p:cNvPr id="9" name="st_t1"/>
          <p:cNvSpPr txBox="1"/>
          <p:nvPr/>
        </p:nvSpPr>
        <p:spPr>
          <a:xfrm>
            <a:off x="2174051" y="23408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Tree</a:t>
            </a:r>
            <a:endParaRPr lang="en-US" sz="1150" dirty="0"/>
          </a:p>
        </p:txBody>
      </p:sp>
      <p:sp>
        <p:nvSpPr>
          <p:cNvPr id="10" name="st_l2"/>
          <p:cNvSpPr/>
          <p:nvPr/>
        </p:nvSpPr>
        <p:spPr>
          <a:xfrm>
            <a:off x="3744599" y="2212848"/>
            <a:ext cx="1232219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1" name="st_d2_halo"/>
          <p:cNvSpPr/>
          <p:nvPr/>
        </p:nvSpPr>
        <p:spPr>
          <a:xfrm>
            <a:off x="3589151" y="2148840"/>
            <a:ext cx="128016" cy="128016"/>
          </a:xfrm>
          <a:prstGeom prst="ellipse">
            <a:avLst/>
          </a:prstGeom>
          <a:solidFill>
            <a:schemeClr val="accent1"/>
          </a:solidFill>
          <a:ln/>
          <a:effectLst>
            <a:glow rad="114300">
              <a:schemeClr val="accent1">
                <a:alpha val="45000"/>
              </a:schemeClr>
            </a:glow>
          </a:effectLst>
        </p:spPr>
      </p:sp>
      <p:sp>
        <p:nvSpPr>
          <p:cNvPr id="12" name="st_t2"/>
          <p:cNvSpPr txBox="1"/>
          <p:nvPr/>
        </p:nvSpPr>
        <p:spPr>
          <a:xfrm>
            <a:off x="3589151" y="23408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Checks</a:t>
            </a:r>
            <a:endParaRPr lang="en-US" sz="1150" dirty="0"/>
          </a:p>
        </p:txBody>
      </p:sp>
      <p:sp>
        <p:nvSpPr>
          <p:cNvPr id="13" name="st_l3"/>
          <p:cNvSpPr/>
          <p:nvPr/>
        </p:nvSpPr>
        <p:spPr>
          <a:xfrm>
            <a:off x="5159698" y="2212848"/>
            <a:ext cx="1232219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4" name="st_d3"/>
          <p:cNvSpPr/>
          <p:nvPr/>
        </p:nvSpPr>
        <p:spPr>
          <a:xfrm>
            <a:off x="5004250" y="2148840"/>
            <a:ext cx="128016" cy="128016"/>
          </a:xfrm>
          <a:prstGeom prst="ellipse">
            <a:avLst/>
          </a:prstGeom>
          <a:ln w="12700">
            <a:solidFill>
              <a:schemeClr val="accent4"/>
            </a:solidFill>
            <a:prstDash val="solid"/>
          </a:ln>
        </p:spPr>
      </p:sp>
      <p:sp>
        <p:nvSpPr>
          <p:cNvPr id="15" name="st_t3"/>
          <p:cNvSpPr txBox="1"/>
          <p:nvPr/>
        </p:nvSpPr>
        <p:spPr>
          <a:xfrm>
            <a:off x="5004250" y="23408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TAC</a:t>
            </a:r>
            <a:endParaRPr lang="en-US" sz="1150" dirty="0"/>
          </a:p>
        </p:txBody>
      </p:sp>
      <p:sp>
        <p:nvSpPr>
          <p:cNvPr id="16" name="st_l4"/>
          <p:cNvSpPr/>
          <p:nvPr/>
        </p:nvSpPr>
        <p:spPr>
          <a:xfrm>
            <a:off x="6574797" y="2212848"/>
            <a:ext cx="1232219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7" name="st_d4"/>
          <p:cNvSpPr/>
          <p:nvPr/>
        </p:nvSpPr>
        <p:spPr>
          <a:xfrm>
            <a:off x="6419349" y="2148840"/>
            <a:ext cx="128016" cy="128016"/>
          </a:xfrm>
          <a:prstGeom prst="ellipse">
            <a:avLst/>
          </a:prstGeom>
          <a:ln w="12700">
            <a:solidFill>
              <a:schemeClr val="accent4"/>
            </a:solidFill>
            <a:prstDash val="solid"/>
          </a:ln>
        </p:spPr>
      </p:sp>
      <p:sp>
        <p:nvSpPr>
          <p:cNvPr id="18" name="st_t4"/>
          <p:cNvSpPr txBox="1"/>
          <p:nvPr/>
        </p:nvSpPr>
        <p:spPr>
          <a:xfrm>
            <a:off x="6419349" y="23408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Optimised</a:t>
            </a:r>
            <a:endParaRPr lang="en-US" sz="1150" dirty="0"/>
          </a:p>
        </p:txBody>
      </p:sp>
      <p:sp>
        <p:nvSpPr>
          <p:cNvPr id="19" name="st_l5"/>
          <p:cNvSpPr/>
          <p:nvPr/>
        </p:nvSpPr>
        <p:spPr>
          <a:xfrm>
            <a:off x="7989897" y="2212848"/>
            <a:ext cx="1232219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0" name="st_d5"/>
          <p:cNvSpPr/>
          <p:nvPr/>
        </p:nvSpPr>
        <p:spPr>
          <a:xfrm>
            <a:off x="7834449" y="2148840"/>
            <a:ext cx="128016" cy="128016"/>
          </a:xfrm>
          <a:prstGeom prst="ellipse">
            <a:avLst/>
          </a:prstGeom>
          <a:ln w="12700">
            <a:solidFill>
              <a:schemeClr val="accent4"/>
            </a:solidFill>
            <a:prstDash val="solid"/>
          </a:ln>
        </p:spPr>
      </p:sp>
      <p:sp>
        <p:nvSpPr>
          <p:cNvPr id="21" name="st_t5"/>
          <p:cNvSpPr txBox="1"/>
          <p:nvPr/>
        </p:nvSpPr>
        <p:spPr>
          <a:xfrm>
            <a:off x="7834449" y="23408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Bytecode</a:t>
            </a:r>
            <a:endParaRPr lang="en-US" sz="1150" dirty="0"/>
          </a:p>
        </p:txBody>
      </p:sp>
      <p:sp>
        <p:nvSpPr>
          <p:cNvPr id="22" name="st_l6"/>
          <p:cNvSpPr/>
          <p:nvPr/>
        </p:nvSpPr>
        <p:spPr>
          <a:xfrm>
            <a:off x="9404996" y="2212848"/>
            <a:ext cx="1232219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3" name="st_d6"/>
          <p:cNvSpPr/>
          <p:nvPr/>
        </p:nvSpPr>
        <p:spPr>
          <a:xfrm>
            <a:off x="9249548" y="2148840"/>
            <a:ext cx="128016" cy="128016"/>
          </a:xfrm>
          <a:prstGeom prst="ellipse">
            <a:avLst/>
          </a:prstGeom>
          <a:ln w="12700">
            <a:solidFill>
              <a:schemeClr val="accent4"/>
            </a:solidFill>
            <a:prstDash val="solid"/>
          </a:ln>
        </p:spPr>
      </p:sp>
      <p:sp>
        <p:nvSpPr>
          <p:cNvPr id="24" name="st_t6"/>
          <p:cNvSpPr txBox="1"/>
          <p:nvPr/>
        </p:nvSpPr>
        <p:spPr>
          <a:xfrm>
            <a:off x="9249548" y="23408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VM</a:t>
            </a:r>
            <a:endParaRPr lang="en-US" sz="1150" dirty="0"/>
          </a:p>
        </p:txBody>
      </p:sp>
      <p:sp>
        <p:nvSpPr>
          <p:cNvPr id="25" name="st_d7"/>
          <p:cNvSpPr/>
          <p:nvPr/>
        </p:nvSpPr>
        <p:spPr>
          <a:xfrm>
            <a:off x="10664647" y="2148840"/>
            <a:ext cx="128016" cy="128016"/>
          </a:xfrm>
          <a:prstGeom prst="ellipse">
            <a:avLst/>
          </a:prstGeom>
          <a:ln w="12700">
            <a:solidFill>
              <a:schemeClr val="accent4"/>
            </a:solidFill>
            <a:prstDash val="solid"/>
          </a:ln>
        </p:spPr>
      </p:sp>
      <p:sp>
        <p:nvSpPr>
          <p:cNvPr id="26" name="st_t7"/>
          <p:cNvSpPr txBox="1"/>
          <p:nvPr/>
        </p:nvSpPr>
        <p:spPr>
          <a:xfrm>
            <a:off x="10664647" y="23408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.scn</a:t>
            </a:r>
            <a:endParaRPr lang="en-US" sz="1150" dirty="0"/>
          </a:p>
        </p:txBody>
      </p:sp>
      <p:sp>
        <p:nvSpPr>
          <p:cNvPr id="27" name="card_lex"/>
          <p:cNvSpPr/>
          <p:nvPr/>
        </p:nvSpPr>
        <p:spPr>
          <a:xfrm>
            <a:off x="822960" y="2788920"/>
            <a:ext cx="3977640" cy="2788920"/>
          </a:xfrm>
          <a:prstGeom prst="roundRect">
            <a:avLst>
              <a:gd name="adj" fmla="val 5246"/>
            </a:avLst>
          </a:prstGeom>
          <a:gradFill rotWithShape="1">
            <a:gsLst>
              <a:gs pos="0">
                <a:schemeClr val="bg2">
                  <a:lumMod val="125000"/>
                </a:schemeClr>
              </a:gs>
              <a:gs pos="100000">
                <a:schemeClr val="bg2">
                  <a:lumMod val="80000"/>
                </a:schemeClr>
              </a:gs>
            </a:gsLst>
            <a:lin ang="5400000" scaled="0"/>
          </a:gradFill>
          <a:ln w="9525">
            <a:solidFill>
              <a:schemeClr val="accent5"/>
            </a:solidFill>
            <a:prstDash val="solid"/>
          </a:ln>
        </p:spPr>
      </p:sp>
      <p:sp>
        <p:nvSpPr>
          <p:cNvPr id="28" name="lex_k"/>
          <p:cNvSpPr txBox="1"/>
          <p:nvPr/>
        </p:nvSpPr>
        <p:spPr>
          <a:xfrm>
            <a:off x="1097280" y="299008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3"/>
                </a:solidFill>
              </a:rPr>
              <a:t>1  LEXER: WORDS INTO TOKENS</a:t>
            </a:r>
            <a:endParaRPr lang="en-US" sz="950" dirty="0"/>
          </a:p>
        </p:txBody>
      </p:sp>
      <p:sp>
        <p:nvSpPr>
          <p:cNvPr id="29" name="lex_rule"/>
          <p:cNvSpPr/>
          <p:nvPr/>
        </p:nvSpPr>
        <p:spPr>
          <a:xfrm>
            <a:off x="822960" y="3319272"/>
            <a:ext cx="39776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0" name="lex_code"/>
          <p:cNvSpPr txBox="1"/>
          <p:nvPr/>
        </p:nvSpPr>
        <p:spPr>
          <a:xfrm>
            <a:off x="1097280" y="3483864"/>
            <a:ext cx="3566160" cy="1369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14:1   clear     clear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14:7   CALLSIGN  AI202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14:13  climb     climb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14:19  IDENT     cruise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14:26  -         -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14:28  NUMBER    2000  </a:t>
            </a:r>
            <a:r>
              <a:rPr lang="en-US" sz="11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2000</a:t>
            </a:r>
            <a:endParaRPr lang="en-US" sz="1150" dirty="0"/>
          </a:p>
        </p:txBody>
      </p:sp>
      <p:sp>
        <p:nvSpPr>
          <p:cNvPr id="31" name="a1"/>
          <p:cNvSpPr/>
          <p:nvPr/>
        </p:nvSpPr>
        <p:spPr>
          <a:xfrm>
            <a:off x="4864608" y="4160520"/>
            <a:ext cx="18288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2" name="card_par"/>
          <p:cNvSpPr/>
          <p:nvPr/>
        </p:nvSpPr>
        <p:spPr>
          <a:xfrm>
            <a:off x="5120640" y="2788920"/>
            <a:ext cx="3154680" cy="2788920"/>
          </a:xfrm>
          <a:prstGeom prst="roundRect">
            <a:avLst>
              <a:gd name="adj" fmla="val 5246"/>
            </a:avLst>
          </a:prstGeom>
          <a:gradFill rotWithShape="1">
            <a:gsLst>
              <a:gs pos="0">
                <a:schemeClr val="bg2">
                  <a:lumMod val="125000"/>
                </a:schemeClr>
              </a:gs>
              <a:gs pos="100000">
                <a:schemeClr val="bg2">
                  <a:lumMod val="80000"/>
                </a:schemeClr>
              </a:gs>
            </a:gsLst>
            <a:lin ang="5400000" scaled="0"/>
          </a:gradFill>
          <a:ln w="9525">
            <a:solidFill>
              <a:schemeClr val="accent5"/>
            </a:solidFill>
            <a:prstDash val="solid"/>
          </a:ln>
        </p:spPr>
      </p:sp>
      <p:sp>
        <p:nvSpPr>
          <p:cNvPr id="33" name="par_k"/>
          <p:cNvSpPr txBox="1"/>
          <p:nvPr/>
        </p:nvSpPr>
        <p:spPr>
          <a:xfrm>
            <a:off x="5394960" y="299008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3"/>
                </a:solidFill>
              </a:rPr>
              <a:t>2  PARSER: TOKENS INTO A TREE</a:t>
            </a:r>
            <a:endParaRPr lang="en-US" sz="950" dirty="0"/>
          </a:p>
        </p:txBody>
      </p:sp>
      <p:sp>
        <p:nvSpPr>
          <p:cNvPr id="34" name="par_rule"/>
          <p:cNvSpPr/>
          <p:nvPr/>
        </p:nvSpPr>
        <p:spPr>
          <a:xfrm>
            <a:off x="5120640" y="3319272"/>
            <a:ext cx="315468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5" name="par_code"/>
          <p:cNvSpPr txBox="1"/>
          <p:nvPr/>
        </p:nvSpPr>
        <p:spPr>
          <a:xfrm>
            <a:off x="5394960" y="3483864"/>
            <a:ext cx="27432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 climb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AI202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Binary '-'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cruise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 2000</a:t>
            </a:r>
            <a:endParaRPr lang="en-US" sz="1200" dirty="0"/>
          </a:p>
        </p:txBody>
      </p:sp>
      <p:sp>
        <p:nvSpPr>
          <p:cNvPr id="36" name="a2"/>
          <p:cNvSpPr/>
          <p:nvPr/>
        </p:nvSpPr>
        <p:spPr>
          <a:xfrm>
            <a:off x="8339328" y="4160520"/>
            <a:ext cx="18288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7" name="card_chk"/>
          <p:cNvSpPr/>
          <p:nvPr/>
        </p:nvSpPr>
        <p:spPr>
          <a:xfrm>
            <a:off x="8595360" y="2788920"/>
            <a:ext cx="2770632" cy="2788920"/>
          </a:xfrm>
          <a:prstGeom prst="roundRect">
            <a:avLst>
              <a:gd name="adj" fmla="val 5281"/>
            </a:avLst>
          </a:prstGeom>
          <a:gradFill rotWithShape="1">
            <a:gsLst>
              <a:gs pos="0">
                <a:schemeClr val="bg2">
                  <a:lumMod val="125000"/>
                </a:schemeClr>
              </a:gs>
              <a:gs pos="100000">
                <a:schemeClr val="bg2">
                  <a:lumMod val="80000"/>
                </a:schemeClr>
              </a:gs>
            </a:gsLst>
            <a:lin ang="5400000" scaled="0"/>
          </a:gradFill>
          <a:ln w="9525">
            <a:solidFill>
              <a:schemeClr val="accent5"/>
            </a:solidFill>
            <a:prstDash val="solid"/>
          </a:ln>
        </p:spPr>
      </p:sp>
      <p:sp>
        <p:nvSpPr>
          <p:cNvPr id="38" name="chk_h"/>
          <p:cNvSpPr txBox="1"/>
          <p:nvPr/>
        </p:nvSpPr>
        <p:spPr>
          <a:xfrm>
            <a:off x="8869680" y="3008376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  Checker</a:t>
            </a:r>
            <a:endParaRPr lang="en-US" sz="1700" dirty="0"/>
          </a:p>
        </p:txBody>
      </p:sp>
      <p:sp>
        <p:nvSpPr>
          <p:cNvPr id="39" name="chk_r0"/>
          <p:cNvSpPr/>
          <p:nvPr/>
        </p:nvSpPr>
        <p:spPr>
          <a:xfrm>
            <a:off x="8869680" y="3502152"/>
            <a:ext cx="222199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0" name="chk_p0"/>
          <p:cNvSpPr txBox="1"/>
          <p:nvPr/>
        </p:nvSpPr>
        <p:spPr>
          <a:xfrm>
            <a:off x="8869680" y="3593592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AI202 is declared, and is a flight</a:t>
            </a:r>
            <a:endParaRPr lang="en-US" sz="1200" dirty="0"/>
          </a:p>
        </p:txBody>
      </p:sp>
      <p:sp>
        <p:nvSpPr>
          <p:cNvPr id="41" name="chk_r1"/>
          <p:cNvSpPr/>
          <p:nvPr/>
        </p:nvSpPr>
        <p:spPr>
          <a:xfrm>
            <a:off x="8869680" y="4069080"/>
            <a:ext cx="222199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2" name="chk_p1"/>
          <p:cNvSpPr txBox="1"/>
          <p:nvPr/>
        </p:nvSpPr>
        <p:spPr>
          <a:xfrm>
            <a:off x="8869680" y="416052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cruise is declared, and is a num</a:t>
            </a:r>
            <a:endParaRPr lang="en-US" sz="1200" dirty="0"/>
          </a:p>
        </p:txBody>
      </p:sp>
      <p:sp>
        <p:nvSpPr>
          <p:cNvPr id="43" name="chk_r2"/>
          <p:cNvSpPr/>
          <p:nvPr/>
        </p:nvSpPr>
        <p:spPr>
          <a:xfrm>
            <a:off x="8869680" y="4636008"/>
            <a:ext cx="222199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4" name="chk_p2"/>
          <p:cNvSpPr txBox="1"/>
          <p:nvPr/>
        </p:nvSpPr>
        <p:spPr>
          <a:xfrm>
            <a:off x="8869680" y="4727448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climb needs a number of feet: num</a:t>
            </a:r>
            <a:endParaRPr lang="en-US" sz="1200" dirty="0"/>
          </a:p>
        </p:txBody>
      </p:sp>
      <p:sp>
        <p:nvSpPr>
          <p:cNvPr id="45" name="foot"/>
          <p:cNvSpPr txBox="1"/>
          <p:nvPr/>
        </p:nvSpPr>
        <p:spPr>
          <a:xfrm>
            <a:off x="822960" y="5742432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tree still says “cruise minus 2000”. A flat scenario file could only ever hold the answer. Any failure here stops with a line:column message, and no output.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96112"/>
            <a:ext cx="1054577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1"/>
                </a:solidFill>
              </a:rPr>
              <a:t>Follow one line: the middle end.</a:t>
            </a:r>
            <a:endParaRPr lang="en-US" sz="4400" dirty="0"/>
          </a:p>
        </p:txBody>
      </p:sp>
      <p:sp>
        <p:nvSpPr>
          <p:cNvPr id="3" name="sub"/>
          <p:cNvSpPr txBox="1"/>
          <p:nvPr/>
        </p:nvSpPr>
        <p:spPr>
          <a:xfrm>
            <a:off x="822960" y="1645920"/>
            <a:ext cx="105457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The tree becomes three-address code: one operation per instruction. Then the optimiser simplifies it.</a:t>
            </a:r>
            <a:endParaRPr lang="en-US" sz="1700" dirty="0"/>
          </a:p>
        </p:txBody>
      </p:sp>
      <p:sp>
        <p:nvSpPr>
          <p:cNvPr id="4" name="st_l0"/>
          <p:cNvSpPr/>
          <p:nvPr/>
        </p:nvSpPr>
        <p:spPr>
          <a:xfrm>
            <a:off x="914400" y="2212848"/>
            <a:ext cx="1232219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5" name="st_d0"/>
          <p:cNvSpPr/>
          <p:nvPr/>
        </p:nvSpPr>
        <p:spPr>
          <a:xfrm>
            <a:off x="758952" y="214884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t_t0"/>
          <p:cNvSpPr txBox="1"/>
          <p:nvPr/>
        </p:nvSpPr>
        <p:spPr>
          <a:xfrm>
            <a:off x="758952" y="23408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</a:rPr>
              <a:t>Tokens</a:t>
            </a:r>
            <a:endParaRPr lang="en-US" sz="1150" dirty="0"/>
          </a:p>
        </p:txBody>
      </p:sp>
      <p:sp>
        <p:nvSpPr>
          <p:cNvPr id="7" name="st_l1"/>
          <p:cNvSpPr/>
          <p:nvPr/>
        </p:nvSpPr>
        <p:spPr>
          <a:xfrm>
            <a:off x="2329499" y="2212848"/>
            <a:ext cx="1232219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8" name="st_d1"/>
          <p:cNvSpPr/>
          <p:nvPr/>
        </p:nvSpPr>
        <p:spPr>
          <a:xfrm>
            <a:off x="2174051" y="214884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st_t1"/>
          <p:cNvSpPr txBox="1"/>
          <p:nvPr/>
        </p:nvSpPr>
        <p:spPr>
          <a:xfrm>
            <a:off x="2174051" y="23408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</a:rPr>
              <a:t>Tree</a:t>
            </a:r>
            <a:endParaRPr lang="en-US" sz="1150" dirty="0"/>
          </a:p>
        </p:txBody>
      </p:sp>
      <p:sp>
        <p:nvSpPr>
          <p:cNvPr id="10" name="st_l2"/>
          <p:cNvSpPr/>
          <p:nvPr/>
        </p:nvSpPr>
        <p:spPr>
          <a:xfrm>
            <a:off x="3744599" y="2212848"/>
            <a:ext cx="1232219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11" name="st_d2"/>
          <p:cNvSpPr/>
          <p:nvPr/>
        </p:nvSpPr>
        <p:spPr>
          <a:xfrm>
            <a:off x="3589151" y="214884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st_t2"/>
          <p:cNvSpPr txBox="1"/>
          <p:nvPr/>
        </p:nvSpPr>
        <p:spPr>
          <a:xfrm>
            <a:off x="3589151" y="23408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</a:rPr>
              <a:t>Checks</a:t>
            </a:r>
            <a:endParaRPr lang="en-US" sz="1150" dirty="0"/>
          </a:p>
        </p:txBody>
      </p:sp>
      <p:sp>
        <p:nvSpPr>
          <p:cNvPr id="13" name="st_l3"/>
          <p:cNvSpPr/>
          <p:nvPr/>
        </p:nvSpPr>
        <p:spPr>
          <a:xfrm>
            <a:off x="5159698" y="2212848"/>
            <a:ext cx="1232219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4" name="st_d3_halo"/>
          <p:cNvSpPr/>
          <p:nvPr/>
        </p:nvSpPr>
        <p:spPr>
          <a:xfrm>
            <a:off x="5004250" y="2148840"/>
            <a:ext cx="128016" cy="128016"/>
          </a:xfrm>
          <a:prstGeom prst="ellipse">
            <a:avLst/>
          </a:prstGeom>
          <a:solidFill>
            <a:schemeClr val="accent1"/>
          </a:solidFill>
          <a:ln/>
          <a:effectLst>
            <a:glow rad="114300">
              <a:schemeClr val="accent1">
                <a:alpha val="45000"/>
              </a:schemeClr>
            </a:glow>
          </a:effectLst>
        </p:spPr>
      </p:sp>
      <p:sp>
        <p:nvSpPr>
          <p:cNvPr id="15" name="st_t3"/>
          <p:cNvSpPr txBox="1"/>
          <p:nvPr/>
        </p:nvSpPr>
        <p:spPr>
          <a:xfrm>
            <a:off x="5004250" y="23408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TAC</a:t>
            </a:r>
            <a:endParaRPr lang="en-US" sz="1150" dirty="0"/>
          </a:p>
        </p:txBody>
      </p:sp>
      <p:sp>
        <p:nvSpPr>
          <p:cNvPr id="16" name="st_l4"/>
          <p:cNvSpPr/>
          <p:nvPr/>
        </p:nvSpPr>
        <p:spPr>
          <a:xfrm>
            <a:off x="6574797" y="2212848"/>
            <a:ext cx="1232219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7" name="st_d4_halo"/>
          <p:cNvSpPr/>
          <p:nvPr/>
        </p:nvSpPr>
        <p:spPr>
          <a:xfrm>
            <a:off x="6419349" y="2148840"/>
            <a:ext cx="128016" cy="128016"/>
          </a:xfrm>
          <a:prstGeom prst="ellipse">
            <a:avLst/>
          </a:prstGeom>
          <a:solidFill>
            <a:schemeClr val="accent1"/>
          </a:solidFill>
          <a:ln/>
          <a:effectLst>
            <a:glow rad="114300">
              <a:schemeClr val="accent1">
                <a:alpha val="45000"/>
              </a:schemeClr>
            </a:glow>
          </a:effectLst>
        </p:spPr>
      </p:sp>
      <p:sp>
        <p:nvSpPr>
          <p:cNvPr id="18" name="st_t4"/>
          <p:cNvSpPr txBox="1"/>
          <p:nvPr/>
        </p:nvSpPr>
        <p:spPr>
          <a:xfrm>
            <a:off x="6419349" y="23408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Optimised</a:t>
            </a:r>
            <a:endParaRPr lang="en-US" sz="1150" dirty="0"/>
          </a:p>
        </p:txBody>
      </p:sp>
      <p:sp>
        <p:nvSpPr>
          <p:cNvPr id="19" name="st_l5"/>
          <p:cNvSpPr/>
          <p:nvPr/>
        </p:nvSpPr>
        <p:spPr>
          <a:xfrm>
            <a:off x="7989897" y="2212848"/>
            <a:ext cx="1232219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0" name="st_d5"/>
          <p:cNvSpPr/>
          <p:nvPr/>
        </p:nvSpPr>
        <p:spPr>
          <a:xfrm>
            <a:off x="7834449" y="2148840"/>
            <a:ext cx="128016" cy="128016"/>
          </a:xfrm>
          <a:prstGeom prst="ellipse">
            <a:avLst/>
          </a:prstGeom>
          <a:ln w="12700">
            <a:solidFill>
              <a:schemeClr val="accent4"/>
            </a:solidFill>
            <a:prstDash val="solid"/>
          </a:ln>
        </p:spPr>
      </p:sp>
      <p:sp>
        <p:nvSpPr>
          <p:cNvPr id="21" name="st_t5"/>
          <p:cNvSpPr txBox="1"/>
          <p:nvPr/>
        </p:nvSpPr>
        <p:spPr>
          <a:xfrm>
            <a:off x="7834449" y="23408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Bytecode</a:t>
            </a:r>
            <a:endParaRPr lang="en-US" sz="1150" dirty="0"/>
          </a:p>
        </p:txBody>
      </p:sp>
      <p:sp>
        <p:nvSpPr>
          <p:cNvPr id="22" name="st_l6"/>
          <p:cNvSpPr/>
          <p:nvPr/>
        </p:nvSpPr>
        <p:spPr>
          <a:xfrm>
            <a:off x="9404996" y="2212848"/>
            <a:ext cx="1232219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3" name="st_d6"/>
          <p:cNvSpPr/>
          <p:nvPr/>
        </p:nvSpPr>
        <p:spPr>
          <a:xfrm>
            <a:off x="9249548" y="2148840"/>
            <a:ext cx="128016" cy="128016"/>
          </a:xfrm>
          <a:prstGeom prst="ellipse">
            <a:avLst/>
          </a:prstGeom>
          <a:ln w="12700">
            <a:solidFill>
              <a:schemeClr val="accent4"/>
            </a:solidFill>
            <a:prstDash val="solid"/>
          </a:ln>
        </p:spPr>
      </p:sp>
      <p:sp>
        <p:nvSpPr>
          <p:cNvPr id="24" name="st_t6"/>
          <p:cNvSpPr txBox="1"/>
          <p:nvPr/>
        </p:nvSpPr>
        <p:spPr>
          <a:xfrm>
            <a:off x="9249548" y="23408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VM</a:t>
            </a:r>
            <a:endParaRPr lang="en-US" sz="1150" dirty="0"/>
          </a:p>
        </p:txBody>
      </p:sp>
      <p:sp>
        <p:nvSpPr>
          <p:cNvPr id="25" name="st_d7"/>
          <p:cNvSpPr/>
          <p:nvPr/>
        </p:nvSpPr>
        <p:spPr>
          <a:xfrm>
            <a:off x="10664647" y="2148840"/>
            <a:ext cx="128016" cy="128016"/>
          </a:xfrm>
          <a:prstGeom prst="ellipse">
            <a:avLst/>
          </a:prstGeom>
          <a:ln w="12700">
            <a:solidFill>
              <a:schemeClr val="accent4"/>
            </a:solidFill>
            <a:prstDash val="solid"/>
          </a:ln>
        </p:spPr>
      </p:sp>
      <p:sp>
        <p:nvSpPr>
          <p:cNvPr id="26" name="st_t7"/>
          <p:cNvSpPr txBox="1"/>
          <p:nvPr/>
        </p:nvSpPr>
        <p:spPr>
          <a:xfrm>
            <a:off x="10664647" y="23408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.scn</a:t>
            </a:r>
            <a:endParaRPr lang="en-US" sz="1150" dirty="0"/>
          </a:p>
        </p:txBody>
      </p:sp>
      <p:sp>
        <p:nvSpPr>
          <p:cNvPr id="27" name="card_before"/>
          <p:cNvSpPr/>
          <p:nvPr/>
        </p:nvSpPr>
        <p:spPr>
          <a:xfrm>
            <a:off x="822960" y="2724912"/>
            <a:ext cx="4937760" cy="3063240"/>
          </a:xfrm>
          <a:prstGeom prst="roundRect">
            <a:avLst>
              <a:gd name="adj" fmla="val 4776"/>
            </a:avLst>
          </a:prstGeom>
          <a:gradFill rotWithShape="1">
            <a:gsLst>
              <a:gs pos="0">
                <a:schemeClr val="bg2">
                  <a:lumMod val="125000"/>
                </a:schemeClr>
              </a:gs>
              <a:gs pos="100000">
                <a:schemeClr val="bg2">
                  <a:lumMod val="80000"/>
                </a:schemeClr>
              </a:gs>
            </a:gsLst>
            <a:lin ang="5400000" scaled="0"/>
          </a:gradFill>
          <a:ln w="9525">
            <a:solidFill>
              <a:schemeClr val="accent5"/>
            </a:solidFill>
            <a:prstDash val="solid"/>
          </a:ln>
        </p:spPr>
      </p:sp>
      <p:sp>
        <p:nvSpPr>
          <p:cNvPr id="28" name="before_k"/>
          <p:cNvSpPr txBox="1"/>
          <p:nvPr/>
        </p:nvSpPr>
        <p:spPr>
          <a:xfrm>
            <a:off x="1097280" y="29260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3"/>
                </a:solidFill>
              </a:rPr>
              <a:t>THREE-ADDRESS CODE  (--IR)</a:t>
            </a:r>
            <a:endParaRPr lang="en-US" sz="950" dirty="0"/>
          </a:p>
        </p:txBody>
      </p:sp>
      <p:sp>
        <p:nvSpPr>
          <p:cNvPr id="29" name="before_rule"/>
          <p:cNvSpPr/>
          <p:nvPr/>
        </p:nvSpPr>
        <p:spPr>
          <a:xfrm>
            <a:off x="822960" y="3255264"/>
            <a:ext cx="493776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0" name="before_code"/>
          <p:cNvSpPr txBox="1"/>
          <p:nvPr/>
        </p:nvSpPr>
        <p:spPr>
          <a:xfrm>
            <a:off x="1097280" y="3419856"/>
            <a:ext cx="4526280" cy="2328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   </a:t>
            </a: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cruise = 32000</a:t>
            </a:r>
            <a:endParaRPr lang="en-US" sz="120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 </a:t>
            </a:r>
            <a:r>
              <a:rPr lang="en-US" sz="1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 24000</a:t>
            </a:r>
            <a:endParaRPr lang="en-US" sz="120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 </a:t>
            </a:r>
            <a:r>
              <a:rPr lang="en-US" sz="1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 90</a:t>
            </a:r>
            <a:endParaRPr lang="en-US" sz="120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 </a:t>
            </a:r>
            <a:r>
              <a:rPr lang="en-US" sz="1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 280</a:t>
            </a:r>
            <a:endParaRPr lang="en-US" sz="120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  </a:t>
            </a:r>
            <a:r>
              <a:rPr lang="en-US" sz="1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AI202</a:t>
            </a:r>
            <a:endParaRPr lang="en-US" sz="120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 </a:t>
            </a:r>
            <a:r>
              <a:rPr lang="en-US" sz="1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 120</a:t>
            </a:r>
            <a:endParaRPr lang="en-US" sz="120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  </a:t>
            </a: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 = cruise - 2000</a:t>
            </a:r>
            <a:endParaRPr lang="en-US" sz="120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  </a:t>
            </a: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 AI202, climb, t1</a:t>
            </a:r>
            <a:endParaRPr lang="en-US" sz="120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  </a:t>
            </a:r>
            <a:r>
              <a:rPr lang="en-US" sz="1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 80</a:t>
            </a:r>
            <a:endParaRPr lang="en-US" sz="120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  </a:t>
            </a:r>
            <a:r>
              <a:rPr lang="en-US" sz="1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 AI202, heading, 120</a:t>
            </a:r>
            <a:endParaRPr lang="en-US" sz="120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 </a:t>
            </a:r>
            <a:r>
              <a:rPr lang="en-US" sz="1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200" dirty="0"/>
          </a:p>
        </p:txBody>
      </p:sp>
      <p:sp>
        <p:nvSpPr>
          <p:cNvPr id="31" name="arr"/>
          <p:cNvSpPr/>
          <p:nvPr/>
        </p:nvSpPr>
        <p:spPr>
          <a:xfrm>
            <a:off x="5870448" y="4206240"/>
            <a:ext cx="45720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2" name="card_after"/>
          <p:cNvSpPr/>
          <p:nvPr/>
        </p:nvSpPr>
        <p:spPr>
          <a:xfrm>
            <a:off x="6428232" y="2724912"/>
            <a:ext cx="4937760" cy="3063240"/>
          </a:xfrm>
          <a:prstGeom prst="roundRect">
            <a:avLst>
              <a:gd name="adj" fmla="val 4776"/>
            </a:avLst>
          </a:prstGeom>
          <a:gradFill rotWithShape="1">
            <a:gsLst>
              <a:gs pos="0">
                <a:schemeClr val="bg2">
                  <a:lumMod val="125000"/>
                </a:schemeClr>
              </a:gs>
              <a:gs pos="100000">
                <a:schemeClr val="bg2">
                  <a:lumMod val="80000"/>
                </a:schemeClr>
              </a:gs>
            </a:gsLst>
            <a:lin ang="5400000" scaled="0"/>
          </a:gradFill>
          <a:ln w="12700">
            <a:solidFill>
              <a:schemeClr val="accent4"/>
            </a:solidFill>
            <a:prstDash val="solid"/>
          </a:ln>
        </p:spPr>
      </p:sp>
      <p:sp>
        <p:nvSpPr>
          <p:cNvPr id="33" name="after_k"/>
          <p:cNvSpPr txBox="1"/>
          <p:nvPr/>
        </p:nvSpPr>
        <p:spPr>
          <a:xfrm>
            <a:off x="6702552" y="29260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1"/>
                </a:solidFill>
              </a:rPr>
              <a:t>AFTER THE OPTIMISER  (--OPT-IR)</a:t>
            </a:r>
            <a:endParaRPr lang="en-US" sz="950" dirty="0"/>
          </a:p>
        </p:txBody>
      </p:sp>
      <p:sp>
        <p:nvSpPr>
          <p:cNvPr id="34" name="after_rule"/>
          <p:cNvSpPr/>
          <p:nvPr/>
        </p:nvSpPr>
        <p:spPr>
          <a:xfrm>
            <a:off x="6428232" y="3255264"/>
            <a:ext cx="493776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5" name="after_code"/>
          <p:cNvSpPr txBox="1"/>
          <p:nvPr/>
        </p:nvSpPr>
        <p:spPr>
          <a:xfrm>
            <a:off x="6702552" y="3419856"/>
            <a:ext cx="4526280" cy="1914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   </a:t>
            </a:r>
            <a:r>
              <a:rPr lang="en-US" sz="1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 24000</a:t>
            </a:r>
            <a:endParaRPr lang="en-US" sz="120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 </a:t>
            </a:r>
            <a:r>
              <a:rPr lang="en-US" sz="1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 90</a:t>
            </a:r>
            <a:endParaRPr lang="en-US" sz="120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 </a:t>
            </a:r>
            <a:r>
              <a:rPr lang="en-US" sz="1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 280</a:t>
            </a:r>
            <a:endParaRPr lang="en-US" sz="120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 </a:t>
            </a:r>
            <a:r>
              <a:rPr lang="en-US" sz="1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AI202</a:t>
            </a:r>
            <a:endParaRPr lang="en-US" sz="120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  </a:t>
            </a:r>
            <a:r>
              <a:rPr lang="en-US" sz="1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 120</a:t>
            </a:r>
            <a:endParaRPr lang="en-US" sz="120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 </a:t>
            </a:r>
            <a:r>
              <a:rPr lang="en-US" sz="12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 AI202, climb, 30000</a:t>
            </a:r>
            <a:endParaRPr lang="en-US" sz="120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  </a:t>
            </a:r>
            <a:r>
              <a:rPr lang="en-US" sz="1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 80</a:t>
            </a:r>
            <a:endParaRPr lang="en-US" sz="120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  </a:t>
            </a:r>
            <a:r>
              <a:rPr lang="en-US" sz="1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 AI202, heading, 120</a:t>
            </a:r>
            <a:endParaRPr lang="en-US" sz="120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  </a:t>
            </a:r>
            <a:r>
              <a:rPr lang="en-US" sz="1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200" dirty="0"/>
          </a:p>
        </p:txBody>
      </p:sp>
      <p:sp>
        <p:nvSpPr>
          <p:cNvPr id="36" name="why"/>
          <p:cNvSpPr txBox="1"/>
          <p:nvPr/>
        </p:nvSpPr>
        <p:spPr>
          <a:xfrm>
            <a:off x="822960" y="5870448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cruise</a:t>
            </a:r>
            <a:r>
              <a:rPr lang="en-US" sz="1200" dirty="0">
                <a:solidFill>
                  <a:schemeClr val="tx2"/>
                </a:solidFill>
              </a:rPr>
              <a:t> is 32000 and never changes, so </a:t>
            </a: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cruise - 2000</a:t>
            </a:r>
            <a:r>
              <a:rPr lang="en-US" sz="1200" dirty="0">
                <a:solidFill>
                  <a:schemeClr val="tx2"/>
                </a:solidFill>
              </a:rPr>
              <a:t> becomes 30000, and both </a:t>
            </a: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cruise</a:t>
            </a:r>
            <a:r>
              <a:rPr lang="en-US" sz="1200" dirty="0">
                <a:solidFill>
                  <a:schemeClr val="tx2"/>
                </a:solidFill>
              </a:rPr>
              <a:t> and </a:t>
            </a: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</a:t>
            </a:r>
            <a:r>
              <a:rPr lang="en-US" sz="1200" dirty="0">
                <a:solidFill>
                  <a:schemeClr val="tx2"/>
                </a:solidFill>
              </a:rPr>
              <a:t> disappear. The optimiser’s own report: 1 constant folded, 2 operands replaced by propagated constants, 2 dead instructions removed.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96112"/>
            <a:ext cx="1054577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1"/>
                </a:solidFill>
              </a:rPr>
              <a:t>Follow one line: what comes out.</a:t>
            </a:r>
            <a:endParaRPr lang="en-US" sz="4400" dirty="0"/>
          </a:p>
        </p:txBody>
      </p:sp>
      <p:sp>
        <p:nvSpPr>
          <p:cNvPr id="3" name="sub"/>
          <p:cNvSpPr txBox="1"/>
          <p:nvPr/>
        </p:nvSpPr>
        <p:spPr>
          <a:xfrm>
            <a:off x="822960" y="1645920"/>
            <a:ext cx="105457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AeroVM runs the bytecode and records each clearance with its time; scn.c writes them out.</a:t>
            </a:r>
            <a:endParaRPr lang="en-US" sz="1700" dirty="0"/>
          </a:p>
        </p:txBody>
      </p:sp>
      <p:sp>
        <p:nvSpPr>
          <p:cNvPr id="4" name="st_l0"/>
          <p:cNvSpPr/>
          <p:nvPr/>
        </p:nvSpPr>
        <p:spPr>
          <a:xfrm>
            <a:off x="914400" y="2212848"/>
            <a:ext cx="1232219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5" name="st_d0"/>
          <p:cNvSpPr/>
          <p:nvPr/>
        </p:nvSpPr>
        <p:spPr>
          <a:xfrm>
            <a:off x="758952" y="214884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t_t0"/>
          <p:cNvSpPr txBox="1"/>
          <p:nvPr/>
        </p:nvSpPr>
        <p:spPr>
          <a:xfrm>
            <a:off x="758952" y="23408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</a:rPr>
              <a:t>Tokens</a:t>
            </a:r>
            <a:endParaRPr lang="en-US" sz="1150" dirty="0"/>
          </a:p>
        </p:txBody>
      </p:sp>
      <p:sp>
        <p:nvSpPr>
          <p:cNvPr id="7" name="st_l1"/>
          <p:cNvSpPr/>
          <p:nvPr/>
        </p:nvSpPr>
        <p:spPr>
          <a:xfrm>
            <a:off x="2329499" y="2212848"/>
            <a:ext cx="1232219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8" name="st_d1"/>
          <p:cNvSpPr/>
          <p:nvPr/>
        </p:nvSpPr>
        <p:spPr>
          <a:xfrm>
            <a:off x="2174051" y="214884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st_t1"/>
          <p:cNvSpPr txBox="1"/>
          <p:nvPr/>
        </p:nvSpPr>
        <p:spPr>
          <a:xfrm>
            <a:off x="2174051" y="23408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</a:rPr>
              <a:t>Tree</a:t>
            </a:r>
            <a:endParaRPr lang="en-US" sz="1150" dirty="0"/>
          </a:p>
        </p:txBody>
      </p:sp>
      <p:sp>
        <p:nvSpPr>
          <p:cNvPr id="10" name="st_l2"/>
          <p:cNvSpPr/>
          <p:nvPr/>
        </p:nvSpPr>
        <p:spPr>
          <a:xfrm>
            <a:off x="3744599" y="2212848"/>
            <a:ext cx="1232219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11" name="st_d2"/>
          <p:cNvSpPr/>
          <p:nvPr/>
        </p:nvSpPr>
        <p:spPr>
          <a:xfrm>
            <a:off x="3589151" y="214884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st_t2"/>
          <p:cNvSpPr txBox="1"/>
          <p:nvPr/>
        </p:nvSpPr>
        <p:spPr>
          <a:xfrm>
            <a:off x="3589151" y="23408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</a:rPr>
              <a:t>Checks</a:t>
            </a:r>
            <a:endParaRPr lang="en-US" sz="1150" dirty="0"/>
          </a:p>
        </p:txBody>
      </p:sp>
      <p:sp>
        <p:nvSpPr>
          <p:cNvPr id="13" name="st_l3"/>
          <p:cNvSpPr/>
          <p:nvPr/>
        </p:nvSpPr>
        <p:spPr>
          <a:xfrm>
            <a:off x="5159698" y="2212848"/>
            <a:ext cx="1232219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14" name="st_d3"/>
          <p:cNvSpPr/>
          <p:nvPr/>
        </p:nvSpPr>
        <p:spPr>
          <a:xfrm>
            <a:off x="5004250" y="214884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st_t3"/>
          <p:cNvSpPr txBox="1"/>
          <p:nvPr/>
        </p:nvSpPr>
        <p:spPr>
          <a:xfrm>
            <a:off x="5004250" y="23408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</a:rPr>
              <a:t>TAC</a:t>
            </a:r>
            <a:endParaRPr lang="en-US" sz="1150" dirty="0"/>
          </a:p>
        </p:txBody>
      </p:sp>
      <p:sp>
        <p:nvSpPr>
          <p:cNvPr id="16" name="st_l4"/>
          <p:cNvSpPr/>
          <p:nvPr/>
        </p:nvSpPr>
        <p:spPr>
          <a:xfrm>
            <a:off x="6574797" y="2212848"/>
            <a:ext cx="1232219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17" name="st_d4"/>
          <p:cNvSpPr/>
          <p:nvPr/>
        </p:nvSpPr>
        <p:spPr>
          <a:xfrm>
            <a:off x="6419349" y="214884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st_t4"/>
          <p:cNvSpPr txBox="1"/>
          <p:nvPr/>
        </p:nvSpPr>
        <p:spPr>
          <a:xfrm>
            <a:off x="6419349" y="23408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</a:rPr>
              <a:t>Optimised</a:t>
            </a:r>
            <a:endParaRPr lang="en-US" sz="1150" dirty="0"/>
          </a:p>
        </p:txBody>
      </p:sp>
      <p:sp>
        <p:nvSpPr>
          <p:cNvPr id="19" name="st_l5"/>
          <p:cNvSpPr/>
          <p:nvPr/>
        </p:nvSpPr>
        <p:spPr>
          <a:xfrm>
            <a:off x="7989897" y="2212848"/>
            <a:ext cx="1232219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0" name="st_d5_halo"/>
          <p:cNvSpPr/>
          <p:nvPr/>
        </p:nvSpPr>
        <p:spPr>
          <a:xfrm>
            <a:off x="7834449" y="2148840"/>
            <a:ext cx="128016" cy="128016"/>
          </a:xfrm>
          <a:prstGeom prst="ellipse">
            <a:avLst/>
          </a:prstGeom>
          <a:solidFill>
            <a:schemeClr val="accent1"/>
          </a:solidFill>
          <a:ln/>
          <a:effectLst>
            <a:glow rad="114300">
              <a:schemeClr val="accent1">
                <a:alpha val="45000"/>
              </a:schemeClr>
            </a:glow>
          </a:effectLst>
        </p:spPr>
      </p:sp>
      <p:sp>
        <p:nvSpPr>
          <p:cNvPr id="21" name="st_t5"/>
          <p:cNvSpPr txBox="1"/>
          <p:nvPr/>
        </p:nvSpPr>
        <p:spPr>
          <a:xfrm>
            <a:off x="7834449" y="23408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Bytecode</a:t>
            </a:r>
            <a:endParaRPr lang="en-US" sz="1150" dirty="0"/>
          </a:p>
        </p:txBody>
      </p:sp>
      <p:sp>
        <p:nvSpPr>
          <p:cNvPr id="22" name="st_l6"/>
          <p:cNvSpPr/>
          <p:nvPr/>
        </p:nvSpPr>
        <p:spPr>
          <a:xfrm>
            <a:off x="9404996" y="2212848"/>
            <a:ext cx="1232219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3" name="st_d6_halo"/>
          <p:cNvSpPr/>
          <p:nvPr/>
        </p:nvSpPr>
        <p:spPr>
          <a:xfrm>
            <a:off x="9249548" y="2148840"/>
            <a:ext cx="128016" cy="128016"/>
          </a:xfrm>
          <a:prstGeom prst="ellipse">
            <a:avLst/>
          </a:prstGeom>
          <a:solidFill>
            <a:schemeClr val="accent1"/>
          </a:solidFill>
          <a:ln/>
          <a:effectLst>
            <a:glow rad="114300">
              <a:schemeClr val="accent1">
                <a:alpha val="45000"/>
              </a:schemeClr>
            </a:glow>
          </a:effectLst>
        </p:spPr>
      </p:sp>
      <p:sp>
        <p:nvSpPr>
          <p:cNvPr id="24" name="st_t6"/>
          <p:cNvSpPr txBox="1"/>
          <p:nvPr/>
        </p:nvSpPr>
        <p:spPr>
          <a:xfrm>
            <a:off x="9249548" y="23408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VM</a:t>
            </a:r>
            <a:endParaRPr lang="en-US" sz="1150" dirty="0"/>
          </a:p>
        </p:txBody>
      </p:sp>
      <p:sp>
        <p:nvSpPr>
          <p:cNvPr id="25" name="st_d7_halo"/>
          <p:cNvSpPr/>
          <p:nvPr/>
        </p:nvSpPr>
        <p:spPr>
          <a:xfrm>
            <a:off x="10664647" y="2148840"/>
            <a:ext cx="128016" cy="128016"/>
          </a:xfrm>
          <a:prstGeom prst="ellipse">
            <a:avLst/>
          </a:prstGeom>
          <a:solidFill>
            <a:schemeClr val="accent1"/>
          </a:solidFill>
          <a:ln/>
          <a:effectLst>
            <a:glow rad="114300">
              <a:schemeClr val="accent1">
                <a:alpha val="45000"/>
              </a:schemeClr>
            </a:glow>
          </a:effectLst>
        </p:spPr>
      </p:sp>
      <p:sp>
        <p:nvSpPr>
          <p:cNvPr id="26" name="st_t7"/>
          <p:cNvSpPr txBox="1"/>
          <p:nvPr/>
        </p:nvSpPr>
        <p:spPr>
          <a:xfrm>
            <a:off x="10664647" y="23408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.scn</a:t>
            </a:r>
            <a:endParaRPr lang="en-US" sz="1150" dirty="0"/>
          </a:p>
        </p:txBody>
      </p:sp>
      <p:sp>
        <p:nvSpPr>
          <p:cNvPr id="27" name="card_src"/>
          <p:cNvSpPr/>
          <p:nvPr/>
        </p:nvSpPr>
        <p:spPr>
          <a:xfrm>
            <a:off x="822960" y="2788920"/>
            <a:ext cx="4937760" cy="2011680"/>
          </a:xfrm>
          <a:prstGeom prst="roundRect">
            <a:avLst>
              <a:gd name="adj" fmla="val 7273"/>
            </a:avLst>
          </a:prstGeom>
          <a:gradFill rotWithShape="1">
            <a:gsLst>
              <a:gs pos="0">
                <a:schemeClr val="bg2">
                  <a:lumMod val="125000"/>
                </a:schemeClr>
              </a:gs>
              <a:gs pos="100000">
                <a:schemeClr val="bg2">
                  <a:lumMod val="80000"/>
                </a:schemeClr>
              </a:gs>
            </a:gsLst>
            <a:lin ang="5400000" scaled="0"/>
          </a:gradFill>
          <a:ln w="9525">
            <a:solidFill>
              <a:schemeClr val="accent5"/>
            </a:solidFill>
            <a:prstDash val="solid"/>
          </a:ln>
        </p:spPr>
      </p:sp>
      <p:sp>
        <p:nvSpPr>
          <p:cNvPr id="28" name="src_k"/>
          <p:cNvSpPr txBox="1"/>
          <p:nvPr/>
        </p:nvSpPr>
        <p:spPr>
          <a:xfrm>
            <a:off x="1097280" y="2990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3"/>
                </a:solidFill>
              </a:rPr>
              <a:t>WHAT THE AUTHOR WROTE</a:t>
            </a:r>
            <a:endParaRPr lang="en-US" sz="950" dirty="0"/>
          </a:p>
        </p:txBody>
      </p:sp>
      <p:sp>
        <p:nvSpPr>
          <p:cNvPr id="29" name="src_rule"/>
          <p:cNvSpPr/>
          <p:nvPr/>
        </p:nvSpPr>
        <p:spPr>
          <a:xfrm>
            <a:off x="822960" y="3319272"/>
            <a:ext cx="493776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0" name="src_code"/>
          <p:cNvSpPr txBox="1"/>
          <p:nvPr/>
        </p:nvSpPr>
        <p:spPr>
          <a:xfrm>
            <a:off x="1097280" y="3483864"/>
            <a:ext cx="452628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 120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</a:t>
            </a: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AI202</a:t>
            </a: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climb</a:t>
            </a: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cruise - 2000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</a:t>
            </a: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</a:t>
            </a: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AI202</a:t>
            </a: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heading</a:t>
            </a: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endParaRPr lang="en-US" sz="1300" dirty="0"/>
          </a:p>
        </p:txBody>
      </p:sp>
      <p:sp>
        <p:nvSpPr>
          <p:cNvPr id="31" name="arr"/>
          <p:cNvSpPr/>
          <p:nvPr/>
        </p:nvSpPr>
        <p:spPr>
          <a:xfrm>
            <a:off x="5870448" y="3794760"/>
            <a:ext cx="45720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2" name="card_scn"/>
          <p:cNvSpPr/>
          <p:nvPr/>
        </p:nvSpPr>
        <p:spPr>
          <a:xfrm>
            <a:off x="6428232" y="2788920"/>
            <a:ext cx="4937760" cy="2011680"/>
          </a:xfrm>
          <a:prstGeom prst="roundRect">
            <a:avLst>
              <a:gd name="adj" fmla="val 7273"/>
            </a:avLst>
          </a:prstGeom>
          <a:gradFill rotWithShape="1">
            <a:gsLst>
              <a:gs pos="0">
                <a:schemeClr val="bg2">
                  <a:lumMod val="125000"/>
                </a:schemeClr>
              </a:gs>
              <a:gs pos="100000">
                <a:schemeClr val="bg2">
                  <a:lumMod val="80000"/>
                </a:schemeClr>
              </a:gs>
            </a:gsLst>
            <a:lin ang="5400000" scaled="0"/>
          </a:gradFill>
          <a:ln w="12700">
            <a:solidFill>
              <a:schemeClr val="accent4"/>
            </a:solidFill>
            <a:prstDash val="solid"/>
          </a:ln>
        </p:spPr>
      </p:sp>
      <p:sp>
        <p:nvSpPr>
          <p:cNvPr id="33" name="scn_k"/>
          <p:cNvSpPr txBox="1"/>
          <p:nvPr/>
        </p:nvSpPr>
        <p:spPr>
          <a:xfrm>
            <a:off x="6702552" y="2990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1"/>
                </a:solidFill>
              </a:rPr>
              <a:t>WHAT BLUESKY GETS  (.SCN)</a:t>
            </a:r>
            <a:endParaRPr lang="en-US" sz="950" dirty="0"/>
          </a:p>
        </p:txBody>
      </p:sp>
      <p:sp>
        <p:nvSpPr>
          <p:cNvPr id="34" name="scn_rule"/>
          <p:cNvSpPr/>
          <p:nvPr/>
        </p:nvSpPr>
        <p:spPr>
          <a:xfrm>
            <a:off x="6428232" y="3319272"/>
            <a:ext cx="493776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5" name="scn_code"/>
          <p:cNvSpPr txBox="1"/>
          <p:nvPr/>
        </p:nvSpPr>
        <p:spPr>
          <a:xfrm>
            <a:off x="6702552" y="3483864"/>
            <a:ext cx="4526280" cy="56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00:02:00.00</a:t>
            </a: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&gt;ALT AI202,</a:t>
            </a: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FL300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00:03:20.00</a:t>
            </a: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&gt;HDG AI202,120</a:t>
            </a:r>
            <a:endParaRPr lang="en-US" sz="1300" dirty="0"/>
          </a:p>
        </p:txBody>
      </p:sp>
      <p:sp>
        <p:nvSpPr>
          <p:cNvPr id="36" name="foot"/>
          <p:cNvSpPr txBox="1"/>
          <p:nvPr/>
        </p:nvSpPr>
        <p:spPr>
          <a:xfrm>
            <a:off x="822960" y="512064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The author wrote “cruise minus 2000, two minutes in”. </a:t>
            </a:r>
            <a:r>
              <a:rPr lang="en-US" sz="1600" b="1" dirty="0">
                <a:solidFill>
                  <a:schemeClr val="tx1"/>
                </a:solidFill>
              </a:rPr>
              <a:t>The compiler worked out FL300 and 00:02:00.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96112"/>
            <a:ext cx="1054577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1"/>
                </a:solidFill>
              </a:rPr>
              <a:t>Inside the code.</a:t>
            </a:r>
            <a:endParaRPr lang="en-US" sz="4400" dirty="0"/>
          </a:p>
        </p:txBody>
      </p:sp>
      <p:sp>
        <p:nvSpPr>
          <p:cNvPr id="3" name="sub"/>
          <p:cNvSpPr txBox="1"/>
          <p:nvPr/>
        </p:nvSpPr>
        <p:spPr>
          <a:xfrm>
            <a:off x="822960" y="1645920"/>
            <a:ext cx="105457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C11 with no libraries: one shared header, a small driver, and plain structs.</a:t>
            </a:r>
            <a:endParaRPr lang="en-US" sz="1700" dirty="0"/>
          </a:p>
        </p:txBody>
      </p:sp>
      <p:sp>
        <p:nvSpPr>
          <p:cNvPr id="4" name="m0_r"/>
          <p:cNvSpPr/>
          <p:nvPr/>
        </p:nvSpPr>
        <p:spPr>
          <a:xfrm>
            <a:off x="822960" y="2212848"/>
            <a:ext cx="48920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5" name="m0_f"/>
          <p:cNvSpPr txBox="1"/>
          <p:nvPr/>
        </p:nvSpPr>
        <p:spPr>
          <a:xfrm>
            <a:off x="822960" y="2322576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aerodsl.h</a:t>
            </a:r>
            <a:endParaRPr lang="en-US" sz="1150" dirty="0"/>
          </a:p>
        </p:txBody>
      </p:sp>
      <p:sp>
        <p:nvSpPr>
          <p:cNvPr id="6" name="m0_d"/>
          <p:cNvSpPr txBox="1"/>
          <p:nvPr/>
        </p:nvSpPr>
        <p:spPr>
          <a:xfrm>
            <a:off x="2606040" y="23134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Every shared type and every phase’s entry point. The only header.</a:t>
            </a:r>
            <a:endParaRPr lang="en-US" sz="1200" dirty="0"/>
          </a:p>
        </p:txBody>
      </p:sp>
      <p:sp>
        <p:nvSpPr>
          <p:cNvPr id="7" name="m1_r"/>
          <p:cNvSpPr/>
          <p:nvPr/>
        </p:nvSpPr>
        <p:spPr>
          <a:xfrm>
            <a:off x="822960" y="2816352"/>
            <a:ext cx="48920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8" name="m1_f"/>
          <p:cNvSpPr txBox="1"/>
          <p:nvPr/>
        </p:nvSpPr>
        <p:spPr>
          <a:xfrm>
            <a:off x="822960" y="292608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compile.c</a:t>
            </a:r>
            <a:endParaRPr lang="en-US" sz="1150" dirty="0"/>
          </a:p>
        </p:txBody>
      </p:sp>
      <p:sp>
        <p:nvSpPr>
          <p:cNvPr id="9" name="m1_d"/>
          <p:cNvSpPr txBox="1"/>
          <p:nvPr/>
        </p:nvSpPr>
        <p:spPr>
          <a:xfrm>
            <a:off x="2606040" y="291693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The driver: runs the stages in order and stops at the first error.</a:t>
            </a:r>
            <a:endParaRPr lang="en-US" sz="1200" dirty="0"/>
          </a:p>
        </p:txBody>
      </p:sp>
      <p:sp>
        <p:nvSpPr>
          <p:cNvPr id="10" name="m2_r"/>
          <p:cNvSpPr/>
          <p:nvPr/>
        </p:nvSpPr>
        <p:spPr>
          <a:xfrm>
            <a:off x="822960" y="3419856"/>
            <a:ext cx="48920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1" name="m2_f"/>
          <p:cNvSpPr txBox="1"/>
          <p:nvPr/>
        </p:nvSpPr>
        <p:spPr>
          <a:xfrm>
            <a:off x="822960" y="3529584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diag.c</a:t>
            </a:r>
            <a:endParaRPr lang="en-US" sz="1150" dirty="0"/>
          </a:p>
        </p:txBody>
      </p:sp>
      <p:sp>
        <p:nvSpPr>
          <p:cNvPr id="12" name="m2_d"/>
          <p:cNvSpPr txBox="1"/>
          <p:nvPr/>
        </p:nvSpPr>
        <p:spPr>
          <a:xfrm>
            <a:off x="2606040" y="3520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One list of messages: phase, severity, line and column.</a:t>
            </a:r>
            <a:endParaRPr lang="en-US" sz="1200" dirty="0"/>
          </a:p>
        </p:txBody>
      </p:sp>
      <p:sp>
        <p:nvSpPr>
          <p:cNvPr id="13" name="m3_r"/>
          <p:cNvSpPr/>
          <p:nvPr/>
        </p:nvSpPr>
        <p:spPr>
          <a:xfrm>
            <a:off x="822960" y="4023360"/>
            <a:ext cx="48920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4" name="m3_f"/>
          <p:cNvSpPr txBox="1"/>
          <p:nvPr/>
        </p:nvSpPr>
        <p:spPr>
          <a:xfrm>
            <a:off x="822960" y="41330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util.c</a:t>
            </a:r>
            <a:endParaRPr lang="en-US" sz="1150" dirty="0"/>
          </a:p>
        </p:txBody>
      </p:sp>
      <p:sp>
        <p:nvSpPr>
          <p:cNvPr id="15" name="m3_d"/>
          <p:cNvSpPr txBox="1"/>
          <p:nvPr/>
        </p:nvSpPr>
        <p:spPr>
          <a:xfrm>
            <a:off x="2606040" y="41239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Str (a view into the source, never copied), IntList, BitSet.</a:t>
            </a:r>
            <a:endParaRPr lang="en-US" sz="1200" dirty="0"/>
          </a:p>
        </p:txBody>
      </p:sp>
      <p:sp>
        <p:nvSpPr>
          <p:cNvPr id="16" name="m4_r"/>
          <p:cNvSpPr/>
          <p:nvPr/>
        </p:nvSpPr>
        <p:spPr>
          <a:xfrm>
            <a:off x="822960" y="4626864"/>
            <a:ext cx="48920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7" name="m4_f"/>
          <p:cNvSpPr txBox="1"/>
          <p:nvPr/>
        </p:nvSpPr>
        <p:spPr>
          <a:xfrm>
            <a:off x="822960" y="473659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 server.c json.c</a:t>
            </a:r>
            <a:endParaRPr lang="en-US" sz="1150" dirty="0"/>
          </a:p>
        </p:txBody>
      </p:sp>
      <p:sp>
        <p:nvSpPr>
          <p:cNvPr id="18" name="m4_d"/>
          <p:cNvSpPr txBox="1"/>
          <p:nvPr/>
        </p:nvSpPr>
        <p:spPr>
          <a:xfrm>
            <a:off x="2606040" y="47274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The command line, and the server and JSON for the demo page.</a:t>
            </a:r>
            <a:endParaRPr lang="en-US" sz="1200" dirty="0"/>
          </a:p>
        </p:txBody>
      </p:sp>
      <p:sp>
        <p:nvSpPr>
          <p:cNvPr id="19" name="m5_r"/>
          <p:cNvSpPr/>
          <p:nvPr/>
        </p:nvSpPr>
        <p:spPr>
          <a:xfrm>
            <a:off x="822960" y="5230368"/>
            <a:ext cx="48920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0" name="m5_f"/>
          <p:cNvSpPr txBox="1"/>
          <p:nvPr/>
        </p:nvSpPr>
        <p:spPr>
          <a:xfrm>
            <a:off x="822960" y="5340096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tests/test_all.c</a:t>
            </a:r>
            <a:endParaRPr lang="en-US" sz="1150" dirty="0"/>
          </a:p>
        </p:txBody>
      </p:sp>
      <p:sp>
        <p:nvSpPr>
          <p:cNvPr id="21" name="m5_d"/>
          <p:cNvSpPr txBox="1"/>
          <p:nvPr/>
        </p:nvSpPr>
        <p:spPr>
          <a:xfrm>
            <a:off x="2606040" y="53309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336 checks across every phase, run by make test.</a:t>
            </a:r>
            <a:endParaRPr lang="en-US" sz="1200" dirty="0"/>
          </a:p>
        </p:txBody>
      </p:sp>
      <p:sp>
        <p:nvSpPr>
          <p:cNvPr id="22" name="card_tok"/>
          <p:cNvSpPr/>
          <p:nvPr/>
        </p:nvSpPr>
        <p:spPr>
          <a:xfrm>
            <a:off x="6172200" y="2212848"/>
            <a:ext cx="5196535" cy="1783080"/>
          </a:xfrm>
          <a:prstGeom prst="roundRect">
            <a:avLst>
              <a:gd name="adj" fmla="val 8205"/>
            </a:avLst>
          </a:prstGeom>
          <a:gradFill rotWithShape="1">
            <a:gsLst>
              <a:gs pos="0">
                <a:schemeClr val="bg2">
                  <a:lumMod val="125000"/>
                </a:schemeClr>
              </a:gs>
              <a:gs pos="100000">
                <a:schemeClr val="bg2">
                  <a:lumMod val="80000"/>
                </a:schemeClr>
              </a:gs>
            </a:gsLst>
            <a:lin ang="5400000" scaled="0"/>
          </a:gradFill>
          <a:ln w="9525">
            <a:solidFill>
              <a:schemeClr val="accent5"/>
            </a:solidFill>
            <a:prstDash val="solid"/>
          </a:ln>
        </p:spPr>
      </p:sp>
      <p:sp>
        <p:nvSpPr>
          <p:cNvPr id="23" name="tok_k"/>
          <p:cNvSpPr txBox="1"/>
          <p:nvPr/>
        </p:nvSpPr>
        <p:spPr>
          <a:xfrm>
            <a:off x="6446520" y="2414016"/>
            <a:ext cx="46478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3"/>
                </a:solidFill>
              </a:rPr>
              <a:t>ONE TOKEN  ·  AERODSL.H, COMMENTS SHORTENED</a:t>
            </a:r>
            <a:endParaRPr lang="en-US" sz="950" dirty="0"/>
          </a:p>
        </p:txBody>
      </p:sp>
      <p:sp>
        <p:nvSpPr>
          <p:cNvPr id="24" name="tok_rule"/>
          <p:cNvSpPr/>
          <p:nvPr/>
        </p:nvSpPr>
        <p:spPr>
          <a:xfrm>
            <a:off x="6172200" y="2743200"/>
            <a:ext cx="519653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5" name="tok_code"/>
          <p:cNvSpPr txBox="1"/>
          <p:nvPr/>
        </p:nvSpPr>
        <p:spPr>
          <a:xfrm>
            <a:off x="6446520" y="2907792"/>
            <a:ext cx="4785055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TokenType type;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       text;</a:t>
            </a: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the lexeme: a view into the source */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   num;    </a:t>
            </a: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value of NUMBER, FLEVEL, SPEED */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     line, col;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Token;</a:t>
            </a:r>
            <a:endParaRPr lang="en-US" sz="1000" dirty="0"/>
          </a:p>
        </p:txBody>
      </p:sp>
      <p:sp>
        <p:nvSpPr>
          <p:cNvPr id="26" name="card_irq"/>
          <p:cNvSpPr/>
          <p:nvPr/>
        </p:nvSpPr>
        <p:spPr>
          <a:xfrm>
            <a:off x="6172200" y="4114800"/>
            <a:ext cx="5196535" cy="2084832"/>
          </a:xfrm>
          <a:prstGeom prst="roundRect">
            <a:avLst>
              <a:gd name="adj" fmla="val 7018"/>
            </a:avLst>
          </a:prstGeom>
          <a:gradFill rotWithShape="1">
            <a:gsLst>
              <a:gs pos="0">
                <a:schemeClr val="bg2">
                  <a:lumMod val="125000"/>
                </a:schemeClr>
              </a:gs>
              <a:gs pos="100000">
                <a:schemeClr val="bg2">
                  <a:lumMod val="80000"/>
                </a:schemeClr>
              </a:gs>
            </a:gsLst>
            <a:lin ang="5400000" scaled="0"/>
          </a:gra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irq_k"/>
          <p:cNvSpPr txBox="1"/>
          <p:nvPr/>
        </p:nvSpPr>
        <p:spPr>
          <a:xfrm>
            <a:off x="6446520" y="4315968"/>
            <a:ext cx="46478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1"/>
                </a:solidFill>
              </a:rPr>
              <a:t>ONE QUADRUPLE  ·  AERODSL.H, COMMENTS SHORTENED</a:t>
            </a:r>
            <a:endParaRPr lang="en-US" sz="950" dirty="0"/>
          </a:p>
        </p:txBody>
      </p:sp>
      <p:sp>
        <p:nvSpPr>
          <p:cNvPr id="28" name="irq_rule"/>
          <p:cNvSpPr/>
          <p:nvPr/>
        </p:nvSpPr>
        <p:spPr>
          <a:xfrm>
            <a:off x="6172200" y="4645152"/>
            <a:ext cx="519653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9" name="irq_code"/>
          <p:cNvSpPr txBox="1"/>
          <p:nvPr/>
        </p:nvSpPr>
        <p:spPr>
          <a:xfrm>
            <a:off x="6446520" y="4809744"/>
            <a:ext cx="4785055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IrOp  op;          </a:t>
            </a: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 = a op b, goto, clear ... */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BinOp bop;         </a:t>
            </a: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which operator, for arithmetic */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 aux;         </a:t>
            </a: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field, built-in or clearance kind */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   dst, a, b;</a:t>
            </a: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result, arg1, arg2 */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 line, col;   </a:t>
            </a: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source position, for late errors */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Ir;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96112"/>
            <a:ext cx="1054577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1"/>
                </a:solidFill>
              </a:rPr>
              <a:t>Hand-written, and traceable.</a:t>
            </a:r>
            <a:endParaRPr lang="en-US" sz="4400" dirty="0"/>
          </a:p>
        </p:txBody>
      </p:sp>
      <p:sp>
        <p:nvSpPr>
          <p:cNvPr id="3" name="sub"/>
          <p:cNvSpPr txBox="1"/>
          <p:nvPr/>
        </p:nvSpPr>
        <p:spPr>
          <a:xfrm>
            <a:off x="822960" y="1645920"/>
            <a:ext cx="105457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No Lex and no Yacc: every phase is our own code, so every step can be traced.</a:t>
            </a:r>
            <a:endParaRPr lang="en-US" sz="1700" dirty="0"/>
          </a:p>
        </p:txBody>
      </p:sp>
      <p:sp>
        <p:nvSpPr>
          <p:cNvPr id="4" name="p0_r"/>
          <p:cNvSpPr/>
          <p:nvPr/>
        </p:nvSpPr>
        <p:spPr>
          <a:xfrm>
            <a:off x="822960" y="2212848"/>
            <a:ext cx="480060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5" name="p0_h"/>
          <p:cNvSpPr txBox="1"/>
          <p:nvPr/>
        </p:nvSpPr>
        <p:spPr>
          <a:xfrm>
            <a:off x="822960" y="232257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Lexer</a:t>
            </a: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src/lexer.c</a:t>
            </a:r>
            <a:endParaRPr lang="en-US" sz="1400" dirty="0"/>
          </a:p>
        </p:txBody>
      </p:sp>
      <p:sp>
        <p:nvSpPr>
          <p:cNvPr id="6" name="p0_d"/>
          <p:cNvSpPr txBox="1"/>
          <p:nvPr/>
        </p:nvSpPr>
        <p:spPr>
          <a:xfrm>
            <a:off x="822960" y="2633472"/>
            <a:ext cx="4800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Reads a whole word, then classifies it: keyword, FLEVEL, SPEED, NUMBER, IDENT, CALLSIGN, in that order. FL320 becomes 32000 ft here.</a:t>
            </a:r>
            <a:endParaRPr lang="en-US" sz="1200" dirty="0"/>
          </a:p>
        </p:txBody>
      </p:sp>
      <p:sp>
        <p:nvSpPr>
          <p:cNvPr id="7" name="p1_r"/>
          <p:cNvSpPr/>
          <p:nvPr/>
        </p:nvSpPr>
        <p:spPr>
          <a:xfrm>
            <a:off x="822960" y="3328416"/>
            <a:ext cx="480060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8" name="p1_h"/>
          <p:cNvSpPr txBox="1"/>
          <p:nvPr/>
        </p:nvSpPr>
        <p:spPr>
          <a:xfrm>
            <a:off x="822960" y="343814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Parser</a:t>
            </a: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src/parser.c</a:t>
            </a:r>
            <a:endParaRPr lang="en-US" sz="1400" dirty="0"/>
          </a:p>
        </p:txBody>
      </p:sp>
      <p:sp>
        <p:nvSpPr>
          <p:cNvPr id="9" name="p1_d"/>
          <p:cNvSpPr txBox="1"/>
          <p:nvPr/>
        </p:nvSpPr>
        <p:spPr>
          <a:xfrm>
            <a:off x="822960" y="3749040"/>
            <a:ext cx="4800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Recursive descent, LL(1), one function per rule. It enters each declaration in the symbol table and resolves every name as it parses.</a:t>
            </a:r>
            <a:endParaRPr lang="en-US" sz="1200" dirty="0"/>
          </a:p>
        </p:txBody>
      </p:sp>
      <p:sp>
        <p:nvSpPr>
          <p:cNvPr id="10" name="p2_r"/>
          <p:cNvSpPr/>
          <p:nvPr/>
        </p:nvSpPr>
        <p:spPr>
          <a:xfrm>
            <a:off x="822960" y="4443984"/>
            <a:ext cx="480060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1" name="p2_h"/>
          <p:cNvSpPr txBox="1"/>
          <p:nvPr/>
        </p:nvSpPr>
        <p:spPr>
          <a:xfrm>
            <a:off x="822960" y="455371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Semantic analysis</a:t>
            </a: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src/sema.c</a:t>
            </a:r>
            <a:endParaRPr lang="en-US" sz="1400" dirty="0"/>
          </a:p>
        </p:txBody>
      </p:sp>
      <p:sp>
        <p:nvSpPr>
          <p:cNvPr id="12" name="p2_d"/>
          <p:cNvSpPr txBox="1"/>
          <p:nvPr/>
        </p:nvSpPr>
        <p:spPr>
          <a:xfrm>
            <a:off x="822960" y="4864608"/>
            <a:ext cx="4800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One walk over the tree. Each expression’s type is a synthesised attribute; a failed one becomes error, so one mistake gives one message.</a:t>
            </a:r>
            <a:endParaRPr lang="en-US" sz="1200" dirty="0"/>
          </a:p>
        </p:txBody>
      </p:sp>
      <p:sp>
        <p:nvSpPr>
          <p:cNvPr id="13" name="st_k"/>
          <p:cNvSpPr txBox="1"/>
          <p:nvPr/>
        </p:nvSpPr>
        <p:spPr>
          <a:xfrm>
            <a:off x="6035040" y="2212848"/>
            <a:ext cx="5333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3"/>
                </a:solidFill>
              </a:rPr>
              <a:t>THE SYMBOL TABLE’S STACK, WHILE PARSING A PROCEDURE</a:t>
            </a:r>
            <a:endParaRPr lang="en-US" sz="950" dirty="0"/>
          </a:p>
        </p:txBody>
      </p:sp>
      <p:sp>
        <p:nvSpPr>
          <p:cNvPr id="14" name="sh0"/>
          <p:cNvSpPr txBox="1"/>
          <p:nvPr/>
        </p:nvSpPr>
        <p:spPr>
          <a:xfrm>
            <a:off x="6035040" y="248716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#</a:t>
            </a:r>
            <a:endParaRPr lang="en-US" sz="950" dirty="0"/>
          </a:p>
        </p:txBody>
      </p:sp>
      <p:sp>
        <p:nvSpPr>
          <p:cNvPr id="15" name="sh1"/>
          <p:cNvSpPr txBox="1"/>
          <p:nvPr/>
        </p:nvSpPr>
        <p:spPr>
          <a:xfrm>
            <a:off x="6446520" y="24871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name</a:t>
            </a:r>
            <a:endParaRPr lang="en-US" sz="950" dirty="0"/>
          </a:p>
        </p:txBody>
      </p:sp>
      <p:sp>
        <p:nvSpPr>
          <p:cNvPr id="16" name="sh2"/>
          <p:cNvSpPr txBox="1"/>
          <p:nvPr/>
        </p:nvSpPr>
        <p:spPr>
          <a:xfrm>
            <a:off x="7818120" y="24871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kind</a:t>
            </a:r>
            <a:endParaRPr lang="en-US" sz="950" dirty="0"/>
          </a:p>
        </p:txBody>
      </p:sp>
      <p:sp>
        <p:nvSpPr>
          <p:cNvPr id="17" name="sh3"/>
          <p:cNvSpPr txBox="1"/>
          <p:nvPr/>
        </p:nvSpPr>
        <p:spPr>
          <a:xfrm>
            <a:off x="8961120" y="2487168"/>
            <a:ext cx="24076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seen from inside arrival</a:t>
            </a:r>
            <a:endParaRPr lang="en-US" sz="950" dirty="0"/>
          </a:p>
        </p:txBody>
      </p:sp>
      <p:sp>
        <p:nvSpPr>
          <p:cNvPr id="18" name="s5_r"/>
          <p:cNvSpPr/>
          <p:nvPr/>
        </p:nvSpPr>
        <p:spPr>
          <a:xfrm>
            <a:off x="6035040" y="2743200"/>
            <a:ext cx="533369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9" name="s5_i"/>
          <p:cNvSpPr txBox="1"/>
          <p:nvPr/>
        </p:nvSpPr>
        <p:spPr>
          <a:xfrm>
            <a:off x="6035040" y="280720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s5_n"/>
          <p:cNvSpPr txBox="1"/>
          <p:nvPr/>
        </p:nvSpPr>
        <p:spPr>
          <a:xfrm>
            <a:off x="6446520" y="279806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from_level</a:t>
            </a:r>
            <a:endParaRPr lang="en-US" sz="1150" dirty="0"/>
          </a:p>
        </p:txBody>
      </p:sp>
      <p:sp>
        <p:nvSpPr>
          <p:cNvPr id="21" name="s5_k"/>
          <p:cNvSpPr txBox="1"/>
          <p:nvPr/>
        </p:nvSpPr>
        <p:spPr>
          <a:xfrm>
            <a:off x="7818120" y="28072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parameter</a:t>
            </a:r>
            <a:endParaRPr lang="en-US" sz="1100" dirty="0"/>
          </a:p>
        </p:txBody>
      </p:sp>
      <p:sp>
        <p:nvSpPr>
          <p:cNvPr id="22" name="s5_v"/>
          <p:cNvSpPr txBox="1"/>
          <p:nvPr/>
        </p:nvSpPr>
        <p:spPr>
          <a:xfrm>
            <a:off x="8961120" y="2807208"/>
            <a:ext cx="24076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visible: its own scope</a:t>
            </a:r>
            <a:endParaRPr lang="en-US" sz="1100" dirty="0"/>
          </a:p>
        </p:txBody>
      </p:sp>
      <p:sp>
        <p:nvSpPr>
          <p:cNvPr id="23" name="s4_r"/>
          <p:cNvSpPr/>
          <p:nvPr/>
        </p:nvSpPr>
        <p:spPr>
          <a:xfrm>
            <a:off x="6035040" y="3044952"/>
            <a:ext cx="533369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4" name="s4_i"/>
          <p:cNvSpPr txBox="1"/>
          <p:nvPr/>
        </p:nvSpPr>
        <p:spPr>
          <a:xfrm>
            <a:off x="6035040" y="310896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s4_n"/>
          <p:cNvSpPr txBox="1"/>
          <p:nvPr/>
        </p:nvSpPr>
        <p:spPr>
          <a:xfrm>
            <a:off x="6446520" y="309981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150" dirty="0"/>
          </a:p>
        </p:txBody>
      </p:sp>
      <p:sp>
        <p:nvSpPr>
          <p:cNvPr id="26" name="s4_k"/>
          <p:cNvSpPr txBox="1"/>
          <p:nvPr/>
        </p:nvSpPr>
        <p:spPr>
          <a:xfrm>
            <a:off x="7818120" y="31089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parameter</a:t>
            </a:r>
            <a:endParaRPr lang="en-US" sz="1100" dirty="0"/>
          </a:p>
        </p:txBody>
      </p:sp>
      <p:sp>
        <p:nvSpPr>
          <p:cNvPr id="27" name="s4_v"/>
          <p:cNvSpPr txBox="1"/>
          <p:nvPr/>
        </p:nvSpPr>
        <p:spPr>
          <a:xfrm>
            <a:off x="8961120" y="3108960"/>
            <a:ext cx="24076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visible: its own scope</a:t>
            </a:r>
            <a:endParaRPr lang="en-US" sz="1100" dirty="0"/>
          </a:p>
        </p:txBody>
      </p:sp>
      <p:sp>
        <p:nvSpPr>
          <p:cNvPr id="28" name="s3_r"/>
          <p:cNvSpPr/>
          <p:nvPr/>
        </p:nvSpPr>
        <p:spPr>
          <a:xfrm>
            <a:off x="6035040" y="3621024"/>
            <a:ext cx="533369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9" name="s3_i"/>
          <p:cNvSpPr txBox="1"/>
          <p:nvPr/>
        </p:nvSpPr>
        <p:spPr>
          <a:xfrm>
            <a:off x="6035040" y="368503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s3_n"/>
          <p:cNvSpPr txBox="1"/>
          <p:nvPr/>
        </p:nvSpPr>
        <p:spPr>
          <a:xfrm>
            <a:off x="6446520" y="367588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arrival</a:t>
            </a:r>
            <a:endParaRPr lang="en-US" sz="1150" dirty="0"/>
          </a:p>
        </p:txBody>
      </p:sp>
      <p:sp>
        <p:nvSpPr>
          <p:cNvPr id="31" name="s3_k"/>
          <p:cNvSpPr txBox="1"/>
          <p:nvPr/>
        </p:nvSpPr>
        <p:spPr>
          <a:xfrm>
            <a:off x="7818120" y="36850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procedure</a:t>
            </a:r>
            <a:endParaRPr lang="en-US" sz="1100" dirty="0"/>
          </a:p>
        </p:txBody>
      </p:sp>
      <p:sp>
        <p:nvSpPr>
          <p:cNvPr id="32" name="s3_v"/>
          <p:cNvSpPr txBox="1"/>
          <p:nvPr/>
        </p:nvSpPr>
        <p:spPr>
          <a:xfrm>
            <a:off x="8961120" y="3685032"/>
            <a:ext cx="24076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visible: global kind</a:t>
            </a:r>
            <a:endParaRPr lang="en-US" sz="1100" dirty="0"/>
          </a:p>
        </p:txBody>
      </p:sp>
      <p:sp>
        <p:nvSpPr>
          <p:cNvPr id="33" name="s2_r"/>
          <p:cNvSpPr/>
          <p:nvPr/>
        </p:nvSpPr>
        <p:spPr>
          <a:xfrm>
            <a:off x="6035040" y="3922776"/>
            <a:ext cx="533369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4" name="s2_i"/>
          <p:cNvSpPr txBox="1"/>
          <p:nvPr/>
        </p:nvSpPr>
        <p:spPr>
          <a:xfrm>
            <a:off x="6035040" y="39867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s2_n"/>
          <p:cNvSpPr txBox="1"/>
          <p:nvPr/>
        </p:nvSpPr>
        <p:spPr>
          <a:xfrm>
            <a:off x="6446520" y="39776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trike="sngStrike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cruise</a:t>
            </a:r>
            <a:endParaRPr lang="en-US" sz="1150" dirty="0"/>
          </a:p>
        </p:txBody>
      </p:sp>
      <p:sp>
        <p:nvSpPr>
          <p:cNvPr id="36" name="s2_k"/>
          <p:cNvSpPr txBox="1"/>
          <p:nvPr/>
        </p:nvSpPr>
        <p:spPr>
          <a:xfrm>
            <a:off x="7818120" y="398678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variable</a:t>
            </a:r>
            <a:endParaRPr lang="en-US" sz="1100" dirty="0"/>
          </a:p>
        </p:txBody>
      </p:sp>
      <p:sp>
        <p:nvSpPr>
          <p:cNvPr id="37" name="s2_v"/>
          <p:cNvSpPr txBox="1"/>
          <p:nvPr/>
        </p:nvSpPr>
        <p:spPr>
          <a:xfrm>
            <a:off x="8961120" y="3986784"/>
            <a:ext cx="24076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hidden: main’s variable</a:t>
            </a:r>
            <a:endParaRPr lang="en-US" sz="1100" dirty="0"/>
          </a:p>
        </p:txBody>
      </p:sp>
      <p:sp>
        <p:nvSpPr>
          <p:cNvPr id="38" name="s1_r"/>
          <p:cNvSpPr/>
          <p:nvPr/>
        </p:nvSpPr>
        <p:spPr>
          <a:xfrm>
            <a:off x="6035040" y="4224528"/>
            <a:ext cx="533369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9" name="s1_i"/>
          <p:cNvSpPr txBox="1"/>
          <p:nvPr/>
        </p:nvSpPr>
        <p:spPr>
          <a:xfrm>
            <a:off x="6035040" y="428853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40" name="s1_n"/>
          <p:cNvSpPr txBox="1"/>
          <p:nvPr/>
        </p:nvSpPr>
        <p:spPr>
          <a:xfrm>
            <a:off x="6446520" y="427939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AI202</a:t>
            </a:r>
            <a:endParaRPr lang="en-US" sz="1150" dirty="0"/>
          </a:p>
        </p:txBody>
      </p:sp>
      <p:sp>
        <p:nvSpPr>
          <p:cNvPr id="41" name="s1_k"/>
          <p:cNvSpPr txBox="1"/>
          <p:nvPr/>
        </p:nvSpPr>
        <p:spPr>
          <a:xfrm>
            <a:off x="7818120" y="428853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aircraft</a:t>
            </a:r>
            <a:endParaRPr lang="en-US" sz="1100" dirty="0"/>
          </a:p>
        </p:txBody>
      </p:sp>
      <p:sp>
        <p:nvSpPr>
          <p:cNvPr id="42" name="s1_v"/>
          <p:cNvSpPr txBox="1"/>
          <p:nvPr/>
        </p:nvSpPr>
        <p:spPr>
          <a:xfrm>
            <a:off x="8961120" y="4288536"/>
            <a:ext cx="24076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visible: global kind</a:t>
            </a:r>
            <a:endParaRPr lang="en-US" sz="1100" dirty="0"/>
          </a:p>
        </p:txBody>
      </p:sp>
      <p:sp>
        <p:nvSpPr>
          <p:cNvPr id="43" name="s0_r"/>
          <p:cNvSpPr/>
          <p:nvPr/>
        </p:nvSpPr>
        <p:spPr>
          <a:xfrm>
            <a:off x="6035040" y="4526280"/>
            <a:ext cx="533369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4" name="s0_i"/>
          <p:cNvSpPr txBox="1"/>
          <p:nvPr/>
        </p:nvSpPr>
        <p:spPr>
          <a:xfrm>
            <a:off x="6035040" y="459028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45" name="s0_n"/>
          <p:cNvSpPr txBox="1"/>
          <p:nvPr/>
        </p:nvSpPr>
        <p:spPr>
          <a:xfrm>
            <a:off x="6446520" y="458114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VOMAN</a:t>
            </a:r>
            <a:endParaRPr lang="en-US" sz="1150" dirty="0"/>
          </a:p>
        </p:txBody>
      </p:sp>
      <p:sp>
        <p:nvSpPr>
          <p:cNvPr id="46" name="s0_k"/>
          <p:cNvSpPr txBox="1"/>
          <p:nvPr/>
        </p:nvSpPr>
        <p:spPr>
          <a:xfrm>
            <a:off x="7818120" y="45902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waypoint</a:t>
            </a:r>
            <a:endParaRPr lang="en-US" sz="1100" dirty="0"/>
          </a:p>
        </p:txBody>
      </p:sp>
      <p:sp>
        <p:nvSpPr>
          <p:cNvPr id="47" name="s0_v"/>
          <p:cNvSpPr txBox="1"/>
          <p:nvPr/>
        </p:nvSpPr>
        <p:spPr>
          <a:xfrm>
            <a:off x="8961120" y="4590288"/>
            <a:ext cx="24076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visible: global kind</a:t>
            </a:r>
            <a:endParaRPr lang="en-US" sz="1100" dirty="0"/>
          </a:p>
        </p:txBody>
      </p:sp>
      <p:sp>
        <p:nvSpPr>
          <p:cNvPr id="48" name="bar_l"/>
          <p:cNvSpPr/>
          <p:nvPr/>
        </p:nvSpPr>
        <p:spPr>
          <a:xfrm>
            <a:off x="6035040" y="3383280"/>
            <a:ext cx="5333695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dash"/>
          </a:ln>
        </p:spPr>
      </p:sp>
      <p:sp>
        <p:nvSpPr>
          <p:cNvPr id="49" name="bar_t"/>
          <p:cNvSpPr txBox="1"/>
          <p:nvPr/>
        </p:nvSpPr>
        <p:spPr>
          <a:xfrm>
            <a:off x="6446520" y="3419856"/>
            <a:ext cx="49222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</a:rPr>
              <a:t>barrier = 4: below it, only aircraft, waypoints and procedures resolve</a:t>
            </a:r>
            <a:endParaRPr lang="en-US" sz="900" dirty="0"/>
          </a:p>
        </p:txBody>
      </p:sp>
      <p:sp>
        <p:nvSpPr>
          <p:cNvPr id="50" name="err_k"/>
          <p:cNvSpPr txBox="1"/>
          <p:nvPr/>
        </p:nvSpPr>
        <p:spPr>
          <a:xfrm>
            <a:off x="6035040" y="4974336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examples/17_scope.aero: inside arrival, </a:t>
            </a: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 f climb cruise</a:t>
            </a:r>
            <a:r>
              <a:rPr lang="en-US" sz="1100" dirty="0">
                <a:solidFill>
                  <a:schemeClr val="tx2"/>
                </a:solidFill>
              </a:rPr>
              <a:t> gives</a:t>
            </a:r>
            <a:endParaRPr lang="en-US" sz="1100" dirty="0"/>
          </a:p>
        </p:txBody>
      </p:sp>
      <p:sp>
        <p:nvSpPr>
          <p:cNvPr id="51" name="err"/>
          <p:cNvSpPr txBox="1"/>
          <p:nvPr/>
        </p:nvSpPr>
        <p:spPr>
          <a:xfrm>
            <a:off x="6035040" y="5285232"/>
            <a:ext cx="5333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11:17: semantic error: 'cruise' is not declared; a procedure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 only use its own parameters and globally declared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aircraft, waypoints and procedures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96112"/>
            <a:ext cx="1054577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1"/>
                </a:solidFill>
              </a:rPr>
              <a:t>Flat code, then a map of it.</a:t>
            </a:r>
            <a:endParaRPr lang="en-US" sz="4400" dirty="0"/>
          </a:p>
        </p:txBody>
      </p:sp>
      <p:sp>
        <p:nvSpPr>
          <p:cNvPr id="3" name="card_ir"/>
          <p:cNvSpPr/>
          <p:nvPr/>
        </p:nvSpPr>
        <p:spPr>
          <a:xfrm>
            <a:off x="822960" y="1920240"/>
            <a:ext cx="5440680" cy="3520440"/>
          </a:xfrm>
          <a:prstGeom prst="roundRect">
            <a:avLst>
              <a:gd name="adj" fmla="val 4156"/>
            </a:avLst>
          </a:prstGeom>
          <a:gradFill rotWithShape="1">
            <a:gsLst>
              <a:gs pos="0">
                <a:schemeClr val="bg2">
                  <a:lumMod val="125000"/>
                </a:schemeClr>
              </a:gs>
              <a:gs pos="100000">
                <a:schemeClr val="bg2">
                  <a:lumMod val="80000"/>
                </a:schemeClr>
              </a:gs>
            </a:gsLst>
            <a:lin ang="5400000" scaled="0"/>
          </a:gra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ir_k"/>
          <p:cNvSpPr txBox="1"/>
          <p:nvPr/>
        </p:nvSpPr>
        <p:spPr>
          <a:xfrm>
            <a:off x="1097280" y="2121408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3"/>
                </a:solidFill>
              </a:rPr>
              <a:t>SHORT-CIRCUIT AND  ·  EXAMPLE 4  (--IR)</a:t>
            </a:r>
            <a:endParaRPr lang="en-US" sz="950" dirty="0"/>
          </a:p>
        </p:txBody>
      </p:sp>
      <p:sp>
        <p:nvSpPr>
          <p:cNvPr id="5" name="ir_rule"/>
          <p:cNvSpPr/>
          <p:nvPr/>
        </p:nvSpPr>
        <p:spPr>
          <a:xfrm>
            <a:off x="822960" y="2450592"/>
            <a:ext cx="544068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6" name="ir_code"/>
          <p:cNvSpPr txBox="1"/>
          <p:nvPr/>
        </p:nvSpPr>
        <p:spPr>
          <a:xfrm>
            <a:off x="1097280" y="2615184"/>
            <a:ext cx="5029200" cy="264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hsep(AI202, BA117) &lt; 15 and vsep(AI202, BA117) &lt; 2000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    t0 = hsep(AI202, BA117)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    t1 = t0 &lt; 15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    if t1 goto </a:t>
            </a:r>
            <a:r>
              <a:rPr lang="en-US" sz="10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L0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    goto </a:t>
            </a:r>
            <a:r>
              <a:rPr lang="en-US" sz="10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</a:t>
            </a:r>
            <a:r>
              <a:rPr lang="en-US" sz="10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L0: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    t2 = vsep(AI202, BA117)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    t3 = t2 &lt; 2000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    if t3 goto </a:t>
            </a:r>
            <a:r>
              <a:rPr lang="en-US" sz="10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     goto </a:t>
            </a:r>
            <a:r>
              <a:rPr lang="en-US" sz="10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 L1: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     print "too close: turning AI202 away"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 </a:t>
            </a:r>
            <a:r>
              <a:rPr lang="en-US" sz="10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L2:</a:t>
            </a:r>
            <a:endParaRPr lang="en-US" sz="1050" dirty="0"/>
          </a:p>
        </p:txBody>
      </p:sp>
      <p:sp>
        <p:nvSpPr>
          <p:cNvPr id="7" name="bp"/>
          <p:cNvSpPr txBox="1"/>
          <p:nvPr/>
        </p:nvSpPr>
        <p:spPr>
          <a:xfrm>
            <a:off x="822960" y="5559552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Backpatching: when a jump is emitted its target is not known yet. It goes on a true-list or false-list and is filled in once the target exists.</a:t>
            </a:r>
            <a:endParaRPr lang="en-US" sz="1200" dirty="0"/>
          </a:p>
        </p:txBody>
      </p:sp>
      <p:sp>
        <p:nvSpPr>
          <p:cNvPr id="8" name="g_k"/>
          <p:cNvSpPr txBox="1"/>
          <p:nvPr/>
        </p:nvSpPr>
        <p:spPr>
          <a:xfrm>
            <a:off x="6720840" y="196596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3"/>
                </a:solidFill>
              </a:rPr>
              <a:t>CONTROL-FLOW GRAPH OF EXAMPLE 5  (--CFG)</a:t>
            </a:r>
            <a:endParaRPr lang="en-US" sz="950" dirty="0"/>
          </a:p>
        </p:txBody>
      </p:sp>
      <p:sp>
        <p:nvSpPr>
          <p:cNvPr id="9" name="card_B0"/>
          <p:cNvSpPr/>
          <p:nvPr/>
        </p:nvSpPr>
        <p:spPr>
          <a:xfrm>
            <a:off x="6720840" y="2377440"/>
            <a:ext cx="2514600" cy="502920"/>
          </a:xfrm>
          <a:prstGeom prst="roundRect">
            <a:avLst>
              <a:gd name="adj" fmla="val 18182"/>
            </a:avLst>
          </a:prstGeom>
          <a:gradFill rotWithShape="1">
            <a:gsLst>
              <a:gs pos="0">
                <a:schemeClr val="bg2">
                  <a:lumMod val="125000"/>
                </a:schemeClr>
              </a:gs>
              <a:gs pos="100000">
                <a:schemeClr val="bg2">
                  <a:lumMod val="80000"/>
                </a:schemeClr>
              </a:gs>
            </a:gsLst>
            <a:lin ang="5400000" scaled="0"/>
          </a:gra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B0_t"/>
          <p:cNvSpPr txBox="1"/>
          <p:nvPr/>
        </p:nvSpPr>
        <p:spPr>
          <a:xfrm>
            <a:off x="6858000" y="2377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B0  </a:t>
            </a:r>
            <a:r>
              <a:rPr lang="en-US" sz="1150" dirty="0">
                <a:solidFill>
                  <a:schemeClr val="accent2"/>
                </a:solidFill>
              </a:rPr>
              <a:t>start: enter, climb</a:t>
            </a:r>
            <a:endParaRPr lang="en-US" sz="1150" dirty="0"/>
          </a:p>
        </p:txBody>
      </p:sp>
      <p:sp>
        <p:nvSpPr>
          <p:cNvPr id="11" name="card_B1"/>
          <p:cNvSpPr/>
          <p:nvPr/>
        </p:nvSpPr>
        <p:spPr>
          <a:xfrm>
            <a:off x="6720840" y="3200400"/>
            <a:ext cx="2514600" cy="502920"/>
          </a:xfrm>
          <a:prstGeom prst="roundRect">
            <a:avLst>
              <a:gd name="adj" fmla="val 18182"/>
            </a:avLst>
          </a:prstGeom>
          <a:gradFill rotWithShape="1">
            <a:gsLst>
              <a:gs pos="0">
                <a:schemeClr val="bg2">
                  <a:lumMod val="125000"/>
                </a:schemeClr>
              </a:gs>
              <a:gs pos="100000">
                <a:schemeClr val="bg2">
                  <a:lumMod val="80000"/>
                </a:schemeClr>
              </a:gs>
            </a:gsLst>
            <a:lin ang="5400000" scaled="0"/>
          </a:gradFill>
          <a:ln w="15875">
            <a:solidFill>
              <a:schemeClr val="accent1"/>
            </a:solidFill>
            <a:prstDash val="solid"/>
          </a:ln>
        </p:spPr>
      </p:sp>
      <p:sp>
        <p:nvSpPr>
          <p:cNvPr id="12" name="B1_t"/>
          <p:cNvSpPr txBox="1"/>
          <p:nvPr/>
        </p:nvSpPr>
        <p:spPr>
          <a:xfrm>
            <a:off x="6858000" y="3200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  </a:t>
            </a:r>
            <a:r>
              <a:rPr lang="en-US" sz="1150" dirty="0">
                <a:solidFill>
                  <a:schemeClr val="accent2"/>
                </a:solidFill>
              </a:rPr>
              <a:t>test: alt &lt; FL300</a:t>
            </a:r>
            <a:endParaRPr lang="en-US" sz="1150" dirty="0"/>
          </a:p>
        </p:txBody>
      </p:sp>
      <p:sp>
        <p:nvSpPr>
          <p:cNvPr id="13" name="card_B3"/>
          <p:cNvSpPr/>
          <p:nvPr/>
        </p:nvSpPr>
        <p:spPr>
          <a:xfrm>
            <a:off x="9738360" y="3200400"/>
            <a:ext cx="1627632" cy="502920"/>
          </a:xfrm>
          <a:prstGeom prst="roundRect">
            <a:avLst>
              <a:gd name="adj" fmla="val 18182"/>
            </a:avLst>
          </a:prstGeom>
          <a:gradFill rotWithShape="1">
            <a:gsLst>
              <a:gs pos="0">
                <a:schemeClr val="bg2">
                  <a:lumMod val="125000"/>
                </a:schemeClr>
              </a:gs>
              <a:gs pos="100000">
                <a:schemeClr val="bg2">
                  <a:lumMod val="80000"/>
                </a:schemeClr>
              </a:gs>
            </a:gsLst>
            <a:lin ang="5400000" scaled="0"/>
          </a:gra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B3_t"/>
          <p:cNvSpPr txBox="1"/>
          <p:nvPr/>
        </p:nvSpPr>
        <p:spPr>
          <a:xfrm>
            <a:off x="9875520" y="320040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B3  </a:t>
            </a:r>
            <a:r>
              <a:rPr lang="en-US" sz="1150" dirty="0">
                <a:solidFill>
                  <a:schemeClr val="accent2"/>
                </a:solidFill>
              </a:rPr>
              <a:t>advance 10</a:t>
            </a:r>
            <a:endParaRPr lang="en-US" sz="1150" dirty="0"/>
          </a:p>
        </p:txBody>
      </p:sp>
      <p:sp>
        <p:nvSpPr>
          <p:cNvPr id="15" name="card_B2"/>
          <p:cNvSpPr/>
          <p:nvPr/>
        </p:nvSpPr>
        <p:spPr>
          <a:xfrm>
            <a:off x="6720840" y="4023360"/>
            <a:ext cx="2514600" cy="502920"/>
          </a:xfrm>
          <a:prstGeom prst="roundRect">
            <a:avLst>
              <a:gd name="adj" fmla="val 18182"/>
            </a:avLst>
          </a:prstGeom>
          <a:gradFill rotWithShape="1">
            <a:gsLst>
              <a:gs pos="0">
                <a:schemeClr val="bg2">
                  <a:lumMod val="125000"/>
                </a:schemeClr>
              </a:gs>
              <a:gs pos="100000">
                <a:schemeClr val="bg2">
                  <a:lumMod val="80000"/>
                </a:schemeClr>
              </a:gs>
            </a:gsLst>
            <a:lin ang="5400000" scaled="0"/>
          </a:gra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B2_t"/>
          <p:cNvSpPr txBox="1"/>
          <p:nvPr/>
        </p:nvSpPr>
        <p:spPr>
          <a:xfrm>
            <a:off x="6858000" y="4023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  </a:t>
            </a:r>
            <a:r>
              <a:rPr lang="en-US" sz="1150" dirty="0">
                <a:solidFill>
                  <a:schemeClr val="accent2"/>
                </a:solidFill>
              </a:rPr>
              <a:t>leave the loop</a:t>
            </a:r>
            <a:endParaRPr lang="en-US" sz="1150" dirty="0"/>
          </a:p>
        </p:txBody>
      </p:sp>
      <p:sp>
        <p:nvSpPr>
          <p:cNvPr id="17" name="card_B4"/>
          <p:cNvSpPr/>
          <p:nvPr/>
        </p:nvSpPr>
        <p:spPr>
          <a:xfrm>
            <a:off x="6720840" y="4846320"/>
            <a:ext cx="2514600" cy="502920"/>
          </a:xfrm>
          <a:prstGeom prst="roundRect">
            <a:avLst>
              <a:gd name="adj" fmla="val 18182"/>
            </a:avLst>
          </a:prstGeom>
          <a:gradFill rotWithShape="1">
            <a:gsLst>
              <a:gs pos="0">
                <a:schemeClr val="bg2">
                  <a:lumMod val="125000"/>
                </a:schemeClr>
              </a:gs>
              <a:gs pos="100000">
                <a:schemeClr val="bg2">
                  <a:lumMod val="80000"/>
                </a:schemeClr>
              </a:gs>
            </a:gsLst>
            <a:lin ang="5400000" scaled="0"/>
          </a:gradFill>
          <a:ln w="9525">
            <a:solidFill>
              <a:schemeClr val="accent4"/>
            </a:solidFill>
            <a:prstDash val="solid"/>
          </a:ln>
        </p:spPr>
      </p:sp>
      <p:sp>
        <p:nvSpPr>
          <p:cNvPr id="18" name="B4_t"/>
          <p:cNvSpPr txBox="1"/>
          <p:nvPr/>
        </p:nvSpPr>
        <p:spPr>
          <a:xfrm>
            <a:off x="6858000" y="4846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B4  </a:t>
            </a:r>
            <a:r>
              <a:rPr lang="en-US" sz="1150" dirty="0">
                <a:solidFill>
                  <a:schemeClr val="accent2"/>
                </a:solidFill>
              </a:rPr>
              <a:t>print, turn, assert</a:t>
            </a:r>
            <a:endParaRPr lang="en-US" sz="1150" dirty="0"/>
          </a:p>
        </p:txBody>
      </p:sp>
      <p:sp>
        <p:nvSpPr>
          <p:cNvPr id="19" name="e01"/>
          <p:cNvSpPr/>
          <p:nvPr/>
        </p:nvSpPr>
        <p:spPr>
          <a:xfrm>
            <a:off x="7978140" y="2880360"/>
            <a:ext cx="0" cy="301752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0" name="e12"/>
          <p:cNvSpPr/>
          <p:nvPr/>
        </p:nvSpPr>
        <p:spPr>
          <a:xfrm>
            <a:off x="7978140" y="3703320"/>
            <a:ext cx="0" cy="301752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1" name="e24"/>
          <p:cNvSpPr/>
          <p:nvPr/>
        </p:nvSpPr>
        <p:spPr>
          <a:xfrm>
            <a:off x="7978140" y="4526280"/>
            <a:ext cx="0" cy="301752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2" name="e13"/>
          <p:cNvSpPr/>
          <p:nvPr/>
        </p:nvSpPr>
        <p:spPr>
          <a:xfrm>
            <a:off x="9235440" y="3364992"/>
            <a:ext cx="484632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3" name="back"/>
          <p:cNvSpPr/>
          <p:nvPr/>
        </p:nvSpPr>
        <p:spPr>
          <a:xfrm>
            <a:off x="8778240" y="3703320"/>
            <a:ext cx="1773936" cy="182880"/>
          </a:xfrm>
          <a:custGeom>
            <a:avLst/>
            <a:gdLst/>
            <a:ahLst/>
            <a:cxnLst/>
            <a:rect l="l" t="t" r="r" b="b"/>
            <a:pathLst>
              <a:path w="1773936" h="182880">
                <a:moveTo>
                  <a:pt x="1773936" y="0"/>
                </a:moveTo>
                <a:lnTo>
                  <a:pt x="1773936" y="182880"/>
                </a:lnTo>
                <a:lnTo>
                  <a:pt x="0" y="182880"/>
                </a:lnTo>
                <a:lnTo>
                  <a:pt x="0" y="18288"/>
                </a:lnTo>
              </a:path>
            </a:pathLst>
          </a:custGeom>
          <a:ln w="158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back_t"/>
          <p:cNvSpPr txBox="1"/>
          <p:nvPr/>
        </p:nvSpPr>
        <p:spPr>
          <a:xfrm>
            <a:off x="9372600" y="39319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back edge: the loop</a:t>
            </a:r>
            <a:endParaRPr lang="en-US" sz="1050" dirty="0"/>
          </a:p>
        </p:txBody>
      </p:sp>
      <p:sp>
        <p:nvSpPr>
          <p:cNvPr id="25" name="ssa"/>
          <p:cNvSpPr txBox="1"/>
          <p:nvPr/>
        </p:nvSpPr>
        <p:spPr>
          <a:xfrm>
            <a:off x="6720840" y="5559552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Also computed: dominators, natural loops and liveness. SSA form is built and printed too, but the optimiser does not use it yet.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8" grpId="0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96112"/>
            <a:ext cx="1054577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1"/>
                </a:solidFill>
              </a:rPr>
              <a:t>Seven passes, run until nothing changes.</a:t>
            </a:r>
            <a:endParaRPr lang="en-US" sz="4400" dirty="0"/>
          </a:p>
        </p:txBody>
      </p:sp>
      <p:sp>
        <p:nvSpPr>
          <p:cNvPr id="3" name="p0_r"/>
          <p:cNvSpPr/>
          <p:nvPr/>
        </p:nvSpPr>
        <p:spPr>
          <a:xfrm>
            <a:off x="822960" y="1938528"/>
            <a:ext cx="525780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" name="p0_n"/>
          <p:cNvSpPr txBox="1"/>
          <p:nvPr/>
        </p:nvSpPr>
        <p:spPr>
          <a:xfrm>
            <a:off x="82296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p0_h"/>
          <p:cNvSpPr txBox="1"/>
          <p:nvPr/>
        </p:nvSpPr>
        <p:spPr>
          <a:xfrm>
            <a:off x="1170432" y="204825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Constant propagation</a:t>
            </a:r>
            <a:endParaRPr lang="en-US" sz="1400" dirty="0"/>
          </a:p>
        </p:txBody>
      </p:sp>
      <p:sp>
        <p:nvSpPr>
          <p:cNvPr id="6" name="p0_d"/>
          <p:cNvSpPr txBox="1"/>
          <p:nvPr/>
        </p:nvSpPr>
        <p:spPr>
          <a:xfrm>
            <a:off x="3840480" y="202996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replace a variable by its known value</a:t>
            </a:r>
            <a:endParaRPr lang="en-US" sz="1150" dirty="0"/>
          </a:p>
        </p:txBody>
      </p:sp>
      <p:sp>
        <p:nvSpPr>
          <p:cNvPr id="7" name="p1_r"/>
          <p:cNvSpPr/>
          <p:nvPr/>
        </p:nvSpPr>
        <p:spPr>
          <a:xfrm>
            <a:off x="822960" y="2446020"/>
            <a:ext cx="525780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8" name="p1_n"/>
          <p:cNvSpPr txBox="1"/>
          <p:nvPr/>
        </p:nvSpPr>
        <p:spPr>
          <a:xfrm>
            <a:off x="822960" y="25648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p1_h"/>
          <p:cNvSpPr txBox="1"/>
          <p:nvPr/>
        </p:nvSpPr>
        <p:spPr>
          <a:xfrm>
            <a:off x="1170432" y="255574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Constant folding</a:t>
            </a:r>
            <a:endParaRPr lang="en-US" sz="1400" dirty="0"/>
          </a:p>
        </p:txBody>
      </p:sp>
      <p:sp>
        <p:nvSpPr>
          <p:cNvPr id="10" name="p1_d"/>
          <p:cNvSpPr txBox="1"/>
          <p:nvPr/>
        </p:nvSpPr>
        <p:spPr>
          <a:xfrm>
            <a:off x="3840480" y="253746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work out constant expressions now</a:t>
            </a:r>
            <a:endParaRPr lang="en-US" sz="1150" dirty="0"/>
          </a:p>
        </p:txBody>
      </p:sp>
      <p:sp>
        <p:nvSpPr>
          <p:cNvPr id="11" name="p2_r"/>
          <p:cNvSpPr/>
          <p:nvPr/>
        </p:nvSpPr>
        <p:spPr>
          <a:xfrm>
            <a:off x="822960" y="2953512"/>
            <a:ext cx="525780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2" name="p2_n"/>
          <p:cNvSpPr txBox="1"/>
          <p:nvPr/>
        </p:nvSpPr>
        <p:spPr>
          <a:xfrm>
            <a:off x="822960" y="3072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p2_h"/>
          <p:cNvSpPr txBox="1"/>
          <p:nvPr/>
        </p:nvSpPr>
        <p:spPr>
          <a:xfrm>
            <a:off x="1170432" y="30632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DAG of each block</a:t>
            </a:r>
            <a:endParaRPr lang="en-US" sz="1400" dirty="0"/>
          </a:p>
        </p:txBody>
      </p:sp>
      <p:sp>
        <p:nvSpPr>
          <p:cNvPr id="14" name="p2_d"/>
          <p:cNvSpPr txBox="1"/>
          <p:nvPr/>
        </p:nvSpPr>
        <p:spPr>
          <a:xfrm>
            <a:off x="3840480" y="304495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common subexpressions, copies, identities</a:t>
            </a:r>
            <a:endParaRPr lang="en-US" sz="1150" dirty="0"/>
          </a:p>
        </p:txBody>
      </p:sp>
      <p:sp>
        <p:nvSpPr>
          <p:cNvPr id="15" name="p3_r"/>
          <p:cNvSpPr/>
          <p:nvPr/>
        </p:nvSpPr>
        <p:spPr>
          <a:xfrm>
            <a:off x="822960" y="3461004"/>
            <a:ext cx="525780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6" name="p3_n"/>
          <p:cNvSpPr txBox="1"/>
          <p:nvPr/>
        </p:nvSpPr>
        <p:spPr>
          <a:xfrm>
            <a:off x="822960" y="35798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p3_h"/>
          <p:cNvSpPr txBox="1"/>
          <p:nvPr/>
        </p:nvSpPr>
        <p:spPr>
          <a:xfrm>
            <a:off x="1170432" y="35707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Dead-code elimination</a:t>
            </a:r>
            <a:endParaRPr lang="en-US" sz="1400" dirty="0"/>
          </a:p>
        </p:txBody>
      </p:sp>
      <p:sp>
        <p:nvSpPr>
          <p:cNvPr id="18" name="p3_d"/>
          <p:cNvSpPr txBox="1"/>
          <p:nvPr/>
        </p:nvSpPr>
        <p:spPr>
          <a:xfrm>
            <a:off x="3840480" y="3552444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remove results nobody reads</a:t>
            </a:r>
            <a:endParaRPr lang="en-US" sz="1150" dirty="0"/>
          </a:p>
        </p:txBody>
      </p:sp>
      <p:sp>
        <p:nvSpPr>
          <p:cNvPr id="19" name="p4_r"/>
          <p:cNvSpPr/>
          <p:nvPr/>
        </p:nvSpPr>
        <p:spPr>
          <a:xfrm>
            <a:off x="822960" y="3968496"/>
            <a:ext cx="525780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0" name="p4_n"/>
          <p:cNvSpPr txBox="1"/>
          <p:nvPr/>
        </p:nvSpPr>
        <p:spPr>
          <a:xfrm>
            <a:off x="822960" y="4087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p4_h"/>
          <p:cNvSpPr txBox="1"/>
          <p:nvPr/>
        </p:nvSpPr>
        <p:spPr>
          <a:xfrm>
            <a:off x="1170432" y="407822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Loop-invariant code motion</a:t>
            </a:r>
            <a:endParaRPr lang="en-US" sz="1400" dirty="0"/>
          </a:p>
        </p:txBody>
      </p:sp>
      <p:sp>
        <p:nvSpPr>
          <p:cNvPr id="22" name="p4_d"/>
          <p:cNvSpPr txBox="1"/>
          <p:nvPr/>
        </p:nvSpPr>
        <p:spPr>
          <a:xfrm>
            <a:off x="3840480" y="405993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move unchanging work out of loops</a:t>
            </a:r>
            <a:endParaRPr lang="en-US" sz="1150" dirty="0"/>
          </a:p>
        </p:txBody>
      </p:sp>
      <p:sp>
        <p:nvSpPr>
          <p:cNvPr id="23" name="p5_r"/>
          <p:cNvSpPr/>
          <p:nvPr/>
        </p:nvSpPr>
        <p:spPr>
          <a:xfrm>
            <a:off x="822960" y="4475988"/>
            <a:ext cx="525780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4" name="p5_n"/>
          <p:cNvSpPr txBox="1"/>
          <p:nvPr/>
        </p:nvSpPr>
        <p:spPr>
          <a:xfrm>
            <a:off x="822960" y="45948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p5_h"/>
          <p:cNvSpPr txBox="1"/>
          <p:nvPr/>
        </p:nvSpPr>
        <p:spPr>
          <a:xfrm>
            <a:off x="1170432" y="458571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Jump threading</a:t>
            </a:r>
            <a:endParaRPr lang="en-US" sz="1400" dirty="0"/>
          </a:p>
        </p:txBody>
      </p:sp>
      <p:sp>
        <p:nvSpPr>
          <p:cNvPr id="26" name="p5_d"/>
          <p:cNvSpPr txBox="1"/>
          <p:nvPr/>
        </p:nvSpPr>
        <p:spPr>
          <a:xfrm>
            <a:off x="3840480" y="456742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jumps to jumps, unreachable blocks</a:t>
            </a:r>
            <a:endParaRPr lang="en-US" sz="1150" dirty="0"/>
          </a:p>
        </p:txBody>
      </p:sp>
      <p:sp>
        <p:nvSpPr>
          <p:cNvPr id="27" name="p6_r"/>
          <p:cNvSpPr/>
          <p:nvPr/>
        </p:nvSpPr>
        <p:spPr>
          <a:xfrm>
            <a:off x="822960" y="4983480"/>
            <a:ext cx="525780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8" name="p6_n"/>
          <p:cNvSpPr txBox="1"/>
          <p:nvPr/>
        </p:nvSpPr>
        <p:spPr>
          <a:xfrm>
            <a:off x="822960" y="5102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sp>
        <p:nvSpPr>
          <p:cNvPr id="29" name="p6_h"/>
          <p:cNvSpPr txBox="1"/>
          <p:nvPr/>
        </p:nvSpPr>
        <p:spPr>
          <a:xfrm>
            <a:off x="1170432" y="50932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Compaction</a:t>
            </a:r>
            <a:endParaRPr lang="en-US" sz="1400" dirty="0"/>
          </a:p>
        </p:txBody>
      </p:sp>
      <p:sp>
        <p:nvSpPr>
          <p:cNvPr id="30" name="p6_d"/>
          <p:cNvSpPr txBox="1"/>
          <p:nvPr/>
        </p:nvSpPr>
        <p:spPr>
          <a:xfrm>
            <a:off x="3840480" y="507492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renumber what is left</a:t>
            </a:r>
            <a:endParaRPr lang="en-US" sz="1150" dirty="0"/>
          </a:p>
        </p:txBody>
      </p:sp>
      <p:sp>
        <p:nvSpPr>
          <p:cNvPr id="31" name="peep"/>
          <p:cNvSpPr txBox="1"/>
          <p:nvPr/>
        </p:nvSpPr>
        <p:spPr>
          <a:xfrm>
            <a:off x="822960" y="557784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Then compare-and-branch fusion, and a peephole pass on the bytecode: branch inversion, jumps to the next line, jumps to jumps.</a:t>
            </a:r>
            <a:endParaRPr lang="en-US" sz="1200" dirty="0"/>
          </a:p>
        </p:txBody>
      </p:sp>
      <p:sp>
        <p:nvSpPr>
          <p:cNvPr id="32" name="card_st6"/>
          <p:cNvSpPr/>
          <p:nvPr/>
        </p:nvSpPr>
        <p:spPr>
          <a:xfrm>
            <a:off x="6400800" y="1938528"/>
            <a:ext cx="4965192" cy="3127248"/>
          </a:xfrm>
          <a:prstGeom prst="roundRect">
            <a:avLst>
              <a:gd name="adj" fmla="val 4678"/>
            </a:avLst>
          </a:prstGeom>
          <a:gradFill rotWithShape="1">
            <a:gsLst>
              <a:gs pos="0">
                <a:schemeClr val="bg2">
                  <a:lumMod val="125000"/>
                </a:schemeClr>
              </a:gs>
              <a:gs pos="100000">
                <a:schemeClr val="bg2">
                  <a:lumMod val="80000"/>
                </a:schemeClr>
              </a:gs>
            </a:gsLst>
            <a:lin ang="5400000" scaled="0"/>
          </a:gradFill>
          <a:ln w="12700">
            <a:solidFill>
              <a:schemeClr val="accent4"/>
            </a:solidFill>
            <a:prstDash val="solid"/>
          </a:ln>
        </p:spPr>
      </p:sp>
      <p:sp>
        <p:nvSpPr>
          <p:cNvPr id="33" name="st6_k"/>
          <p:cNvSpPr txBox="1"/>
          <p:nvPr/>
        </p:nvSpPr>
        <p:spPr>
          <a:xfrm>
            <a:off x="6675120" y="2139696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1"/>
                </a:solidFill>
              </a:rPr>
              <a:t>WHAT EXAMPLE 6 REPORTS  (--STATS)</a:t>
            </a:r>
            <a:endParaRPr lang="en-US" sz="950" dirty="0"/>
          </a:p>
        </p:txBody>
      </p:sp>
      <p:sp>
        <p:nvSpPr>
          <p:cNvPr id="34" name="st6_rule"/>
          <p:cNvSpPr/>
          <p:nvPr/>
        </p:nvSpPr>
        <p:spPr>
          <a:xfrm>
            <a:off x="6400800" y="2468880"/>
            <a:ext cx="496519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5" name="st6_code"/>
          <p:cNvSpPr txBox="1"/>
          <p:nvPr/>
        </p:nvSpPr>
        <p:spPr>
          <a:xfrm>
            <a:off x="6675120" y="2633472"/>
            <a:ext cx="4553712" cy="1932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optimisation summary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constants folded                             </a:t>
            </a:r>
            <a:r>
              <a:rPr lang="en-US" sz="10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operands replaced by propagated constants    </a:t>
            </a:r>
            <a:r>
              <a:rPr lang="en-US" sz="10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common subexpressions eliminated             </a:t>
            </a:r>
            <a:r>
              <a:rPr lang="en-US" sz="10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copies propagated                            </a:t>
            </a:r>
            <a:r>
              <a:rPr lang="en-US" sz="10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algebraic simplifications                    </a:t>
            </a:r>
            <a:r>
              <a:rPr lang="en-US" sz="10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dead instructions removed                    </a:t>
            </a:r>
            <a:r>
              <a:rPr lang="en-US" sz="10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instructions hoisted out of loops            </a:t>
            </a:r>
            <a:r>
              <a:rPr lang="en-US" sz="10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jumps threaded or removed                    </a:t>
            </a:r>
            <a:r>
              <a:rPr lang="en-US" sz="10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unreachable blocks removed                   </a:t>
            </a:r>
            <a:r>
              <a:rPr lang="en-US" sz="10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peephole rewrites                            </a:t>
            </a:r>
            <a:r>
              <a:rPr lang="en-US" sz="10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st6_n"/>
          <p:cNvSpPr txBox="1"/>
          <p:nvPr/>
        </p:nvSpPr>
        <p:spPr>
          <a:xfrm>
            <a:off x="6400800" y="5193792"/>
            <a:ext cx="4965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61</a:t>
            </a:r>
            <a:r>
              <a:rPr lang="en-US" sz="1400" dirty="0">
                <a:solidFill>
                  <a:schemeClr val="tx2"/>
                </a:solidFill>
              </a:rPr>
              <a:t> three-address instructions before the optimiser, </a:t>
            </a:r>
            <a:r>
              <a:rPr lang="en-US" sz="1400" b="1" dirty="0">
                <a:solidFill>
                  <a:schemeClr val="accent1"/>
                </a:solidFill>
              </a:rPr>
              <a:t>37</a:t>
            </a:r>
            <a:r>
              <a:rPr lang="en-US" sz="1400" dirty="0">
                <a:solidFill>
                  <a:schemeClr val="tx2"/>
                </a:solidFill>
              </a:rPr>
              <a:t> after.</a:t>
            </a:r>
            <a:endParaRPr lang="en-US" sz="1400" dirty="0"/>
          </a:p>
        </p:txBody>
      </p:sp>
      <p:sp>
        <p:nvSpPr>
          <p:cNvPr id="37" name="st6_c"/>
          <p:cNvSpPr txBox="1"/>
          <p:nvPr/>
        </p:nvSpPr>
        <p:spPr>
          <a:xfrm>
            <a:off x="6400800" y="5532120"/>
            <a:ext cx="4965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./aerodsl --ir --opt-ir --stats examples/06_optimise.aero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96112"/>
            <a:ext cx="1054577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1"/>
                </a:solidFill>
              </a:rPr>
              <a:t>Four decisions, and what they cost.</a:t>
            </a:r>
            <a:endParaRPr lang="en-US" sz="4400" dirty="0"/>
          </a:p>
        </p:txBody>
      </p:sp>
      <p:sp>
        <p:nvSpPr>
          <p:cNvPr id="3" name="h0"/>
          <p:cNvSpPr txBox="1"/>
          <p:nvPr/>
        </p:nvSpPr>
        <p:spPr>
          <a:xfrm>
            <a:off x="822960" y="190195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Decision</a:t>
            </a:r>
            <a:endParaRPr lang="en-US" sz="1200" dirty="0"/>
          </a:p>
        </p:txBody>
      </p:sp>
      <p:sp>
        <p:nvSpPr>
          <p:cNvPr id="4" name="h1"/>
          <p:cNvSpPr txBox="1"/>
          <p:nvPr/>
        </p:nvSpPr>
        <p:spPr>
          <a:xfrm>
            <a:off x="4069080" y="190195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Why</a:t>
            </a:r>
            <a:endParaRPr lang="en-US" sz="1200" dirty="0"/>
          </a:p>
        </p:txBody>
      </p:sp>
      <p:sp>
        <p:nvSpPr>
          <p:cNvPr id="5" name="h2"/>
          <p:cNvSpPr txBox="1"/>
          <p:nvPr/>
        </p:nvSpPr>
        <p:spPr>
          <a:xfrm>
            <a:off x="8092440" y="1901952"/>
            <a:ext cx="3273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What it costs</a:t>
            </a:r>
            <a:endParaRPr lang="en-US" sz="1200" dirty="0"/>
          </a:p>
        </p:txBody>
      </p:sp>
      <p:sp>
        <p:nvSpPr>
          <p:cNvPr id="6" name="r0"/>
          <p:cNvSpPr/>
          <p:nvPr/>
        </p:nvSpPr>
        <p:spPr>
          <a:xfrm>
            <a:off x="822960" y="2212848"/>
            <a:ext cx="1054577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7" name="r0_0"/>
          <p:cNvSpPr txBox="1"/>
          <p:nvPr/>
        </p:nvSpPr>
        <p:spPr>
          <a:xfrm>
            <a:off x="822960" y="23591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Hand-written lexer and parser</a:t>
            </a:r>
            <a:endParaRPr lang="en-US" sz="1500" dirty="0"/>
          </a:p>
        </p:txBody>
      </p:sp>
      <p:sp>
        <p:nvSpPr>
          <p:cNvPr id="8" name="r0_1"/>
          <p:cNvSpPr txBox="1"/>
          <p:nvPr/>
        </p:nvSpPr>
        <p:spPr>
          <a:xfrm>
            <a:off x="4069080" y="2359152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Every step can be traced and explained, and errors read as plain English.</a:t>
            </a:r>
            <a:endParaRPr lang="en-US" sz="1300" dirty="0"/>
          </a:p>
        </p:txBody>
      </p:sp>
      <p:sp>
        <p:nvSpPr>
          <p:cNvPr id="9" name="r0_2"/>
          <p:cNvSpPr txBox="1"/>
          <p:nvPr/>
        </p:nvSpPr>
        <p:spPr>
          <a:xfrm>
            <a:off x="8092440" y="2359152"/>
            <a:ext cx="3273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More code to write and test than a generator would need.</a:t>
            </a:r>
            <a:endParaRPr lang="en-US" sz="1300" dirty="0"/>
          </a:p>
        </p:txBody>
      </p:sp>
      <p:sp>
        <p:nvSpPr>
          <p:cNvPr id="10" name="r1"/>
          <p:cNvSpPr/>
          <p:nvPr/>
        </p:nvSpPr>
        <p:spPr>
          <a:xfrm>
            <a:off x="822960" y="3108960"/>
            <a:ext cx="1054577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1" name="r1_0"/>
          <p:cNvSpPr txBox="1"/>
          <p:nvPr/>
        </p:nvSpPr>
        <p:spPr>
          <a:xfrm>
            <a:off x="822960" y="3255264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Our own VM, not LLVM</a:t>
            </a:r>
            <a:endParaRPr lang="en-US" sz="1500" dirty="0"/>
          </a:p>
        </p:txBody>
      </p:sp>
      <p:sp>
        <p:nvSpPr>
          <p:cNvPr id="12" name="r1_1"/>
          <p:cNvSpPr txBox="1"/>
          <p:nvPr/>
        </p:nvSpPr>
        <p:spPr>
          <a:xfrm>
            <a:off x="4069080" y="3255264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The “machine” has to fly aircraft and check separation, not just compute.</a:t>
            </a:r>
            <a:endParaRPr lang="en-US" sz="1300" dirty="0"/>
          </a:p>
        </p:txBody>
      </p:sp>
      <p:sp>
        <p:nvSpPr>
          <p:cNvPr id="13" name="r1_2"/>
          <p:cNvSpPr txBox="1"/>
          <p:nvPr/>
        </p:nvSpPr>
        <p:spPr>
          <a:xfrm>
            <a:off x="8092440" y="3255264"/>
            <a:ext cx="3273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No native-code speed, which a scenario does not need.</a:t>
            </a:r>
            <a:endParaRPr lang="en-US" sz="1300" dirty="0"/>
          </a:p>
        </p:txBody>
      </p:sp>
      <p:sp>
        <p:nvSpPr>
          <p:cNvPr id="14" name="r2"/>
          <p:cNvSpPr/>
          <p:nvPr/>
        </p:nvSpPr>
        <p:spPr>
          <a:xfrm>
            <a:off x="822960" y="4005072"/>
            <a:ext cx="1054577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5" name="r2_0"/>
          <p:cNvSpPr txBox="1"/>
          <p:nvPr/>
        </p:nvSpPr>
        <p:spPr>
          <a:xfrm>
            <a:off x="822960" y="4151376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Resolve loops by simulating</a:t>
            </a:r>
            <a:endParaRPr lang="en-US" sz="1500" dirty="0"/>
          </a:p>
        </p:txBody>
      </p:sp>
      <p:sp>
        <p:nvSpPr>
          <p:cNvPr id="16" name="r2_1"/>
          <p:cNvSpPr txBox="1"/>
          <p:nvPr/>
        </p:nvSpPr>
        <p:spPr>
          <a:xfrm>
            <a:off x="4069080" y="4151376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The output must be a flat file, so every loop and if is decided before it is written.</a:t>
            </a:r>
            <a:endParaRPr lang="en-US" sz="1300" dirty="0"/>
          </a:p>
        </p:txBody>
      </p:sp>
      <p:sp>
        <p:nvSpPr>
          <p:cNvPr id="17" name="r2_2"/>
          <p:cNvSpPr txBox="1"/>
          <p:nvPr/>
        </p:nvSpPr>
        <p:spPr>
          <a:xfrm>
            <a:off x="8092440" y="4151376"/>
            <a:ext cx="3273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Times are only as good as our flight model: in BlueSky, one turn comes about 1,060 ft early.</a:t>
            </a:r>
            <a:endParaRPr lang="en-US" sz="1300" dirty="0"/>
          </a:p>
        </p:txBody>
      </p:sp>
      <p:sp>
        <p:nvSpPr>
          <p:cNvPr id="18" name="r3"/>
          <p:cNvSpPr/>
          <p:nvPr/>
        </p:nvSpPr>
        <p:spPr>
          <a:xfrm>
            <a:off x="822960" y="4901184"/>
            <a:ext cx="1054577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9" name="r3_0"/>
          <p:cNvSpPr txBox="1"/>
          <p:nvPr/>
        </p:nvSpPr>
        <p:spPr>
          <a:xfrm>
            <a:off x="822960" y="504748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Range checks after constant propagation</a:t>
            </a:r>
            <a:endParaRPr lang="en-US" sz="1500" dirty="0"/>
          </a:p>
        </p:txBody>
      </p:sp>
      <p:sp>
        <p:nvSpPr>
          <p:cNvPr id="20" name="r3_1"/>
          <p:cNvSpPr txBox="1"/>
          <p:nvPr/>
        </p:nvSpPr>
        <p:spPr>
          <a:xfrm>
            <a:off x="4069080" y="504748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Catches heading 450 even when it hides in a variable.</a:t>
            </a:r>
            <a:endParaRPr lang="en-US" sz="1300" dirty="0"/>
          </a:p>
        </p:txBody>
      </p:sp>
      <p:sp>
        <p:nvSpPr>
          <p:cNvPr id="21" name="r3_2"/>
          <p:cNvSpPr txBox="1"/>
          <p:nvPr/>
        </p:nvSpPr>
        <p:spPr>
          <a:xfrm>
            <a:off x="8092440" y="5047488"/>
            <a:ext cx="3273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Values known only while running are checked by the VM instead.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96112"/>
            <a:ext cx="1054577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1"/>
                </a:solidFill>
              </a:rPr>
              <a:t>Every stage is built.</a:t>
            </a:r>
            <a:endParaRPr lang="en-US" sz="4400" dirty="0"/>
          </a:p>
        </p:txBody>
      </p:sp>
      <p:sp>
        <p:nvSpPr>
          <p:cNvPr id="3" name="sub"/>
          <p:cNvSpPr txBox="1"/>
          <p:nvPr/>
        </p:nvSpPr>
        <p:spPr>
          <a:xfrm>
            <a:off x="822960" y="1645920"/>
            <a:ext cx="105457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Where each stage lives in the code, its size, and the flag that prints its output.</a:t>
            </a:r>
            <a:endParaRPr lang="en-US" sz="1700" dirty="0"/>
          </a:p>
        </p:txBody>
      </p:sp>
      <p:sp>
        <p:nvSpPr>
          <p:cNvPr id="4" name="hk0"/>
          <p:cNvSpPr txBox="1"/>
          <p:nvPr/>
        </p:nvSpPr>
        <p:spPr>
          <a:xfrm>
            <a:off x="822960" y="21945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3"/>
                </a:solidFill>
              </a:rPr>
              <a:t>STAGE  ·  SOURCE FILES</a:t>
            </a:r>
            <a:endParaRPr lang="en-US" sz="950" dirty="0"/>
          </a:p>
        </p:txBody>
      </p:sp>
      <p:sp>
        <p:nvSpPr>
          <p:cNvPr id="5" name="hl0"/>
          <p:cNvSpPr txBox="1"/>
          <p:nvPr/>
        </p:nvSpPr>
        <p:spPr>
          <a:xfrm>
            <a:off x="3584448" y="21945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spc="150" kern="0" dirty="0">
                <a:solidFill>
                  <a:schemeClr val="accent3"/>
                </a:solidFill>
              </a:rPr>
              <a:t>LINES  ·  PRINT IT WITH</a:t>
            </a:r>
            <a:endParaRPr lang="en-US" sz="950" dirty="0"/>
          </a:p>
        </p:txBody>
      </p:sp>
      <p:sp>
        <p:nvSpPr>
          <p:cNvPr id="6" name="hk1"/>
          <p:cNvSpPr txBox="1"/>
          <p:nvPr/>
        </p:nvSpPr>
        <p:spPr>
          <a:xfrm>
            <a:off x="6412687" y="21945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3"/>
                </a:solidFill>
              </a:rPr>
              <a:t>STAGE  ·  SOURCE FILES</a:t>
            </a:r>
            <a:endParaRPr lang="en-US" sz="950" dirty="0"/>
          </a:p>
        </p:txBody>
      </p:sp>
      <p:sp>
        <p:nvSpPr>
          <p:cNvPr id="7" name="hl1"/>
          <p:cNvSpPr txBox="1"/>
          <p:nvPr/>
        </p:nvSpPr>
        <p:spPr>
          <a:xfrm>
            <a:off x="9174175" y="21945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spc="150" kern="0" dirty="0">
                <a:solidFill>
                  <a:schemeClr val="accent3"/>
                </a:solidFill>
              </a:rPr>
              <a:t>LINES  ·  PRINT IT WITH</a:t>
            </a:r>
            <a:endParaRPr lang="en-US" sz="950" dirty="0"/>
          </a:p>
        </p:txBody>
      </p:sp>
      <p:sp>
        <p:nvSpPr>
          <p:cNvPr id="8" name="r0_r"/>
          <p:cNvSpPr/>
          <p:nvPr/>
        </p:nvSpPr>
        <p:spPr>
          <a:xfrm>
            <a:off x="822960" y="2487168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9" name="r0_h"/>
          <p:cNvSpPr txBox="1"/>
          <p:nvPr/>
        </p:nvSpPr>
        <p:spPr>
          <a:xfrm>
            <a:off x="822960" y="2560320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Lexer</a:t>
            </a:r>
            <a:endParaRPr lang="en-US" sz="1350" dirty="0"/>
          </a:p>
        </p:txBody>
      </p:sp>
      <p:sp>
        <p:nvSpPr>
          <p:cNvPr id="10" name="r0_f"/>
          <p:cNvSpPr txBox="1"/>
          <p:nvPr/>
        </p:nvSpPr>
        <p:spPr>
          <a:xfrm>
            <a:off x="822960" y="2798064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lexer.c</a:t>
            </a:r>
            <a:endParaRPr lang="en-US" sz="950" dirty="0"/>
          </a:p>
        </p:txBody>
      </p:sp>
      <p:sp>
        <p:nvSpPr>
          <p:cNvPr id="11" name="r0_n"/>
          <p:cNvSpPr txBox="1"/>
          <p:nvPr/>
        </p:nvSpPr>
        <p:spPr>
          <a:xfrm>
            <a:off x="4498848" y="25603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296</a:t>
            </a:r>
            <a:endParaRPr lang="en-US" sz="1300" dirty="0"/>
          </a:p>
        </p:txBody>
      </p:sp>
      <p:sp>
        <p:nvSpPr>
          <p:cNvPr id="12" name="r0_g"/>
          <p:cNvSpPr txBox="1"/>
          <p:nvPr/>
        </p:nvSpPr>
        <p:spPr>
          <a:xfrm>
            <a:off x="3767328" y="27980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--tokens</a:t>
            </a:r>
            <a:endParaRPr lang="en-US" sz="950" dirty="0"/>
          </a:p>
        </p:txBody>
      </p:sp>
      <p:sp>
        <p:nvSpPr>
          <p:cNvPr id="13" name="r1_r"/>
          <p:cNvSpPr/>
          <p:nvPr/>
        </p:nvSpPr>
        <p:spPr>
          <a:xfrm>
            <a:off x="822960" y="3017520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4" name="r1_h"/>
          <p:cNvSpPr txBox="1"/>
          <p:nvPr/>
        </p:nvSpPr>
        <p:spPr>
          <a:xfrm>
            <a:off x="822960" y="3090672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Parser and symbol table</a:t>
            </a:r>
            <a:endParaRPr lang="en-US" sz="1350" dirty="0"/>
          </a:p>
        </p:txBody>
      </p:sp>
      <p:sp>
        <p:nvSpPr>
          <p:cNvPr id="15" name="r1_f"/>
          <p:cNvSpPr txBox="1"/>
          <p:nvPr/>
        </p:nvSpPr>
        <p:spPr>
          <a:xfrm>
            <a:off x="822960" y="3328416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parser.c  ast.c  symtab.c</a:t>
            </a:r>
            <a:endParaRPr lang="en-US" sz="950" dirty="0"/>
          </a:p>
        </p:txBody>
      </p:sp>
      <p:sp>
        <p:nvSpPr>
          <p:cNvPr id="16" name="r1_n"/>
          <p:cNvSpPr txBox="1"/>
          <p:nvPr/>
        </p:nvSpPr>
        <p:spPr>
          <a:xfrm>
            <a:off x="4498848" y="30906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1,344</a:t>
            </a:r>
            <a:endParaRPr lang="en-US" sz="1300" dirty="0"/>
          </a:p>
        </p:txBody>
      </p:sp>
      <p:sp>
        <p:nvSpPr>
          <p:cNvPr id="17" name="r1_g"/>
          <p:cNvSpPr txBox="1"/>
          <p:nvPr/>
        </p:nvSpPr>
        <p:spPr>
          <a:xfrm>
            <a:off x="3767328" y="33284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--ast --symbols</a:t>
            </a:r>
            <a:endParaRPr lang="en-US" sz="950" dirty="0"/>
          </a:p>
        </p:txBody>
      </p:sp>
      <p:sp>
        <p:nvSpPr>
          <p:cNvPr id="18" name="r2_r"/>
          <p:cNvSpPr/>
          <p:nvPr/>
        </p:nvSpPr>
        <p:spPr>
          <a:xfrm>
            <a:off x="822960" y="3547872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9" name="r2_h"/>
          <p:cNvSpPr txBox="1"/>
          <p:nvPr/>
        </p:nvSpPr>
        <p:spPr>
          <a:xfrm>
            <a:off x="822960" y="3621024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Type checks</a:t>
            </a:r>
            <a:endParaRPr lang="en-US" sz="1350" dirty="0"/>
          </a:p>
        </p:txBody>
      </p:sp>
      <p:sp>
        <p:nvSpPr>
          <p:cNvPr id="20" name="r2_f"/>
          <p:cNvSpPr txBox="1"/>
          <p:nvPr/>
        </p:nvSpPr>
        <p:spPr>
          <a:xfrm>
            <a:off x="822960" y="3858768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sema.c</a:t>
            </a:r>
            <a:endParaRPr lang="en-US" sz="950" dirty="0"/>
          </a:p>
        </p:txBody>
      </p:sp>
      <p:sp>
        <p:nvSpPr>
          <p:cNvPr id="21" name="r2_n"/>
          <p:cNvSpPr txBox="1"/>
          <p:nvPr/>
        </p:nvSpPr>
        <p:spPr>
          <a:xfrm>
            <a:off x="4498848" y="362102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482</a:t>
            </a:r>
            <a:endParaRPr lang="en-US" sz="1300" dirty="0"/>
          </a:p>
        </p:txBody>
      </p:sp>
      <p:sp>
        <p:nvSpPr>
          <p:cNvPr id="22" name="r2_g"/>
          <p:cNvSpPr txBox="1"/>
          <p:nvPr/>
        </p:nvSpPr>
        <p:spPr>
          <a:xfrm>
            <a:off x="3767328" y="38587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--ast</a:t>
            </a:r>
            <a:endParaRPr lang="en-US" sz="950" dirty="0"/>
          </a:p>
        </p:txBody>
      </p:sp>
      <p:sp>
        <p:nvSpPr>
          <p:cNvPr id="23" name="r3_r"/>
          <p:cNvSpPr/>
          <p:nvPr/>
        </p:nvSpPr>
        <p:spPr>
          <a:xfrm>
            <a:off x="822960" y="4078224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4" name="r3_h"/>
          <p:cNvSpPr txBox="1"/>
          <p:nvPr/>
        </p:nvSpPr>
        <p:spPr>
          <a:xfrm>
            <a:off x="822960" y="4151376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IR generation</a:t>
            </a:r>
            <a:endParaRPr lang="en-US" sz="1350" dirty="0"/>
          </a:p>
        </p:txBody>
      </p:sp>
      <p:sp>
        <p:nvSpPr>
          <p:cNvPr id="25" name="r3_f"/>
          <p:cNvSpPr txBox="1"/>
          <p:nvPr/>
        </p:nvSpPr>
        <p:spPr>
          <a:xfrm>
            <a:off x="822960" y="4389120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ir.c</a:t>
            </a:r>
            <a:endParaRPr lang="en-US" sz="950" dirty="0"/>
          </a:p>
        </p:txBody>
      </p:sp>
      <p:sp>
        <p:nvSpPr>
          <p:cNvPr id="26" name="r3_n"/>
          <p:cNvSpPr txBox="1"/>
          <p:nvPr/>
        </p:nvSpPr>
        <p:spPr>
          <a:xfrm>
            <a:off x="4498848" y="415137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639</a:t>
            </a:r>
            <a:endParaRPr lang="en-US" sz="1300" dirty="0"/>
          </a:p>
        </p:txBody>
      </p:sp>
      <p:sp>
        <p:nvSpPr>
          <p:cNvPr id="27" name="r3_g"/>
          <p:cNvSpPr txBox="1"/>
          <p:nvPr/>
        </p:nvSpPr>
        <p:spPr>
          <a:xfrm>
            <a:off x="3767328" y="43891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--ir</a:t>
            </a:r>
            <a:endParaRPr lang="en-US" sz="950" dirty="0"/>
          </a:p>
        </p:txBody>
      </p:sp>
      <p:sp>
        <p:nvSpPr>
          <p:cNvPr id="28" name="r4_r"/>
          <p:cNvSpPr/>
          <p:nvPr/>
        </p:nvSpPr>
        <p:spPr>
          <a:xfrm>
            <a:off x="822960" y="4608576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9" name="r4_h"/>
          <p:cNvSpPr txBox="1"/>
          <p:nvPr/>
        </p:nvSpPr>
        <p:spPr>
          <a:xfrm>
            <a:off x="822960" y="4681728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Control-flow graph</a:t>
            </a:r>
            <a:endParaRPr lang="en-US" sz="1350" dirty="0"/>
          </a:p>
        </p:txBody>
      </p:sp>
      <p:sp>
        <p:nvSpPr>
          <p:cNvPr id="30" name="r4_f"/>
          <p:cNvSpPr txBox="1"/>
          <p:nvPr/>
        </p:nvSpPr>
        <p:spPr>
          <a:xfrm>
            <a:off x="822960" y="4919472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cfg.c</a:t>
            </a:r>
            <a:endParaRPr lang="en-US" sz="950" dirty="0"/>
          </a:p>
        </p:txBody>
      </p:sp>
      <p:sp>
        <p:nvSpPr>
          <p:cNvPr id="31" name="r4_n"/>
          <p:cNvSpPr txBox="1"/>
          <p:nvPr/>
        </p:nvSpPr>
        <p:spPr>
          <a:xfrm>
            <a:off x="4498848" y="4681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490</a:t>
            </a:r>
            <a:endParaRPr lang="en-US" sz="1300" dirty="0"/>
          </a:p>
        </p:txBody>
      </p:sp>
      <p:sp>
        <p:nvSpPr>
          <p:cNvPr id="32" name="r4_g"/>
          <p:cNvSpPr txBox="1"/>
          <p:nvPr/>
        </p:nvSpPr>
        <p:spPr>
          <a:xfrm>
            <a:off x="3767328" y="49194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--cfg</a:t>
            </a:r>
            <a:endParaRPr lang="en-US" sz="950" dirty="0"/>
          </a:p>
        </p:txBody>
      </p:sp>
      <p:sp>
        <p:nvSpPr>
          <p:cNvPr id="33" name="r5_r"/>
          <p:cNvSpPr/>
          <p:nvPr/>
        </p:nvSpPr>
        <p:spPr>
          <a:xfrm>
            <a:off x="822960" y="5138928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34" name="r5_h"/>
          <p:cNvSpPr txBox="1"/>
          <p:nvPr/>
        </p:nvSpPr>
        <p:spPr>
          <a:xfrm>
            <a:off x="822960" y="5212080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SSA</a:t>
            </a:r>
            <a:endParaRPr lang="en-US" sz="1350" dirty="0"/>
          </a:p>
        </p:txBody>
      </p:sp>
      <p:sp>
        <p:nvSpPr>
          <p:cNvPr id="35" name="r5_f"/>
          <p:cNvSpPr txBox="1"/>
          <p:nvPr/>
        </p:nvSpPr>
        <p:spPr>
          <a:xfrm>
            <a:off x="822960" y="5449824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ssa.c</a:t>
            </a:r>
            <a:endParaRPr lang="en-US" sz="950" dirty="0"/>
          </a:p>
        </p:txBody>
      </p:sp>
      <p:sp>
        <p:nvSpPr>
          <p:cNvPr id="36" name="r5_n"/>
          <p:cNvSpPr txBox="1"/>
          <p:nvPr/>
        </p:nvSpPr>
        <p:spPr>
          <a:xfrm>
            <a:off x="4498848" y="52120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435</a:t>
            </a:r>
            <a:endParaRPr lang="en-US" sz="1300" dirty="0"/>
          </a:p>
        </p:txBody>
      </p:sp>
      <p:sp>
        <p:nvSpPr>
          <p:cNvPr id="37" name="r5_g"/>
          <p:cNvSpPr txBox="1"/>
          <p:nvPr/>
        </p:nvSpPr>
        <p:spPr>
          <a:xfrm>
            <a:off x="3767328" y="54498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--ssa  (printed only)</a:t>
            </a:r>
            <a:endParaRPr lang="en-US" sz="950" dirty="0"/>
          </a:p>
        </p:txBody>
      </p:sp>
      <p:sp>
        <p:nvSpPr>
          <p:cNvPr id="38" name="r6_r"/>
          <p:cNvSpPr/>
          <p:nvPr/>
        </p:nvSpPr>
        <p:spPr>
          <a:xfrm>
            <a:off x="822960" y="5669280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39" name="r6_h"/>
          <p:cNvSpPr txBox="1"/>
          <p:nvPr/>
        </p:nvSpPr>
        <p:spPr>
          <a:xfrm>
            <a:off x="822960" y="5742432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Optimiser, seven passes</a:t>
            </a:r>
            <a:endParaRPr lang="en-US" sz="1350" dirty="0"/>
          </a:p>
        </p:txBody>
      </p:sp>
      <p:sp>
        <p:nvSpPr>
          <p:cNvPr id="40" name="r6_f"/>
          <p:cNvSpPr txBox="1"/>
          <p:nvPr/>
        </p:nvSpPr>
        <p:spPr>
          <a:xfrm>
            <a:off x="822960" y="5980176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opt.c</a:t>
            </a:r>
            <a:endParaRPr lang="en-US" sz="950" dirty="0"/>
          </a:p>
        </p:txBody>
      </p:sp>
      <p:sp>
        <p:nvSpPr>
          <p:cNvPr id="41" name="r6_n"/>
          <p:cNvSpPr txBox="1"/>
          <p:nvPr/>
        </p:nvSpPr>
        <p:spPr>
          <a:xfrm>
            <a:off x="4498848" y="57424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885</a:t>
            </a:r>
            <a:endParaRPr lang="en-US" sz="1300" dirty="0"/>
          </a:p>
        </p:txBody>
      </p:sp>
      <p:sp>
        <p:nvSpPr>
          <p:cNvPr id="42" name="r6_g"/>
          <p:cNvSpPr txBox="1"/>
          <p:nvPr/>
        </p:nvSpPr>
        <p:spPr>
          <a:xfrm>
            <a:off x="3767328" y="59801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--opt-ir --stats</a:t>
            </a:r>
            <a:endParaRPr lang="en-US" sz="950" dirty="0"/>
          </a:p>
        </p:txBody>
      </p:sp>
      <p:sp>
        <p:nvSpPr>
          <p:cNvPr id="43" name="r7_r"/>
          <p:cNvSpPr/>
          <p:nvPr/>
        </p:nvSpPr>
        <p:spPr>
          <a:xfrm>
            <a:off x="6412687" y="2487168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44" name="r7_h"/>
          <p:cNvSpPr txBox="1"/>
          <p:nvPr/>
        </p:nvSpPr>
        <p:spPr>
          <a:xfrm>
            <a:off x="6412687" y="2560320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Domain checks</a:t>
            </a:r>
            <a:endParaRPr lang="en-US" sz="1350" dirty="0"/>
          </a:p>
        </p:txBody>
      </p:sp>
      <p:sp>
        <p:nvSpPr>
          <p:cNvPr id="45" name="r7_f"/>
          <p:cNvSpPr txBox="1"/>
          <p:nvPr/>
        </p:nvSpPr>
        <p:spPr>
          <a:xfrm>
            <a:off x="6412687" y="2798064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analysis.c</a:t>
            </a:r>
            <a:endParaRPr lang="en-US" sz="950" dirty="0"/>
          </a:p>
        </p:txBody>
      </p:sp>
      <p:sp>
        <p:nvSpPr>
          <p:cNvPr id="46" name="r7_n"/>
          <p:cNvSpPr txBox="1"/>
          <p:nvPr/>
        </p:nvSpPr>
        <p:spPr>
          <a:xfrm>
            <a:off x="10088575" y="25603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286</a:t>
            </a:r>
            <a:endParaRPr lang="en-US" sz="1300" dirty="0"/>
          </a:p>
        </p:txBody>
      </p:sp>
      <p:sp>
        <p:nvSpPr>
          <p:cNvPr id="47" name="r7_g"/>
          <p:cNvSpPr txBox="1"/>
          <p:nvPr/>
        </p:nvSpPr>
        <p:spPr>
          <a:xfrm>
            <a:off x="9357055" y="27980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messages</a:t>
            </a:r>
            <a:endParaRPr lang="en-US" sz="950" dirty="0"/>
          </a:p>
        </p:txBody>
      </p:sp>
      <p:sp>
        <p:nvSpPr>
          <p:cNvPr id="48" name="r8_r"/>
          <p:cNvSpPr/>
          <p:nvPr/>
        </p:nvSpPr>
        <p:spPr>
          <a:xfrm>
            <a:off x="6412687" y="3017520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49" name="r8_h"/>
          <p:cNvSpPr txBox="1"/>
          <p:nvPr/>
        </p:nvSpPr>
        <p:spPr>
          <a:xfrm>
            <a:off x="6412687" y="3090672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Code generation, peephole</a:t>
            </a:r>
            <a:endParaRPr lang="en-US" sz="1350" dirty="0"/>
          </a:p>
        </p:txBody>
      </p:sp>
      <p:sp>
        <p:nvSpPr>
          <p:cNvPr id="50" name="r8_f"/>
          <p:cNvSpPr txBox="1"/>
          <p:nvPr/>
        </p:nvSpPr>
        <p:spPr>
          <a:xfrm>
            <a:off x="6412687" y="3328416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codegen.c</a:t>
            </a:r>
            <a:endParaRPr lang="en-US" sz="950" dirty="0"/>
          </a:p>
        </p:txBody>
      </p:sp>
      <p:sp>
        <p:nvSpPr>
          <p:cNvPr id="51" name="r8_n"/>
          <p:cNvSpPr txBox="1"/>
          <p:nvPr/>
        </p:nvSpPr>
        <p:spPr>
          <a:xfrm>
            <a:off x="10088575" y="30906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739</a:t>
            </a:r>
            <a:endParaRPr lang="en-US" sz="1300" dirty="0"/>
          </a:p>
        </p:txBody>
      </p:sp>
      <p:sp>
        <p:nvSpPr>
          <p:cNvPr id="52" name="r8_g"/>
          <p:cNvSpPr txBox="1"/>
          <p:nvPr/>
        </p:nvSpPr>
        <p:spPr>
          <a:xfrm>
            <a:off x="9357055" y="33284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--nextuse --bc</a:t>
            </a:r>
            <a:endParaRPr lang="en-US" sz="950" dirty="0"/>
          </a:p>
        </p:txBody>
      </p:sp>
      <p:sp>
        <p:nvSpPr>
          <p:cNvPr id="53" name="r9_r"/>
          <p:cNvSpPr/>
          <p:nvPr/>
        </p:nvSpPr>
        <p:spPr>
          <a:xfrm>
            <a:off x="6412687" y="3547872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54" name="r9_h"/>
          <p:cNvSpPr txBox="1"/>
          <p:nvPr/>
        </p:nvSpPr>
        <p:spPr>
          <a:xfrm>
            <a:off x="6412687" y="3621024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AeroVM</a:t>
            </a:r>
            <a:endParaRPr lang="en-US" sz="1350" dirty="0"/>
          </a:p>
        </p:txBody>
      </p:sp>
      <p:sp>
        <p:nvSpPr>
          <p:cNvPr id="55" name="r9_f"/>
          <p:cNvSpPr txBox="1"/>
          <p:nvPr/>
        </p:nvSpPr>
        <p:spPr>
          <a:xfrm>
            <a:off x="6412687" y="3858768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vm.c</a:t>
            </a:r>
            <a:endParaRPr lang="en-US" sz="950" dirty="0"/>
          </a:p>
        </p:txBody>
      </p:sp>
      <p:sp>
        <p:nvSpPr>
          <p:cNvPr id="56" name="r9_n"/>
          <p:cNvSpPr txBox="1"/>
          <p:nvPr/>
        </p:nvSpPr>
        <p:spPr>
          <a:xfrm>
            <a:off x="10088575" y="362102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826</a:t>
            </a:r>
            <a:endParaRPr lang="en-US" sz="1300" dirty="0"/>
          </a:p>
        </p:txBody>
      </p:sp>
      <p:sp>
        <p:nvSpPr>
          <p:cNvPr id="57" name="r9_g"/>
          <p:cNvSpPr txBox="1"/>
          <p:nvPr/>
        </p:nvSpPr>
        <p:spPr>
          <a:xfrm>
            <a:off x="9357055" y="38587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--trace</a:t>
            </a:r>
            <a:endParaRPr lang="en-US" sz="950" dirty="0"/>
          </a:p>
        </p:txBody>
      </p:sp>
      <p:sp>
        <p:nvSpPr>
          <p:cNvPr id="58" name="r10_r"/>
          <p:cNvSpPr/>
          <p:nvPr/>
        </p:nvSpPr>
        <p:spPr>
          <a:xfrm>
            <a:off x="6412687" y="4078224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59" name="r10_h"/>
          <p:cNvSpPr txBox="1"/>
          <p:nvPr/>
        </p:nvSpPr>
        <p:spPr>
          <a:xfrm>
            <a:off x="6412687" y="4151376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Scenario writer</a:t>
            </a:r>
            <a:endParaRPr lang="en-US" sz="1350" dirty="0"/>
          </a:p>
        </p:txBody>
      </p:sp>
      <p:sp>
        <p:nvSpPr>
          <p:cNvPr id="60" name="r10_f"/>
          <p:cNvSpPr txBox="1"/>
          <p:nvPr/>
        </p:nvSpPr>
        <p:spPr>
          <a:xfrm>
            <a:off x="6412687" y="4389120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scn.c</a:t>
            </a:r>
            <a:endParaRPr lang="en-US" sz="950" dirty="0"/>
          </a:p>
        </p:txBody>
      </p:sp>
      <p:sp>
        <p:nvSpPr>
          <p:cNvPr id="61" name="r10_n"/>
          <p:cNvSpPr txBox="1"/>
          <p:nvPr/>
        </p:nvSpPr>
        <p:spPr>
          <a:xfrm>
            <a:off x="10088575" y="415137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</a:t>
            </a:r>
            <a:endParaRPr lang="en-US" sz="1300" dirty="0"/>
          </a:p>
        </p:txBody>
      </p:sp>
      <p:sp>
        <p:nvSpPr>
          <p:cNvPr id="62" name="r10_g"/>
          <p:cNvSpPr txBox="1"/>
          <p:nvPr/>
        </p:nvSpPr>
        <p:spPr>
          <a:xfrm>
            <a:off x="9357055" y="43891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--scn</a:t>
            </a:r>
            <a:endParaRPr lang="en-US" sz="950" dirty="0"/>
          </a:p>
        </p:txBody>
      </p:sp>
      <p:sp>
        <p:nvSpPr>
          <p:cNvPr id="63" name="r11_r"/>
          <p:cNvSpPr/>
          <p:nvPr/>
        </p:nvSpPr>
        <p:spPr>
          <a:xfrm>
            <a:off x="6412687" y="4608576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64" name="r11_h"/>
          <p:cNvSpPr txBox="1"/>
          <p:nvPr/>
        </p:nvSpPr>
        <p:spPr>
          <a:xfrm>
            <a:off x="6412687" y="4681728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Driver and shared code</a:t>
            </a:r>
            <a:endParaRPr lang="en-US" sz="1350" dirty="0"/>
          </a:p>
        </p:txBody>
      </p:sp>
      <p:sp>
        <p:nvSpPr>
          <p:cNvPr id="65" name="r11_f"/>
          <p:cNvSpPr txBox="1"/>
          <p:nvPr/>
        </p:nvSpPr>
        <p:spPr>
          <a:xfrm>
            <a:off x="6412687" y="4919472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aerodsl.h  compile.c  diag.c  …</a:t>
            </a:r>
            <a:endParaRPr lang="en-US" sz="950" dirty="0"/>
          </a:p>
        </p:txBody>
      </p:sp>
      <p:sp>
        <p:nvSpPr>
          <p:cNvPr id="66" name="r11_n"/>
          <p:cNvSpPr txBox="1"/>
          <p:nvPr/>
        </p:nvSpPr>
        <p:spPr>
          <a:xfrm>
            <a:off x="10088575" y="4681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1,468</a:t>
            </a:r>
            <a:endParaRPr lang="en-US" sz="1300" dirty="0"/>
          </a:p>
        </p:txBody>
      </p:sp>
      <p:sp>
        <p:nvSpPr>
          <p:cNvPr id="67" name="r11_g"/>
          <p:cNvSpPr txBox="1"/>
          <p:nvPr/>
        </p:nvSpPr>
        <p:spPr>
          <a:xfrm>
            <a:off x="9357055" y="49194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--phases</a:t>
            </a:r>
            <a:endParaRPr lang="en-US" sz="950" dirty="0"/>
          </a:p>
        </p:txBody>
      </p:sp>
      <p:sp>
        <p:nvSpPr>
          <p:cNvPr id="68" name="r12_r"/>
          <p:cNvSpPr/>
          <p:nvPr/>
        </p:nvSpPr>
        <p:spPr>
          <a:xfrm>
            <a:off x="6412687" y="5138928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69" name="r12_h"/>
          <p:cNvSpPr txBox="1"/>
          <p:nvPr/>
        </p:nvSpPr>
        <p:spPr>
          <a:xfrm>
            <a:off x="6412687" y="5212080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Demo page server</a:t>
            </a:r>
            <a:endParaRPr lang="en-US" sz="1350" dirty="0"/>
          </a:p>
        </p:txBody>
      </p:sp>
      <p:sp>
        <p:nvSpPr>
          <p:cNvPr id="70" name="r12_f"/>
          <p:cNvSpPr txBox="1"/>
          <p:nvPr/>
        </p:nvSpPr>
        <p:spPr>
          <a:xfrm>
            <a:off x="6412687" y="5449824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server.c  json.c</a:t>
            </a:r>
            <a:endParaRPr lang="en-US" sz="950" dirty="0"/>
          </a:p>
        </p:txBody>
      </p:sp>
      <p:sp>
        <p:nvSpPr>
          <p:cNvPr id="71" name="r12_n"/>
          <p:cNvSpPr txBox="1"/>
          <p:nvPr/>
        </p:nvSpPr>
        <p:spPr>
          <a:xfrm>
            <a:off x="10088575" y="52120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520</a:t>
            </a:r>
            <a:endParaRPr lang="en-US" sz="1300" dirty="0"/>
          </a:p>
        </p:txBody>
      </p:sp>
      <p:sp>
        <p:nvSpPr>
          <p:cNvPr id="72" name="r12_g"/>
          <p:cNvSpPr txBox="1"/>
          <p:nvPr/>
        </p:nvSpPr>
        <p:spPr>
          <a:xfrm>
            <a:off x="9357055" y="54498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--serve</a:t>
            </a:r>
            <a:endParaRPr lang="en-US" sz="950" dirty="0"/>
          </a:p>
        </p:txBody>
      </p:sp>
      <p:sp>
        <p:nvSpPr>
          <p:cNvPr id="73" name="end0"/>
          <p:cNvSpPr/>
          <p:nvPr/>
        </p:nvSpPr>
        <p:spPr>
          <a:xfrm>
            <a:off x="822960" y="6199632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74" name="end1"/>
          <p:cNvSpPr/>
          <p:nvPr/>
        </p:nvSpPr>
        <p:spPr>
          <a:xfrm>
            <a:off x="6412687" y="5669280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75" name="tot"/>
          <p:cNvSpPr txBox="1"/>
          <p:nvPr/>
        </p:nvSpPr>
        <p:spPr>
          <a:xfrm>
            <a:off x="6412687" y="5852160"/>
            <a:ext cx="4956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8,514 lines of C11</a:t>
            </a:r>
            <a:r>
              <a:rPr lang="en-US" sz="1200" dirty="0">
                <a:solidFill>
                  <a:schemeClr val="tx2"/>
                </a:solidFill>
              </a:rPr>
              <a:t> in 20 C files and one header, with no libraries. Every stage runs end to end; SSA is the one part built and printed but not yet used by the optimiser.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4" grpId="0"/>
      <p:bldP spid="7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mb14_stmt"/>
          <p:cNvSpPr/>
          <p:nvPr/>
        </p:nvSpPr>
        <p:spPr>
          <a:xfrm>
            <a:off x="1295248" y="457200"/>
            <a:ext cx="9601200" cy="5486400"/>
          </a:xfrm>
          <a:prstGeom prst="ellipse">
            <a:avLst/>
          </a:prstGeom>
          <a:gradFill rotWithShape="1">
            <a:gsLst>
              <a:gs pos="0">
                <a:schemeClr val="accent1">
                  <a:lumMod val="14000"/>
                </a:schemeClr>
              </a:gs>
              <a:gs pos="70000">
                <a:schemeClr val="bg1"/>
              </a:gs>
              <a:gs pos="100000">
                <a:schemeClr val="bg1"/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low_silver"/>
          <p:cNvSpPr/>
          <p:nvPr/>
        </p:nvSpPr>
        <p:spPr>
          <a:xfrm>
            <a:off x="-274320" y="5394960"/>
            <a:ext cx="12801600" cy="1417320"/>
          </a:xfrm>
          <a:custGeom>
            <a:avLst/>
            <a:gdLst/>
            <a:ahLst/>
            <a:cxnLst/>
            <a:rect l="l" t="t" r="r" b="b"/>
            <a:pathLst>
              <a:path w="12801600" h="1417320">
                <a:moveTo>
                  <a:pt x="0" y="594360"/>
                </a:moveTo>
                <a:cubicBezTo>
                  <a:pt x="4114800" y="1417320"/>
                  <a:pt x="8138160" y="0"/>
                  <a:pt x="12801600" y="868680"/>
                </a:cubicBezTo>
              </a:path>
            </a:pathLst>
          </a:custGeom>
          <a:ln w="11430">
            <a:solidFill>
              <a:schemeClr val="accent5"/>
            </a:solidFill>
            <a:prstDash val="solid"/>
          </a:ln>
        </p:spPr>
      </p:sp>
      <p:sp>
        <p:nvSpPr>
          <p:cNvPr id="4" name="low_hero_fadeL"/>
          <p:cNvSpPr/>
          <p:nvPr/>
        </p:nvSpPr>
        <p:spPr>
          <a:xfrm>
            <a:off x="-274320" y="5760720"/>
            <a:ext cx="11155680" cy="960120"/>
          </a:xfrm>
          <a:custGeom>
            <a:avLst/>
            <a:gdLst/>
            <a:ahLst/>
            <a:cxnLst/>
            <a:rect l="l" t="t" r="r" b="b"/>
            <a:pathLst>
              <a:path w="11155680" h="960120">
                <a:moveTo>
                  <a:pt x="0" y="960120"/>
                </a:moveTo>
                <a:cubicBezTo>
                  <a:pt x="3749040" y="45720"/>
                  <a:pt x="7955280" y="685800"/>
                  <a:pt x="11155680" y="0"/>
                </a:cubicBezTo>
              </a:path>
            </a:pathLst>
          </a:custGeom>
          <a:ln w="19050">
            <a:gradFill>
              <a:gsLst>
                <a:gs pos="0">
                  <a:schemeClr val="accent1">
                    <a:alpha val="0"/>
                  </a:schemeClr>
                </a:gs>
                <a:gs pos="60000">
                  <a:schemeClr val="accent1">
                    <a:alpha val="10000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0" scaled="0"/>
            </a:gradFill>
            <a:prstDash val="solid"/>
          </a:ln>
        </p:spPr>
      </p:sp>
      <p:sp>
        <p:nvSpPr>
          <p:cNvPr id="5" name="low_next"/>
          <p:cNvSpPr/>
          <p:nvPr/>
        </p:nvSpPr>
        <p:spPr>
          <a:xfrm>
            <a:off x="10881360" y="5559552"/>
            <a:ext cx="1737360" cy="201168"/>
          </a:xfrm>
          <a:custGeom>
            <a:avLst/>
            <a:gdLst/>
            <a:ahLst/>
            <a:cxnLst/>
            <a:rect l="l" t="t" r="r" b="b"/>
            <a:pathLst>
              <a:path w="1737360" h="201168">
                <a:moveTo>
                  <a:pt x="0" y="201168"/>
                </a:moveTo>
                <a:cubicBezTo>
                  <a:pt x="548640" y="82296"/>
                  <a:pt x="1097280" y="18288"/>
                  <a:pt x="1737360" y="0"/>
                </a:cubicBezTo>
              </a:path>
            </a:pathLst>
          </a:custGeom>
          <a:ln w="12700">
            <a:solidFill>
              <a:schemeClr val="accent1"/>
            </a:solidFill>
            <a:prstDash val="dash"/>
          </a:ln>
        </p:spPr>
      </p:sp>
      <p:sp>
        <p:nvSpPr>
          <p:cNvPr id="6" name="low_ac_halo"/>
          <p:cNvSpPr/>
          <p:nvPr/>
        </p:nvSpPr>
        <p:spPr>
          <a:xfrm rot="4680000">
            <a:off x="10817352" y="5660136"/>
            <a:ext cx="128016" cy="201168"/>
          </a:xfrm>
          <a:prstGeom prst="triangle">
            <a:avLst/>
          </a:prstGeom>
          <a:solidFill>
            <a:schemeClr val="accent1"/>
          </a:solidFill>
          <a:ln/>
          <a:effectLst>
            <a:glow rad="114300">
              <a:schemeClr val="accent1">
                <a:alpha val="45000"/>
              </a:schemeClr>
            </a:glow>
          </a:effectLst>
        </p:spPr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1143000" y="1783080"/>
            <a:ext cx="990569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spc="-250" kern="0" dirty="0">
                <a:solidFill>
                  <a:schemeClr val="tx1"/>
                </a:solidFill>
              </a:rPr>
              <a:t>Thank you.</a:t>
            </a:r>
            <a:endParaRPr lang="en-US" sz="3400" dirty="0"/>
          </a:p>
        </p:txBody>
      </p:sp>
      <p:sp>
        <p:nvSpPr>
          <p:cNvPr id="8" name="Text 0"/>
          <p:cNvSpPr/>
          <p:nvPr>
            <p:ph idx="101" type="body" hasCustomPrompt="1"/>
          </p:nvPr>
        </p:nvSpPr>
        <p:spPr>
          <a:xfrm>
            <a:off x="822960" y="484632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100" kern="0" dirty="0">
                <a:solidFill>
                  <a:schemeClr val="tx2"/>
                </a:solidFill>
              </a:rPr>
              <a:t>Questions welcome.</a:t>
            </a:r>
            <a:endParaRPr lang="en-US" sz="1400" dirty="0"/>
          </a:p>
        </p:txBody>
      </p:sp>
      <p:sp>
        <p:nvSpPr>
          <p:cNvPr id="9" name="gh_link"/>
          <p:cNvSpPr txBox="1"/>
          <p:nvPr/>
        </p:nvSpPr>
        <p:spPr>
          <a:xfrm>
            <a:off x="822960" y="5230368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u="sng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github.com/Jaskaran-Singh-ops/AeroDSL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AeroDSL Keynote">
  <a:themeElements>
    <a:clrScheme name="AeroDSL Keynote">
      <a:dk1>
        <a:srgbClr val="0B0B0D"/>
      </a:dk1>
      <a:lt1>
        <a:srgbClr val="F5F5F7"/>
      </a:lt1>
      <a:dk2>
        <a:srgbClr val="161618"/>
      </a:dk2>
      <a:lt2>
        <a:srgbClr val="86868B"/>
      </a:lt2>
      <a:accent1>
        <a:srgbClr val="2997FF"/>
      </a:accent1>
      <a:accent2>
        <a:srgbClr val="D2D2D7"/>
      </a:accent2>
      <a:accent3>
        <a:srgbClr val="6E6E73"/>
      </a:accent3>
      <a:accent4>
        <a:srgbClr val="3A3A3C"/>
      </a:accent4>
      <a:accent5>
        <a:srgbClr val="26262A"/>
      </a:accent5>
      <a:accent6>
        <a:srgbClr val="1A1A1D"/>
      </a:accent6>
      <a:hlink>
        <a:srgbClr val="2997FF"/>
      </a:hlink>
      <a:folHlink>
        <a:srgbClr val="86868B"/>
      </a:folHlink>
    </a:clrScheme>
    <a:fontScheme name="AeroDSL Keynot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AeroDSL - Review 2: Design and Architecture</dc:title>
  <dc:subject>Compiler Design (BCSE307L) project review</dc:subject>
  <dc:creator>AeroDSL project team</dc:creator>
  <cp:lastModifiedBy>AeroDSL project team</cp:lastModifiedBy>
  <cp:revision>1</cp:revision>
  <dcterms:created xsi:type="dcterms:W3CDTF">2026-10-26T16:54:39Z</dcterms:created>
  <dcterms:modified xsi:type="dcterms:W3CDTF">2026-10-26T16:54:39Z</dcterms:modified>
</cp:coreProperties>
</file>