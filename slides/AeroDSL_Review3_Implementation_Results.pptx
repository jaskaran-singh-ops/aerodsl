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9489cbc-34de-451a-dd02-5a82c6aa2a03}">
          <p14:sldIdLst>
            <p14:sldId id="256"/>
            <p14:sldId id="257"/>
            <p14:sldId id="258"/>
            <p14:sldId id="259"/>
          </p14:sldIdLst>
        </p14:section>
        <p14:section name="Design" id="{58540a9d-11db-c5bf-8df0-baa7b9b3ffac}">
          <p14:sldIdLst>
            <p14:sldId id="260"/>
            <p14:sldId id="261"/>
            <p14:sldId id="262"/>
          </p14:sldIdLst>
        </p14:section>
        <p14:section name="Results" id="{7fc8320a-9b98-5105-6fe5-32d5f25ed6ca}">
          <p14:sldIdLst>
            <p14:sldId id="263"/>
            <p14:sldId id="264"/>
            <p14:sldId id="265"/>
            <p14:sldId id="266"/>
            <p14:sldId id="267"/>
          </p14:sldIdLst>
        </p14:section>
        <p14:section name="Testing" id="{de71235f-5375-86c2-b4ce-e8a9fe77818d}">
          <p14:sldIdLst>
            <p14:sldId id="268"/>
            <p14:sldId id="269"/>
          </p14:sldIdLst>
        </p14:section>
        <p14:section name="Code" id="{7bd78691-d805-c0e3-5983-615b305f870e}">
          <p14:sldIdLst>
            <p14:sldId id="270"/>
            <p14:sldId id="271"/>
          </p14:sldIdLst>
        </p14:section>
        <p14:section name="Close" id="{14efcafc-e15b-0962-7d2b-5d9153f5ad51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flight model</c:v>
                </c:pt>
              </c:strCache>
            </c:strRef>
          </c:tx>
          <c:spPr>
            <a:solidFill>
              <a:srgbClr val="86868B"/>
            </a:solidFill>
            <a:ln w="25400" cap="flat">
              <a:solidFill>
                <a:srgbClr val="8686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6868B"/>
              </a:solidFill>
              <a:ln w="9525" cap="flat">
                <a:solidFill>
                  <a:srgbClr val="8686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0:00</c:v>
                  </c:pt>
                  <c:pt idx="1">
                    <c:v>0:30</c:v>
                  </c:pt>
                  <c:pt idx="2">
                    <c:v>1:00</c:v>
                  </c:pt>
                  <c:pt idx="3">
                    <c:v>1:30</c:v>
                  </c:pt>
                  <c:pt idx="4">
                    <c:v>2:00</c:v>
                  </c:pt>
                  <c:pt idx="5">
                    <c:v>2:30</c:v>
                  </c:pt>
                  <c:pt idx="6">
                    <c:v>3:00</c:v>
                  </c:pt>
                  <c:pt idx="7">
                    <c:v>3:30</c:v>
                  </c:pt>
                  <c:pt idx="8">
                    <c:v>4:00</c:v>
                  </c:pt>
                  <c:pt idx="9">
                    <c:v>4:30</c:v>
                  </c:pt>
                  <c:pt idx="10">
                    <c:v>5:00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24000</c:v>
                </c:pt>
                <c:pt idx="1">
                  <c:v>24900</c:v>
                </c:pt>
                <c:pt idx="2">
                  <c:v>25800</c:v>
                </c:pt>
                <c:pt idx="3">
                  <c:v>26700</c:v>
                </c:pt>
                <c:pt idx="4">
                  <c:v>27600</c:v>
                </c:pt>
                <c:pt idx="5">
                  <c:v>28500</c:v>
                </c:pt>
                <c:pt idx="6">
                  <c:v>29400</c:v>
                </c:pt>
                <c:pt idx="7">
                  <c:v>30300</c:v>
                </c:pt>
                <c:pt idx="8">
                  <c:v>31200</c:v>
                </c:pt>
                <c:pt idx="9">
                  <c:v>32000</c:v>
                </c:pt>
                <c:pt idx="10">
                  <c:v>32000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BlueSky 1.1.1</c:v>
                </c:pt>
              </c:strCache>
            </c:strRef>
          </c:tx>
          <c:spPr>
            <a:solidFill>
              <a:srgbClr val="2997FF"/>
            </a:solidFill>
            <a:ln w="25400" cap="flat">
              <a:solidFill>
                <a:srgbClr val="2997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997FF"/>
              </a:solidFill>
              <a:ln w="9525" cap="flat">
                <a:solidFill>
                  <a:srgbClr val="2997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0:00</c:v>
                  </c:pt>
                  <c:pt idx="1">
                    <c:v>0:30</c:v>
                  </c:pt>
                  <c:pt idx="2">
                    <c:v>1:00</c:v>
                  </c:pt>
                  <c:pt idx="3">
                    <c:v>1:30</c:v>
                  </c:pt>
                  <c:pt idx="4">
                    <c:v>2:00</c:v>
                  </c:pt>
                  <c:pt idx="5">
                    <c:v>2:30</c:v>
                  </c:pt>
                  <c:pt idx="6">
                    <c:v>3:00</c:v>
                  </c:pt>
                  <c:pt idx="7">
                    <c:v>3:30</c:v>
                  </c:pt>
                  <c:pt idx="8">
                    <c:v>4:00</c:v>
                  </c:pt>
                  <c:pt idx="9">
                    <c:v>4:30</c:v>
                  </c:pt>
                  <c:pt idx="10">
                    <c:v>5:00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24000</c:v>
                </c:pt>
                <c:pt idx="1">
                  <c:v>24689</c:v>
                </c:pt>
                <c:pt idx="2">
                  <c:v>25439</c:v>
                </c:pt>
                <c:pt idx="3">
                  <c:v>26189</c:v>
                </c:pt>
                <c:pt idx="4">
                  <c:v>26939</c:v>
                </c:pt>
                <c:pt idx="5">
                  <c:v>27689</c:v>
                </c:pt>
                <c:pt idx="6">
                  <c:v>28439</c:v>
                </c:pt>
                <c:pt idx="7">
                  <c:v>29189</c:v>
                </c:pt>
                <c:pt idx="8">
                  <c:v>29939</c:v>
                </c:pt>
                <c:pt idx="9">
                  <c:v>30689</c:v>
                </c:pt>
                <c:pt idx="10">
                  <c:v>31439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FL300</c:v>
                </c:pt>
              </c:strCache>
            </c:strRef>
          </c:tx>
          <c:spPr>
            <a:solidFill>
              <a:srgbClr val="3A3A3C"/>
            </a:solidFill>
            <a:ln w="25400" cap="flat">
              <a:solidFill>
                <a:srgbClr val="3A3A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A3A3C"/>
              </a:solidFill>
              <a:ln w="9525" cap="flat">
                <a:solidFill>
                  <a:srgbClr val="3A3A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0:00</c:v>
                  </c:pt>
                  <c:pt idx="1">
                    <c:v>0:30</c:v>
                  </c:pt>
                  <c:pt idx="2">
                    <c:v>1:00</c:v>
                  </c:pt>
                  <c:pt idx="3">
                    <c:v>1:30</c:v>
                  </c:pt>
                  <c:pt idx="4">
                    <c:v>2:00</c:v>
                  </c:pt>
                  <c:pt idx="5">
                    <c:v>2:30</c:v>
                  </c:pt>
                  <c:pt idx="6">
                    <c:v>3:00</c:v>
                  </c:pt>
                  <c:pt idx="7">
                    <c:v>3:30</c:v>
                  </c:pt>
                  <c:pt idx="8">
                    <c:v>4:00</c:v>
                  </c:pt>
                  <c:pt idx="9">
                    <c:v>4:30</c:v>
                  </c:pt>
                  <c:pt idx="10">
                    <c:v>5:00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30000</c:v>
                </c:pt>
                <c:pt idx="1">
                  <c:v>30000</c:v>
                </c:pt>
                <c:pt idx="2">
                  <c:v>30000</c:v>
                </c:pt>
                <c:pt idx="3">
                  <c:v>30000</c:v>
                </c:pt>
                <c:pt idx="4">
                  <c:v>30000</c:v>
                </c:pt>
                <c:pt idx="5">
                  <c:v>30000</c:v>
                </c:pt>
                <c:pt idx="6">
                  <c:v>30000</c:v>
                </c:pt>
                <c:pt idx="7">
                  <c:v>30000</c:v>
                </c:pt>
                <c:pt idx="8">
                  <c:v>30000</c:v>
                </c:pt>
                <c:pt idx="9">
                  <c:v>30000</c:v>
                </c:pt>
                <c:pt idx="10">
                  <c:v>30000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686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000"/>
          <c:min val="23000"/>
        </c:scaling>
        <c:delete val="0"/>
        <c:axPos val="l"/>
        <c:majorGridlines>
          <c:spPr>
            <a:ln w="9525" cap="flat">
              <a:solidFill>
                <a:srgbClr val="26262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686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D2D2D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optimisation</c:v>
                </c:pt>
              </c:strCache>
            </c:strRef>
          </c:tx>
          <c:spPr>
            <a:solidFill>
              <a:srgbClr val="6E6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D2D2D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Minimal</c:v>
                  </c:pt>
                  <c:pt idx="1">
                    <c:v>Converging pair</c:v>
                  </c:pt>
                  <c:pt idx="2">
                    <c:v>Procedures</c:v>
                  </c:pt>
                  <c:pt idx="3">
                    <c:v>Conditional</c:v>
                  </c:pt>
                  <c:pt idx="4">
                    <c:v>Wait for a level</c:v>
                  </c:pt>
                  <c:pt idx="5">
                    <c:v>Optimiser demo</c:v>
                  </c:pt>
                  <c:pt idx="6">
                    <c:v>Boundaries</c:v>
                  </c:pt>
                  <c:pt idx="7">
                    <c:v>Separation</c:v>
                  </c:pt>
                  <c:pt idx="8">
                    <c:v>Walkthrough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30</c:v>
                </c:pt>
                <c:pt idx="2">
                  <c:v>46</c:v>
                </c:pt>
                <c:pt idx="3">
                  <c:v>46</c:v>
                </c:pt>
                <c:pt idx="4">
                  <c:v>26</c:v>
                </c:pt>
                <c:pt idx="5">
                  <c:v>61</c:v>
                </c:pt>
                <c:pt idx="6">
                  <c:v>32</c:v>
                </c:pt>
                <c:pt idx="7">
                  <c:v>52</c:v>
                </c:pt>
                <c:pt idx="8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optimisation</c:v>
                </c:pt>
              </c:strCache>
            </c:strRef>
          </c:tx>
          <c:spPr>
            <a:solidFill>
              <a:srgbClr val="2997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D2D2D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Minimal</c:v>
                  </c:pt>
                  <c:pt idx="1">
                    <c:v>Converging pair</c:v>
                  </c:pt>
                  <c:pt idx="2">
                    <c:v>Procedures</c:v>
                  </c:pt>
                  <c:pt idx="3">
                    <c:v>Conditional</c:v>
                  </c:pt>
                  <c:pt idx="4">
                    <c:v>Wait for a level</c:v>
                  </c:pt>
                  <c:pt idx="5">
                    <c:v>Optimiser demo</c:v>
                  </c:pt>
                  <c:pt idx="6">
                    <c:v>Boundaries</c:v>
                  </c:pt>
                  <c:pt idx="7">
                    <c:v>Separation</c:v>
                  </c:pt>
                  <c:pt idx="8">
                    <c:v>Walkthrough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</c:v>
                </c:pt>
                <c:pt idx="1">
                  <c:v>28</c:v>
                </c:pt>
                <c:pt idx="2">
                  <c:v>46</c:v>
                </c:pt>
                <c:pt idx="3">
                  <c:v>40</c:v>
                </c:pt>
                <c:pt idx="4">
                  <c:v>25</c:v>
                </c:pt>
                <c:pt idx="5">
                  <c:v>37</c:v>
                </c:pt>
                <c:pt idx="6">
                  <c:v>32</c:v>
                </c:pt>
                <c:pt idx="7">
                  <c:v>46</c:v>
                </c:pt>
                <c:pt idx="8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D2D2D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2D2D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9525" cap="flat">
              <a:solidFill>
                <a:srgbClr val="2626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686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D2D2D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_TITLE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74520"/>
            <a:ext cx="658368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800" b="1" spc="-3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8800" b="1" spc="-300" kern="0" dirty="0">
                <a:solidFill>
                  <a:schemeClr val="tx1"/>
                </a:solidFill>
              </a:rPr>
              <a:t> </a:t>
            </a:r>
            <a:endParaRPr lang="en-US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310128"/>
            <a:ext cx="54864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 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572000"/>
            <a:ext cx="6400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spc="100" kern="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300" spc="100" kern="0" dirty="0">
                <a:solidFill>
                  <a:schemeClr val="tx2"/>
                </a:solidFill>
              </a:rPr>
              <a:t> 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spc="-12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 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_CENTER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spc="-12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 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_STATEMENT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43000" y="1783080"/>
            <a:ext cx="9905695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spc="-60" kern="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400" b="1" spc="-60" kern="0" dirty="0">
                <a:solidFill>
                  <a:schemeClr val="tx1"/>
                </a:solidFill>
              </a:rPr>
              <a:t> 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846320"/>
            <a:ext cx="1054577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spc="100" kern="0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spc="100" kern="0" dirty="0">
                <a:solidFill>
                  <a:schemeClr val="tx2"/>
                </a:solidFill>
              </a:rPr>
              <a:t> 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askaran-Singh-ops/AeroDSL" TargetMode="External"/><Relationship Id="rId2" Type="http://schemas.openxmlformats.org/officeDocument/2006/relationships/hyperlink" Target="https://github.com/Jaskaran-Singh-ops/AeroDSL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askaran-Singh-ops/AeroDSL" TargetMode="Externa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mb22_title"/>
          <p:cNvSpPr/>
          <p:nvPr/>
        </p:nvSpPr>
        <p:spPr>
          <a:xfrm>
            <a:off x="5577840" y="-91440"/>
            <a:ext cx="7863840" cy="6217920"/>
          </a:xfrm>
          <a:prstGeom prst="ellipse">
            <a:avLst/>
          </a:prstGeom>
          <a:gradFill rotWithShape="1">
            <a:gsLst>
              <a:gs pos="0">
                <a:schemeClr val="accent1">
                  <a:lumMod val="22000"/>
                </a:schemeClr>
              </a:gs>
              <a:gs pos="70000">
                <a:schemeClr val="bg1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ring0"/>
          <p:cNvSpPr/>
          <p:nvPr/>
        </p:nvSpPr>
        <p:spPr>
          <a:xfrm>
            <a:off x="8229600" y="2468880"/>
            <a:ext cx="2194560" cy="2194560"/>
          </a:xfrm>
          <a:prstGeom prst="ellipse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4" name="ring1"/>
          <p:cNvSpPr/>
          <p:nvPr/>
        </p:nvSpPr>
        <p:spPr>
          <a:xfrm>
            <a:off x="7132320" y="1371600"/>
            <a:ext cx="4389120" cy="4389120"/>
          </a:xfrm>
          <a:prstGeom prst="ellipse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5" name="ring2"/>
          <p:cNvSpPr/>
          <p:nvPr/>
        </p:nvSpPr>
        <p:spPr>
          <a:xfrm>
            <a:off x="6035040" y="274320"/>
            <a:ext cx="6583680" cy="6583680"/>
          </a:xfrm>
          <a:prstGeom prst="ellipse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6" name="ring3"/>
          <p:cNvSpPr/>
          <p:nvPr/>
        </p:nvSpPr>
        <p:spPr>
          <a:xfrm>
            <a:off x="4937760" y="-822960"/>
            <a:ext cx="8778240" cy="8778240"/>
          </a:xfrm>
          <a:prstGeom prst="ellipse">
            <a:avLst/>
          </a:prstGeom>
          <a:ln w="9525">
            <a:solidFill>
              <a:schemeClr val="accent6"/>
            </a:solidFill>
            <a:prstDash val="solid"/>
          </a:ln>
        </p:spPr>
      </p:sp>
      <p:sp>
        <p:nvSpPr>
          <p:cNvPr id="7" name="faint0"/>
          <p:cNvSpPr/>
          <p:nvPr/>
        </p:nvSpPr>
        <p:spPr>
          <a:xfrm>
            <a:off x="4389120" y="5669280"/>
            <a:ext cx="8686800" cy="1920240"/>
          </a:xfrm>
          <a:custGeom>
            <a:avLst/>
            <a:gdLst/>
            <a:ahLst/>
            <a:cxnLst/>
            <a:rect l="l" t="t" r="r" b="b"/>
            <a:pathLst>
              <a:path w="8686800" h="1920240">
                <a:moveTo>
                  <a:pt x="0" y="1920240"/>
                </a:moveTo>
                <a:cubicBezTo>
                  <a:pt x="3291840" y="1005840"/>
                  <a:pt x="6035040" y="914400"/>
                  <a:pt x="8686800" y="0"/>
                </a:cubicBezTo>
              </a:path>
            </a:pathLst>
          </a:custGeom>
          <a:ln w="9525">
            <a:solidFill>
              <a:schemeClr val="accent5"/>
            </a:solidFill>
            <a:prstDash val="solid"/>
          </a:ln>
        </p:spPr>
      </p:sp>
      <p:sp>
        <p:nvSpPr>
          <p:cNvPr id="8" name="faint1"/>
          <p:cNvSpPr/>
          <p:nvPr/>
        </p:nvSpPr>
        <p:spPr>
          <a:xfrm>
            <a:off x="10424160" y="-365760"/>
            <a:ext cx="2834640" cy="6766560"/>
          </a:xfrm>
          <a:custGeom>
            <a:avLst/>
            <a:gdLst/>
            <a:ahLst/>
            <a:cxnLst/>
            <a:rect l="l" t="t" r="r" b="b"/>
            <a:pathLst>
              <a:path w="2834640" h="6766560">
                <a:moveTo>
                  <a:pt x="1097280" y="0"/>
                </a:moveTo>
                <a:cubicBezTo>
                  <a:pt x="0" y="2011680"/>
                  <a:pt x="914400" y="4572000"/>
                  <a:pt x="2834640" y="6766560"/>
                </a:cubicBezTo>
              </a:path>
            </a:pathLst>
          </a:cu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silver0"/>
          <p:cNvSpPr/>
          <p:nvPr/>
        </p:nvSpPr>
        <p:spPr>
          <a:xfrm>
            <a:off x="5120640" y="4114800"/>
            <a:ext cx="7680960" cy="3200400"/>
          </a:xfrm>
          <a:custGeom>
            <a:avLst/>
            <a:gdLst/>
            <a:ahLst/>
            <a:cxnLst/>
            <a:rect l="l" t="t" r="r" b="b"/>
            <a:pathLst>
              <a:path w="7680960" h="3200400">
                <a:moveTo>
                  <a:pt x="0" y="3200400"/>
                </a:moveTo>
                <a:cubicBezTo>
                  <a:pt x="2194560" y="1645920"/>
                  <a:pt x="4206240" y="1097280"/>
                  <a:pt x="7680960" y="0"/>
                </a:cubicBezTo>
              </a:path>
            </a:pathLst>
          </a:custGeom>
          <a:ln w="11430">
            <a:solidFill>
              <a:schemeClr val="accent4"/>
            </a:solidFill>
            <a:prstDash val="solid"/>
          </a:ln>
        </p:spPr>
      </p:sp>
      <p:sp>
        <p:nvSpPr>
          <p:cNvPr id="10" name="ac0"/>
          <p:cNvSpPr/>
          <p:nvPr/>
        </p:nvSpPr>
        <p:spPr>
          <a:xfrm rot="4260000">
            <a:off x="9333601" y="5135602"/>
            <a:ext cx="100584" cy="155448"/>
          </a:xfrm>
          <a:prstGeom prst="triangle">
            <a:avLst/>
          </a:prstGeom>
          <a:solidFill>
            <a:schemeClr val="accent3"/>
          </a:solidFill>
          <a:ln/>
        </p:spPr>
      </p:sp>
      <p:sp>
        <p:nvSpPr>
          <p:cNvPr id="11" name="acl0"/>
          <p:cNvSpPr txBox="1"/>
          <p:nvPr/>
        </p:nvSpPr>
        <p:spPr>
          <a:xfrm>
            <a:off x="9511909" y="492071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BA117</a:t>
            </a:r>
            <a:endParaRPr lang="en-US" sz="900" dirty="0"/>
          </a:p>
        </p:txBody>
      </p:sp>
      <p:sp>
        <p:nvSpPr>
          <p:cNvPr id="12" name="silver1"/>
          <p:cNvSpPr/>
          <p:nvPr/>
        </p:nvSpPr>
        <p:spPr>
          <a:xfrm>
            <a:off x="7955280" y="365760"/>
            <a:ext cx="4754880" cy="5669280"/>
          </a:xfrm>
          <a:custGeom>
            <a:avLst/>
            <a:gdLst/>
            <a:ahLst/>
            <a:cxnLst/>
            <a:rect l="l" t="t" r="r" b="b"/>
            <a:pathLst>
              <a:path w="4754880" h="5669280">
                <a:moveTo>
                  <a:pt x="4754880" y="5669280"/>
                </a:moveTo>
                <a:cubicBezTo>
                  <a:pt x="2834640" y="5029200"/>
                  <a:pt x="1097280" y="3840480"/>
                  <a:pt x="0" y="0"/>
                </a:cubicBezTo>
              </a:path>
            </a:pathLst>
          </a:custGeom>
          <a:ln w="11430">
            <a:solidFill>
              <a:schemeClr val="accent4"/>
            </a:solidFill>
            <a:prstDash val="solid"/>
          </a:ln>
        </p:spPr>
      </p:sp>
      <p:sp>
        <p:nvSpPr>
          <p:cNvPr id="13" name="ac1"/>
          <p:cNvSpPr/>
          <p:nvPr/>
        </p:nvSpPr>
        <p:spPr>
          <a:xfrm rot="-2940000">
            <a:off x="10371019" y="4704659"/>
            <a:ext cx="100584" cy="155448"/>
          </a:xfrm>
          <a:prstGeom prst="triangle">
            <a:avLst/>
          </a:prstGeom>
          <a:solidFill>
            <a:schemeClr val="accent3"/>
          </a:solidFill>
          <a:ln/>
        </p:spPr>
      </p:sp>
      <p:sp>
        <p:nvSpPr>
          <p:cNvPr id="14" name="acl1"/>
          <p:cNvSpPr txBox="1"/>
          <p:nvPr/>
        </p:nvSpPr>
        <p:spPr>
          <a:xfrm>
            <a:off x="10549327" y="4489775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SG811</a:t>
            </a:r>
            <a:endParaRPr lang="en-US" sz="900" dirty="0"/>
          </a:p>
        </p:txBody>
      </p:sp>
      <p:sp>
        <p:nvSpPr>
          <p:cNvPr id="15" name="silver2"/>
          <p:cNvSpPr/>
          <p:nvPr/>
        </p:nvSpPr>
        <p:spPr>
          <a:xfrm>
            <a:off x="6766560" y="-457200"/>
            <a:ext cx="6217920" cy="3108960"/>
          </a:xfrm>
          <a:custGeom>
            <a:avLst/>
            <a:gdLst/>
            <a:ahLst/>
            <a:cxnLst/>
            <a:rect l="l" t="t" r="r" b="b"/>
            <a:pathLst>
              <a:path w="6217920" h="3108960">
                <a:moveTo>
                  <a:pt x="0" y="0"/>
                </a:moveTo>
                <a:cubicBezTo>
                  <a:pt x="1645920" y="1645920"/>
                  <a:pt x="2926080" y="1737360"/>
                  <a:pt x="6217920" y="3108960"/>
                </a:cubicBezTo>
              </a:path>
            </a:pathLst>
          </a:custGeom>
          <a:ln w="11430">
            <a:solidFill>
              <a:schemeClr val="accent4"/>
            </a:solidFill>
            <a:prstDash val="solid"/>
          </a:ln>
        </p:spPr>
      </p:sp>
      <p:sp>
        <p:nvSpPr>
          <p:cNvPr id="16" name="ac2"/>
          <p:cNvSpPr/>
          <p:nvPr/>
        </p:nvSpPr>
        <p:spPr>
          <a:xfrm rot="6720000">
            <a:off x="9495655" y="1241767"/>
            <a:ext cx="100584" cy="155448"/>
          </a:xfrm>
          <a:prstGeom prst="triangle">
            <a:avLst/>
          </a:prstGeom>
          <a:solidFill>
            <a:schemeClr val="accent3"/>
          </a:solidFill>
          <a:ln/>
        </p:spPr>
      </p:sp>
      <p:sp>
        <p:nvSpPr>
          <p:cNvPr id="17" name="acl2"/>
          <p:cNvSpPr txBox="1"/>
          <p:nvPr/>
        </p:nvSpPr>
        <p:spPr>
          <a:xfrm>
            <a:off x="9673963" y="102688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QR572</a:t>
            </a:r>
            <a:endParaRPr lang="en-US" sz="900" dirty="0"/>
          </a:p>
        </p:txBody>
      </p:sp>
      <p:sp>
        <p:nvSpPr>
          <p:cNvPr id="18" name="hero_fadeL"/>
          <p:cNvSpPr/>
          <p:nvPr/>
        </p:nvSpPr>
        <p:spPr>
          <a:xfrm>
            <a:off x="3108960" y="2240280"/>
            <a:ext cx="7132320" cy="4983480"/>
          </a:xfrm>
          <a:custGeom>
            <a:avLst/>
            <a:gdLst/>
            <a:ahLst/>
            <a:cxnLst/>
            <a:rect l="l" t="t" r="r" b="b"/>
            <a:pathLst>
              <a:path w="7132320" h="4983480">
                <a:moveTo>
                  <a:pt x="0" y="4983480"/>
                </a:moveTo>
                <a:cubicBezTo>
                  <a:pt x="2926080" y="3886200"/>
                  <a:pt x="4846320" y="960120"/>
                  <a:pt x="7132320" y="0"/>
                </a:cubicBezTo>
              </a:path>
            </a:pathLst>
          </a:custGeom>
          <a:ln w="22225">
            <a:gradFill>
              <a:gsLst>
                <a:gs pos="0">
                  <a:schemeClr val="accent1">
                    <a:alpha val="0"/>
                  </a:schemeClr>
                </a:gs>
                <a:gs pos="60000">
                  <a:schemeClr val="accent1"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  <a:prstDash val="solid"/>
          </a:ln>
        </p:spPr>
      </p:sp>
      <p:sp>
        <p:nvSpPr>
          <p:cNvPr id="19" name="heroNext"/>
          <p:cNvSpPr/>
          <p:nvPr/>
        </p:nvSpPr>
        <p:spPr>
          <a:xfrm>
            <a:off x="10241280" y="1737360"/>
            <a:ext cx="2468880" cy="502920"/>
          </a:xfrm>
          <a:custGeom>
            <a:avLst/>
            <a:gdLst/>
            <a:ahLst/>
            <a:cxnLst/>
            <a:rect l="l" t="t" r="r" b="b"/>
            <a:pathLst>
              <a:path w="2468880" h="502920">
                <a:moveTo>
                  <a:pt x="0" y="502920"/>
                </a:moveTo>
                <a:cubicBezTo>
                  <a:pt x="822960" y="155448"/>
                  <a:pt x="1554480" y="45720"/>
                  <a:pt x="2468880" y="0"/>
                </a:cubicBezTo>
              </a:path>
            </a:pathLst>
          </a:custGeom>
          <a:ln w="12700">
            <a:solidFill>
              <a:schemeClr val="accent1"/>
            </a:solidFill>
            <a:prstDash val="dash"/>
          </a:ln>
        </p:spPr>
      </p:sp>
      <p:sp>
        <p:nvSpPr>
          <p:cNvPr id="20" name="heroAc_halo"/>
          <p:cNvSpPr/>
          <p:nvPr/>
        </p:nvSpPr>
        <p:spPr>
          <a:xfrm rot="4020000">
            <a:off x="10172700" y="2130552"/>
            <a:ext cx="137160" cy="219456"/>
          </a:xfrm>
          <a:prstGeom prst="triangl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21" name="heroLabel"/>
          <p:cNvSpPr txBox="1"/>
          <p:nvPr/>
        </p:nvSpPr>
        <p:spPr>
          <a:xfrm>
            <a:off x="10287000" y="2423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endParaRPr lang="en-US" sz="1000" dirty="0"/>
          </a:p>
        </p:txBody>
      </p:sp>
      <p:sp>
        <p:nvSpPr>
          <p:cNvPr id="22" name="Text 0"/>
          <p:cNvSpPr/>
          <p:nvPr>
            <p:ph idx="100" type="title" hasCustomPrompt="1"/>
          </p:nvPr>
        </p:nvSpPr>
        <p:spPr>
          <a:xfrm>
            <a:off x="822960" y="187452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800" b="1" spc="-300" kern="0" dirty="0">
                <a:solidFill>
                  <a:schemeClr val="tx1"/>
                </a:solidFill>
              </a:rPr>
              <a:t>AeroDSL</a:t>
            </a:r>
            <a:endParaRPr lang="en-US" sz="8800" dirty="0"/>
          </a:p>
        </p:txBody>
      </p:sp>
      <p:sp>
        <p:nvSpPr>
          <p:cNvPr id="23" name="Text 0"/>
          <p:cNvSpPr/>
          <p:nvPr>
            <p:ph idx="101" type="body" hasCustomPrompt="1"/>
          </p:nvPr>
        </p:nvSpPr>
        <p:spPr>
          <a:xfrm>
            <a:off x="822960" y="331012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A compiler for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aircraft traffic scenarios.</a:t>
            </a:r>
            <a:endParaRPr lang="en-US" sz="2400" dirty="0"/>
          </a:p>
        </p:txBody>
      </p:sp>
      <p:sp>
        <p:nvSpPr>
          <p:cNvPr id="24" name="Text 0"/>
          <p:cNvSpPr/>
          <p:nvPr>
            <p:ph idx="102" type="body" hasCustomPrompt="1"/>
          </p:nvPr>
        </p:nvSpPr>
        <p:spPr>
          <a:xfrm>
            <a:off x="822960" y="45720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</a:rPr>
              <a:t>Review 3</a:t>
            </a:r>
            <a:r>
              <a:rPr lang="en-US" sz="1300" spc="100" kern="0" dirty="0">
                <a:solidFill>
                  <a:schemeClr val="tx2"/>
                </a:solidFill>
              </a:rPr>
              <a:t>  |  Implementation &amp; Results</a:t>
            </a:r>
            <a:endParaRPr lang="en-US" sz="1300" dirty="0"/>
          </a:p>
        </p:txBody>
      </p:sp>
      <p:sp>
        <p:nvSpPr>
          <p:cNvPr id="25" name="course"/>
          <p:cNvSpPr txBox="1"/>
          <p:nvPr/>
        </p:nvSpPr>
        <p:spPr>
          <a:xfrm>
            <a:off x="822960" y="4956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Compiler Design (BCSE307L)</a:t>
            </a:r>
            <a:endParaRPr lang="en-US" sz="1200" dirty="0"/>
          </a:p>
        </p:txBody>
      </p:sp>
      <p:sp>
        <p:nvSpPr>
          <p:cNvPr id="26" name="team_rule"/>
          <p:cNvSpPr/>
          <p:nvPr/>
        </p:nvSpPr>
        <p:spPr>
          <a:xfrm>
            <a:off x="822960" y="5413248"/>
            <a:ext cx="411480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7" name="tm0_n"/>
          <p:cNvSpPr txBox="1"/>
          <p:nvPr/>
        </p:nvSpPr>
        <p:spPr>
          <a:xfrm>
            <a:off x="822960" y="55229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Kaustav Goel</a:t>
            </a:r>
            <a:endParaRPr lang="en-US" sz="1250" dirty="0"/>
          </a:p>
        </p:txBody>
      </p:sp>
      <p:sp>
        <p:nvSpPr>
          <p:cNvPr id="28" name="tm0_r"/>
          <p:cNvSpPr txBox="1"/>
          <p:nvPr/>
        </p:nvSpPr>
        <p:spPr>
          <a:xfrm>
            <a:off x="822960" y="5760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24BCE0426</a:t>
            </a:r>
            <a:endParaRPr lang="en-US" sz="1050" dirty="0"/>
          </a:p>
        </p:txBody>
      </p:sp>
      <p:sp>
        <p:nvSpPr>
          <p:cNvPr id="29" name="tm1_n"/>
          <p:cNvSpPr txBox="1"/>
          <p:nvPr/>
        </p:nvSpPr>
        <p:spPr>
          <a:xfrm>
            <a:off x="2971800" y="552297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Jaskaran Singh</a:t>
            </a:r>
            <a:endParaRPr lang="en-US" sz="1250" dirty="0"/>
          </a:p>
        </p:txBody>
      </p:sp>
      <p:sp>
        <p:nvSpPr>
          <p:cNvPr id="30" name="tm1_r"/>
          <p:cNvSpPr txBox="1"/>
          <p:nvPr/>
        </p:nvSpPr>
        <p:spPr>
          <a:xfrm>
            <a:off x="2971800" y="57607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24BCE0466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Index.</a:t>
            </a:r>
            <a:endParaRPr lang="en-US" sz="4400" dirty="0"/>
          </a:p>
        </p:txBody>
      </p:sp>
      <p:sp>
        <p:nvSpPr>
          <p:cNvPr id="3" name="ix_kl"/>
          <p:cNvSpPr txBox="1"/>
          <p:nvPr/>
        </p:nvSpPr>
        <p:spPr>
          <a:xfrm>
            <a:off x="1389888" y="1645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SECTION</a:t>
            </a:r>
            <a:endParaRPr lang="en-US" sz="950" dirty="0"/>
          </a:p>
        </p:txBody>
      </p:sp>
      <p:sp>
        <p:nvSpPr>
          <p:cNvPr id="4" name="ix_kp"/>
          <p:cNvSpPr txBox="1"/>
          <p:nvPr/>
        </p:nvSpPr>
        <p:spPr>
          <a:xfrm>
            <a:off x="4864608" y="1645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SLIDE</a:t>
            </a:r>
            <a:endParaRPr lang="en-US" sz="950" dirty="0"/>
          </a:p>
        </p:txBody>
      </p:sp>
      <p:sp>
        <p:nvSpPr>
          <p:cNvPr id="5" name="ix_kl2"/>
          <p:cNvSpPr txBox="1"/>
          <p:nvPr/>
        </p:nvSpPr>
        <p:spPr>
          <a:xfrm>
            <a:off x="6979615" y="1645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SECTION</a:t>
            </a:r>
            <a:endParaRPr lang="en-US" sz="950" dirty="0"/>
          </a:p>
        </p:txBody>
      </p:sp>
      <p:sp>
        <p:nvSpPr>
          <p:cNvPr id="6" name="ix_kp2"/>
          <p:cNvSpPr txBox="1"/>
          <p:nvPr/>
        </p:nvSpPr>
        <p:spPr>
          <a:xfrm>
            <a:off x="10454335" y="16459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SLIDE</a:t>
            </a:r>
            <a:endParaRPr lang="en-US" sz="950" dirty="0"/>
          </a:p>
        </p:txBody>
      </p:sp>
      <p:sp>
        <p:nvSpPr>
          <p:cNvPr id="7" name="ix0_r"/>
          <p:cNvSpPr/>
          <p:nvPr/>
        </p:nvSpPr>
        <p:spPr>
          <a:xfrm>
            <a:off x="822960" y="193852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ix0_n"/>
          <p:cNvSpPr txBox="1"/>
          <p:nvPr/>
        </p:nvSpPr>
        <p:spPr>
          <a:xfrm>
            <a:off x="82296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ix0_h"/>
          <p:cNvSpPr txBox="1"/>
          <p:nvPr/>
        </p:nvSpPr>
        <p:spPr>
          <a:xfrm>
            <a:off x="1389888" y="20299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Abstract</a:t>
            </a:r>
            <a:endParaRPr lang="en-US" sz="1600" dirty="0"/>
          </a:p>
        </p:txBody>
      </p:sp>
      <p:sp>
        <p:nvSpPr>
          <p:cNvPr id="10" name="ix0_d"/>
          <p:cNvSpPr txBox="1"/>
          <p:nvPr/>
        </p:nvSpPr>
        <p:spPr>
          <a:xfrm>
            <a:off x="1389888" y="230428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project in one paragraph</a:t>
            </a:r>
            <a:endParaRPr lang="en-US" sz="1150" dirty="0"/>
          </a:p>
        </p:txBody>
      </p:sp>
      <p:sp>
        <p:nvSpPr>
          <p:cNvPr id="11" name="ix0_p"/>
          <p:cNvSpPr txBox="1"/>
          <p:nvPr/>
        </p:nvSpPr>
        <p:spPr>
          <a:xfrm>
            <a:off x="4864608" y="2066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ix1_r"/>
          <p:cNvSpPr/>
          <p:nvPr/>
        </p:nvSpPr>
        <p:spPr>
          <a:xfrm>
            <a:off x="822960" y="256032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3" name="ix1_n"/>
          <p:cNvSpPr txBox="1"/>
          <p:nvPr/>
        </p:nvSpPr>
        <p:spPr>
          <a:xfrm>
            <a:off x="822960" y="2688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ix1_h"/>
          <p:cNvSpPr txBox="1"/>
          <p:nvPr/>
        </p:nvSpPr>
        <p:spPr>
          <a:xfrm>
            <a:off x="1389888" y="26517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15" name="ix1_d"/>
          <p:cNvSpPr txBox="1"/>
          <p:nvPr/>
        </p:nvSpPr>
        <p:spPr>
          <a:xfrm>
            <a:off x="1389888" y="29260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problem, and our answer</a:t>
            </a:r>
            <a:endParaRPr lang="en-US" sz="1150" dirty="0"/>
          </a:p>
        </p:txBody>
      </p:sp>
      <p:sp>
        <p:nvSpPr>
          <p:cNvPr id="16" name="ix1_p"/>
          <p:cNvSpPr txBox="1"/>
          <p:nvPr/>
        </p:nvSpPr>
        <p:spPr>
          <a:xfrm>
            <a:off x="4864608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ix2_r"/>
          <p:cNvSpPr/>
          <p:nvPr/>
        </p:nvSpPr>
        <p:spPr>
          <a:xfrm>
            <a:off x="822960" y="3182112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8" name="ix2_n"/>
          <p:cNvSpPr txBox="1"/>
          <p:nvPr/>
        </p:nvSpPr>
        <p:spPr>
          <a:xfrm>
            <a:off x="822960" y="3310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ix2_h"/>
          <p:cNvSpPr txBox="1"/>
          <p:nvPr/>
        </p:nvSpPr>
        <p:spPr>
          <a:xfrm>
            <a:off x="1389888" y="32735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Architecture diagram</a:t>
            </a:r>
            <a:endParaRPr lang="en-US" sz="1600" dirty="0"/>
          </a:p>
        </p:txBody>
      </p:sp>
      <p:sp>
        <p:nvSpPr>
          <p:cNvPr id="20" name="ix2_d"/>
          <p:cNvSpPr txBox="1"/>
          <p:nvPr/>
        </p:nvSpPr>
        <p:spPr>
          <a:xfrm>
            <a:off x="1389888" y="35478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whole compiler, connected</a:t>
            </a:r>
            <a:endParaRPr lang="en-US" sz="1150" dirty="0"/>
          </a:p>
        </p:txBody>
      </p:sp>
      <p:sp>
        <p:nvSpPr>
          <p:cNvPr id="21" name="ix2_p"/>
          <p:cNvSpPr txBox="1"/>
          <p:nvPr/>
        </p:nvSpPr>
        <p:spPr>
          <a:xfrm>
            <a:off x="4864608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ix3_r"/>
          <p:cNvSpPr/>
          <p:nvPr/>
        </p:nvSpPr>
        <p:spPr>
          <a:xfrm>
            <a:off x="822960" y="3803904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3" name="ix3_n"/>
          <p:cNvSpPr txBox="1"/>
          <p:nvPr/>
        </p:nvSpPr>
        <p:spPr>
          <a:xfrm>
            <a:off x="822960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ix3_h"/>
          <p:cNvSpPr txBox="1"/>
          <p:nvPr/>
        </p:nvSpPr>
        <p:spPr>
          <a:xfrm>
            <a:off x="1389888" y="389534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Sample code</a:t>
            </a:r>
            <a:endParaRPr lang="en-US" sz="1600" dirty="0"/>
          </a:p>
        </p:txBody>
      </p:sp>
      <p:sp>
        <p:nvSpPr>
          <p:cNvPr id="25" name="ix3_d"/>
          <p:cNvSpPr txBox="1"/>
          <p:nvPr/>
        </p:nvSpPr>
        <p:spPr>
          <a:xfrm>
            <a:off x="1389888" y="416966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 scenario, written as a program</a:t>
            </a:r>
            <a:endParaRPr lang="en-US" sz="1150" dirty="0"/>
          </a:p>
        </p:txBody>
      </p:sp>
      <p:sp>
        <p:nvSpPr>
          <p:cNvPr id="26" name="ix3_p"/>
          <p:cNvSpPr txBox="1"/>
          <p:nvPr/>
        </p:nvSpPr>
        <p:spPr>
          <a:xfrm>
            <a:off x="4864608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ix4_r"/>
          <p:cNvSpPr/>
          <p:nvPr/>
        </p:nvSpPr>
        <p:spPr>
          <a:xfrm>
            <a:off x="822960" y="4425696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ix4_n"/>
          <p:cNvSpPr txBox="1"/>
          <p:nvPr/>
        </p:nvSpPr>
        <p:spPr>
          <a:xfrm>
            <a:off x="822960" y="4553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ix4_h"/>
          <p:cNvSpPr txBox="1"/>
          <p:nvPr/>
        </p:nvSpPr>
        <p:spPr>
          <a:xfrm>
            <a:off x="1389888" y="45171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Sample output</a:t>
            </a:r>
            <a:endParaRPr lang="en-US" sz="1600" dirty="0"/>
          </a:p>
        </p:txBody>
      </p:sp>
      <p:sp>
        <p:nvSpPr>
          <p:cNvPr id="30" name="ix4_d"/>
          <p:cNvSpPr txBox="1"/>
          <p:nvPr/>
        </p:nvSpPr>
        <p:spPr>
          <a:xfrm>
            <a:off x="1389888" y="479145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Example 5, compiled and run</a:t>
            </a:r>
            <a:endParaRPr lang="en-US" sz="1150" dirty="0"/>
          </a:p>
        </p:txBody>
      </p:sp>
      <p:sp>
        <p:nvSpPr>
          <p:cNvPr id="31" name="ix4_p"/>
          <p:cNvSpPr txBox="1"/>
          <p:nvPr/>
        </p:nvSpPr>
        <p:spPr>
          <a:xfrm>
            <a:off x="4864608" y="4553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ix5_r"/>
          <p:cNvSpPr/>
          <p:nvPr/>
        </p:nvSpPr>
        <p:spPr>
          <a:xfrm>
            <a:off x="822960" y="504748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3" name="ix5_n"/>
          <p:cNvSpPr txBox="1"/>
          <p:nvPr/>
        </p:nvSpPr>
        <p:spPr>
          <a:xfrm>
            <a:off x="822960" y="5175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ix5_h"/>
          <p:cNvSpPr txBox="1"/>
          <p:nvPr/>
        </p:nvSpPr>
        <p:spPr>
          <a:xfrm>
            <a:off x="1389888" y="513892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Results: AeroDSL vs BlueSky</a:t>
            </a:r>
            <a:endParaRPr lang="en-US" sz="1600" dirty="0"/>
          </a:p>
        </p:txBody>
      </p:sp>
      <p:sp>
        <p:nvSpPr>
          <p:cNvPr id="35" name="ix5_d"/>
          <p:cNvSpPr txBox="1"/>
          <p:nvPr/>
        </p:nvSpPr>
        <p:spPr>
          <a:xfrm>
            <a:off x="1389888" y="541324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Written both ways, edited, scored, replayed</a:t>
            </a:r>
            <a:endParaRPr lang="en-US" sz="1150" dirty="0"/>
          </a:p>
        </p:txBody>
      </p:sp>
      <p:sp>
        <p:nvSpPr>
          <p:cNvPr id="36" name="ix5_p"/>
          <p:cNvSpPr txBox="1"/>
          <p:nvPr/>
        </p:nvSpPr>
        <p:spPr>
          <a:xfrm>
            <a:off x="4864608" y="5175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8–12</a:t>
            </a:r>
            <a:endParaRPr lang="en-US" sz="1300" dirty="0"/>
          </a:p>
        </p:txBody>
      </p:sp>
      <p:sp>
        <p:nvSpPr>
          <p:cNvPr id="37" name="ix6_r"/>
          <p:cNvSpPr/>
          <p:nvPr/>
        </p:nvSpPr>
        <p:spPr>
          <a:xfrm>
            <a:off x="6412687" y="193852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8" name="ix6_n"/>
          <p:cNvSpPr txBox="1"/>
          <p:nvPr/>
        </p:nvSpPr>
        <p:spPr>
          <a:xfrm>
            <a:off x="6412687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ix6_h"/>
          <p:cNvSpPr txBox="1"/>
          <p:nvPr/>
        </p:nvSpPr>
        <p:spPr>
          <a:xfrm>
            <a:off x="6979615" y="202996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Testing</a:t>
            </a:r>
            <a:endParaRPr lang="en-US" sz="1600" dirty="0"/>
          </a:p>
        </p:txBody>
      </p:sp>
      <p:sp>
        <p:nvSpPr>
          <p:cNvPr id="40" name="ix6_d"/>
          <p:cNvSpPr txBox="1"/>
          <p:nvPr/>
        </p:nvSpPr>
        <p:spPr>
          <a:xfrm>
            <a:off x="6979615" y="230428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336 checks, differential test, fuzzing</a:t>
            </a:r>
            <a:endParaRPr lang="en-US" sz="1150" dirty="0"/>
          </a:p>
        </p:txBody>
      </p:sp>
      <p:sp>
        <p:nvSpPr>
          <p:cNvPr id="41" name="ix6_p"/>
          <p:cNvSpPr txBox="1"/>
          <p:nvPr/>
        </p:nvSpPr>
        <p:spPr>
          <a:xfrm>
            <a:off x="10454335" y="2066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42" name="ix7_r"/>
          <p:cNvSpPr/>
          <p:nvPr/>
        </p:nvSpPr>
        <p:spPr>
          <a:xfrm>
            <a:off x="6412687" y="256032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3" name="ix7_n"/>
          <p:cNvSpPr txBox="1"/>
          <p:nvPr/>
        </p:nvSpPr>
        <p:spPr>
          <a:xfrm>
            <a:off x="6412687" y="2688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ix7_h"/>
          <p:cNvSpPr txBox="1"/>
          <p:nvPr/>
        </p:nvSpPr>
        <p:spPr>
          <a:xfrm>
            <a:off x="6979615" y="26517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demo</a:t>
            </a:r>
            <a:endParaRPr lang="en-US" sz="1600" dirty="0"/>
          </a:p>
        </p:txBody>
      </p:sp>
      <p:sp>
        <p:nvSpPr>
          <p:cNvPr id="45" name="ix7_d"/>
          <p:cNvSpPr txBox="1"/>
          <p:nvPr/>
        </p:nvSpPr>
        <p:spPr>
          <a:xfrm>
            <a:off x="6979615" y="29260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compiler, phase by phase</a:t>
            </a:r>
            <a:endParaRPr lang="en-US" sz="1150" dirty="0"/>
          </a:p>
        </p:txBody>
      </p:sp>
      <p:sp>
        <p:nvSpPr>
          <p:cNvPr id="46" name="ix7_p"/>
          <p:cNvSpPr txBox="1"/>
          <p:nvPr/>
        </p:nvSpPr>
        <p:spPr>
          <a:xfrm>
            <a:off x="10454335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00" dirty="0"/>
          </a:p>
        </p:txBody>
      </p:sp>
      <p:sp>
        <p:nvSpPr>
          <p:cNvPr id="47" name="ix8_r"/>
          <p:cNvSpPr/>
          <p:nvPr/>
        </p:nvSpPr>
        <p:spPr>
          <a:xfrm>
            <a:off x="6412687" y="3182112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8" name="ix8_n"/>
          <p:cNvSpPr txBox="1"/>
          <p:nvPr/>
        </p:nvSpPr>
        <p:spPr>
          <a:xfrm>
            <a:off x="6412687" y="3310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ix8_h"/>
          <p:cNvSpPr txBox="1"/>
          <p:nvPr/>
        </p:nvSpPr>
        <p:spPr>
          <a:xfrm>
            <a:off x="6979615" y="327355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GitHub repository</a:t>
            </a:r>
            <a:endParaRPr lang="en-US" sz="1600" dirty="0"/>
          </a:p>
        </p:txBody>
      </p:sp>
      <p:sp>
        <p:nvSpPr>
          <p:cNvPr id="50" name="ix8_d"/>
          <p:cNvSpPr txBox="1"/>
          <p:nvPr/>
        </p:nvSpPr>
        <p:spPr>
          <a:xfrm>
            <a:off x="6979615" y="3547872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link, and what is in it</a:t>
            </a:r>
            <a:endParaRPr lang="en-US" sz="1150" dirty="0"/>
          </a:p>
        </p:txBody>
      </p:sp>
      <p:sp>
        <p:nvSpPr>
          <p:cNvPr id="51" name="ix8_p"/>
          <p:cNvSpPr txBox="1"/>
          <p:nvPr/>
        </p:nvSpPr>
        <p:spPr>
          <a:xfrm>
            <a:off x="10454335" y="3310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52" name="ix9_r"/>
          <p:cNvSpPr/>
          <p:nvPr/>
        </p:nvSpPr>
        <p:spPr>
          <a:xfrm>
            <a:off x="6412687" y="3803904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3" name="ix9_n"/>
          <p:cNvSpPr txBox="1"/>
          <p:nvPr/>
        </p:nvSpPr>
        <p:spPr>
          <a:xfrm>
            <a:off x="6412687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ix9_h"/>
          <p:cNvSpPr txBox="1"/>
          <p:nvPr/>
        </p:nvSpPr>
        <p:spPr>
          <a:xfrm>
            <a:off x="6979615" y="389534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Steps to run</a:t>
            </a:r>
            <a:endParaRPr lang="en-US" sz="1600" dirty="0"/>
          </a:p>
        </p:txBody>
      </p:sp>
      <p:sp>
        <p:nvSpPr>
          <p:cNvPr id="55" name="ix9_d"/>
          <p:cNvSpPr txBox="1"/>
          <p:nvPr/>
        </p:nvSpPr>
        <p:spPr>
          <a:xfrm>
            <a:off x="6979615" y="416966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Windows, macOS, Linux, from source</a:t>
            </a:r>
            <a:endParaRPr lang="en-US" sz="1150" dirty="0"/>
          </a:p>
        </p:txBody>
      </p:sp>
      <p:sp>
        <p:nvSpPr>
          <p:cNvPr id="56" name="ix9_p"/>
          <p:cNvSpPr txBox="1"/>
          <p:nvPr/>
        </p:nvSpPr>
        <p:spPr>
          <a:xfrm>
            <a:off x="10454335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300" dirty="0"/>
          </a:p>
        </p:txBody>
      </p:sp>
      <p:sp>
        <p:nvSpPr>
          <p:cNvPr id="57" name="ix10_r"/>
          <p:cNvSpPr/>
          <p:nvPr/>
        </p:nvSpPr>
        <p:spPr>
          <a:xfrm>
            <a:off x="6412687" y="4425696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8" name="ix10_n"/>
          <p:cNvSpPr txBox="1"/>
          <p:nvPr/>
        </p:nvSpPr>
        <p:spPr>
          <a:xfrm>
            <a:off x="6412687" y="45537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59" name="ix10_h"/>
          <p:cNvSpPr txBox="1"/>
          <p:nvPr/>
        </p:nvSpPr>
        <p:spPr>
          <a:xfrm>
            <a:off x="6979615" y="45171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Limits and future work</a:t>
            </a:r>
            <a:endParaRPr lang="en-US" sz="1600" dirty="0"/>
          </a:p>
        </p:txBody>
      </p:sp>
      <p:sp>
        <p:nvSpPr>
          <p:cNvPr id="60" name="ix10_d"/>
          <p:cNvSpPr txBox="1"/>
          <p:nvPr/>
        </p:nvSpPr>
        <p:spPr>
          <a:xfrm>
            <a:off x="6979615" y="479145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What it does not do, yet</a:t>
            </a:r>
            <a:endParaRPr lang="en-US" sz="1150" dirty="0"/>
          </a:p>
        </p:txBody>
      </p:sp>
      <p:sp>
        <p:nvSpPr>
          <p:cNvPr id="61" name="ix10_p"/>
          <p:cNvSpPr txBox="1"/>
          <p:nvPr/>
        </p:nvSpPr>
        <p:spPr>
          <a:xfrm>
            <a:off x="10454335" y="4553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300" dirty="0"/>
          </a:p>
        </p:txBody>
      </p:sp>
      <p:sp>
        <p:nvSpPr>
          <p:cNvPr id="62" name="ix11_r"/>
          <p:cNvSpPr/>
          <p:nvPr/>
        </p:nvSpPr>
        <p:spPr>
          <a:xfrm>
            <a:off x="6412687" y="5047488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3" name="ix11_n"/>
          <p:cNvSpPr txBox="1"/>
          <p:nvPr/>
        </p:nvSpPr>
        <p:spPr>
          <a:xfrm>
            <a:off x="6412687" y="5175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00" dirty="0"/>
          </a:p>
        </p:txBody>
      </p:sp>
      <p:sp>
        <p:nvSpPr>
          <p:cNvPr id="64" name="ix11_h"/>
          <p:cNvSpPr txBox="1"/>
          <p:nvPr/>
        </p:nvSpPr>
        <p:spPr>
          <a:xfrm>
            <a:off x="6979615" y="513892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References</a:t>
            </a:r>
            <a:endParaRPr lang="en-US" sz="1600" dirty="0"/>
          </a:p>
        </p:txBody>
      </p:sp>
      <p:sp>
        <p:nvSpPr>
          <p:cNvPr id="65" name="ix11_d"/>
          <p:cNvSpPr txBox="1"/>
          <p:nvPr/>
        </p:nvSpPr>
        <p:spPr>
          <a:xfrm>
            <a:off x="6979615" y="5413248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What we built on</a:t>
            </a:r>
            <a:endParaRPr lang="en-US" sz="1150" dirty="0"/>
          </a:p>
        </p:txBody>
      </p:sp>
      <p:sp>
        <p:nvSpPr>
          <p:cNvPr id="66" name="ix11_p"/>
          <p:cNvSpPr txBox="1"/>
          <p:nvPr/>
        </p:nvSpPr>
        <p:spPr>
          <a:xfrm>
            <a:off x="10454335" y="5175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300" dirty="0"/>
          </a:p>
        </p:txBody>
      </p:sp>
      <p:sp>
        <p:nvSpPr>
          <p:cNvPr id="67" name="ix_end0"/>
          <p:cNvSpPr/>
          <p:nvPr/>
        </p:nvSpPr>
        <p:spPr>
          <a:xfrm>
            <a:off x="822960" y="566928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8" name="ix_end1"/>
          <p:cNvSpPr/>
          <p:nvPr/>
        </p:nvSpPr>
        <p:spPr>
          <a:xfrm>
            <a:off x="6412687" y="5669280"/>
            <a:ext cx="495604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Abstract.</a:t>
            </a:r>
            <a:endParaRPr lang="en-US" sz="4400" dirty="0"/>
          </a:p>
        </p:txBody>
      </p:sp>
      <p:sp>
        <p:nvSpPr>
          <p:cNvPr id="3" name="card_abs"/>
          <p:cNvSpPr/>
          <p:nvPr/>
        </p:nvSpPr>
        <p:spPr>
          <a:xfrm>
            <a:off x="822960" y="1901952"/>
            <a:ext cx="10545775" cy="3703320"/>
          </a:xfrm>
          <a:prstGeom prst="roundRect">
            <a:avLst>
              <a:gd name="adj" fmla="val 3951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abs_t"/>
          <p:cNvSpPr txBox="1"/>
          <p:nvPr/>
        </p:nvSpPr>
        <p:spPr>
          <a:xfrm>
            <a:off x="1207008" y="2194560"/>
            <a:ext cx="977767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chemeClr val="accent2"/>
                </a:solidFill>
              </a:rPr>
              <a:t>Air-traffic-control simulators such as BlueSky read training scenarios as flat lists of timestamped commands. Authors write them by hand: every time is worked out manually, nothing is checked before the file runs, and one small edit can move many lines. </a:t>
            </a:r>
            <a:r>
              <a:rPr lang="en-US" sz="1550" dirty="0">
                <a:solidFill>
                  <a:schemeClr val="accent1"/>
                </a:solidFill>
              </a:rPr>
              <a:t>AeroDSL</a:t>
            </a:r>
            <a:r>
              <a:rPr lang="en-US" sz="1550" dirty="0">
                <a:solidFill>
                  <a:schemeClr val="accent2"/>
                </a:solidFill>
              </a:rPr>
              <a:t> is a domain-specific language in which </a:t>
            </a:r>
            <a:r>
              <a:rPr lang="en-US" sz="1550" dirty="0">
                <a:solidFill>
                  <a:schemeClr val="accent1"/>
                </a:solidFill>
              </a:rPr>
              <a:t>a scenario is a program</a:t>
            </a:r>
            <a:r>
              <a:rPr lang="en-US" sz="1550" dirty="0">
                <a:solidFill>
                  <a:schemeClr val="accent2"/>
                </a:solidFill>
              </a:rPr>
              <a:t>, with named values, procedures, loops, conditionals and assertions, and a compiler, written in C11 with no libraries, that translates it into BlueSky’s .scn format. The compiler has </a:t>
            </a:r>
            <a:r>
              <a:rPr lang="en-US" sz="1550" dirty="0">
                <a:solidFill>
                  <a:schemeClr val="accent1"/>
                </a:solidFill>
              </a:rPr>
              <a:t>twelve stages</a:t>
            </a:r>
            <a:r>
              <a:rPr lang="en-US" sz="1550" dirty="0">
                <a:solidFill>
                  <a:schemeClr val="accent2"/>
                </a:solidFill>
              </a:rPr>
              <a:t>: a hand-written lexer, a recursive-descent LL(1) parser, scoped symbol tables and type checking, three-address code, a control-flow graph with SSA form, seven optimisation passes, domain range checks, register allocation and bytecode generation, a peephole pass, and a virtual machine that simulates the scenario to fix every timestamp. On a three-arrival scenario the author works out no numbers by hand, against 13 in the hand-written file, and four typical mistakes are reported </a:t>
            </a:r>
            <a:r>
              <a:rPr lang="en-US" sz="1550" dirty="0">
                <a:solidFill>
                  <a:schemeClr val="accent1"/>
                </a:solidFill>
              </a:rPr>
              <a:t>before anything runs</a:t>
            </a:r>
            <a:r>
              <a:rPr lang="en-US" sz="1550" dirty="0">
                <a:solidFill>
                  <a:schemeClr val="accent2"/>
                </a:solidFill>
              </a:rPr>
              <a:t>. All 336 automated checks pass, and the generated files run in BlueSky 1.1.1.</a:t>
            </a:r>
            <a:endParaRPr lang="en-US" sz="1550" dirty="0"/>
          </a:p>
        </p:txBody>
      </p:sp>
      <p:sp>
        <p:nvSpPr>
          <p:cNvPr id="5" name="kw_r"/>
          <p:cNvSpPr/>
          <p:nvPr/>
        </p:nvSpPr>
        <p:spPr>
          <a:xfrm>
            <a:off x="822960" y="5870448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kw_k"/>
          <p:cNvSpPr txBox="1"/>
          <p:nvPr/>
        </p:nvSpPr>
        <p:spPr>
          <a:xfrm>
            <a:off x="822960" y="6016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KEYWORDS</a:t>
            </a:r>
            <a:endParaRPr lang="en-US" sz="950" dirty="0"/>
          </a:p>
        </p:txBody>
      </p:sp>
      <p:sp>
        <p:nvSpPr>
          <p:cNvPr id="7" name="kw_t"/>
          <p:cNvSpPr txBox="1"/>
          <p:nvPr/>
        </p:nvSpPr>
        <p:spPr>
          <a:xfrm>
            <a:off x="2148840" y="5980176"/>
            <a:ext cx="92198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Domain-specific language  ·  compiler design  ·  recursive-descent parsing  ·  three-address code  ·  code optimisation  ·  air-traffic-control simulation  ·  BlueSky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We asked a question.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2"/>
                </a:solidFill>
              </a:rPr>
              <a:t>Then we built the compiler.</a:t>
            </a:r>
            <a:endParaRPr lang="en-US" sz="4400" dirty="0"/>
          </a:p>
        </p:txBody>
      </p:sp>
      <p:sp>
        <p:nvSpPr>
          <p:cNvPr id="3" name="card_stmt"/>
          <p:cNvSpPr/>
          <p:nvPr/>
        </p:nvSpPr>
        <p:spPr>
          <a:xfrm>
            <a:off x="822960" y="2834640"/>
            <a:ext cx="5623560" cy="2514600"/>
          </a:xfrm>
          <a:prstGeom prst="roundRect">
            <a:avLst>
              <a:gd name="adj" fmla="val 5818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tmt_k"/>
          <p:cNvSpPr txBox="1"/>
          <p:nvPr/>
        </p:nvSpPr>
        <p:spPr>
          <a:xfrm>
            <a:off x="1115568" y="2688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THE PROBLEM STATEMENT, FROM REVIEW 1</a:t>
            </a:r>
            <a:endParaRPr lang="en-US" sz="950" dirty="0"/>
          </a:p>
        </p:txBody>
      </p:sp>
      <p:sp>
        <p:nvSpPr>
          <p:cNvPr id="5" name="stmt_t"/>
          <p:cNvSpPr txBox="1"/>
          <p:nvPr/>
        </p:nvSpPr>
        <p:spPr>
          <a:xfrm>
            <a:off x="1115568" y="338328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How can a domain-specific language make aircraft traffic scenarios </a:t>
            </a:r>
            <a:r>
              <a:rPr lang="en-US" sz="1800" dirty="0">
                <a:solidFill>
                  <a:schemeClr val="accent1"/>
                </a:solidFill>
              </a:rPr>
              <a:t>easier to express</a:t>
            </a:r>
            <a:r>
              <a:rPr lang="en-US" sz="1800" dirty="0">
                <a:solidFill>
                  <a:schemeClr val="tx1"/>
                </a:solidFill>
              </a:rPr>
              <a:t> and </a:t>
            </a:r>
            <a:r>
              <a:rPr lang="en-US" sz="1800" dirty="0">
                <a:solidFill>
                  <a:schemeClr val="accent1"/>
                </a:solidFill>
              </a:rPr>
              <a:t>analyse</a:t>
            </a:r>
            <a:r>
              <a:rPr lang="en-US" sz="1800" dirty="0">
                <a:solidFill>
                  <a:schemeClr val="tx1"/>
                </a:solidFill>
              </a:rPr>
              <a:t>, while preserving </a:t>
            </a:r>
            <a:r>
              <a:rPr lang="en-US" sz="1800" dirty="0">
                <a:solidFill>
                  <a:schemeClr val="accent1"/>
                </a:solidFill>
              </a:rPr>
              <a:t>predictable generation into an existing scenario format</a:t>
            </a:r>
            <a:r>
              <a:rPr lang="en-US" sz="1800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6" name="ans_line"/>
          <p:cNvSpPr/>
          <p:nvPr/>
        </p:nvSpPr>
        <p:spPr>
          <a:xfrm>
            <a:off x="6876288" y="3182112"/>
            <a:ext cx="0" cy="164592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ans0_d_halo"/>
          <p:cNvSpPr/>
          <p:nvPr/>
        </p:nvSpPr>
        <p:spPr>
          <a:xfrm>
            <a:off x="6812280" y="3118104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8" name="ans0_h"/>
          <p:cNvSpPr txBox="1"/>
          <p:nvPr/>
        </p:nvSpPr>
        <p:spPr>
          <a:xfrm>
            <a:off x="7159752" y="2962656"/>
            <a:ext cx="42089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Express</a:t>
            </a:r>
            <a:endParaRPr lang="en-US" sz="2200" dirty="0"/>
          </a:p>
        </p:txBody>
      </p:sp>
      <p:sp>
        <p:nvSpPr>
          <p:cNvPr id="9" name="ans0_t"/>
          <p:cNvSpPr txBox="1"/>
          <p:nvPr/>
        </p:nvSpPr>
        <p:spPr>
          <a:xfrm>
            <a:off x="7159752" y="3383280"/>
            <a:ext cx="4208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language: named values, loops, procedures, assert.</a:t>
            </a:r>
            <a:endParaRPr lang="en-US" sz="1300" dirty="0"/>
          </a:p>
        </p:txBody>
      </p:sp>
      <p:sp>
        <p:nvSpPr>
          <p:cNvPr id="10" name="ans1_d_halo"/>
          <p:cNvSpPr/>
          <p:nvPr/>
        </p:nvSpPr>
        <p:spPr>
          <a:xfrm>
            <a:off x="6812280" y="3941064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11" name="ans1_h"/>
          <p:cNvSpPr txBox="1"/>
          <p:nvPr/>
        </p:nvSpPr>
        <p:spPr>
          <a:xfrm>
            <a:off x="7159752" y="3785616"/>
            <a:ext cx="42089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Analyse</a:t>
            </a:r>
            <a:endParaRPr lang="en-US" sz="2200" dirty="0"/>
          </a:p>
        </p:txBody>
      </p:sp>
      <p:sp>
        <p:nvSpPr>
          <p:cNvPr id="12" name="ans1_t"/>
          <p:cNvSpPr txBox="1"/>
          <p:nvPr/>
        </p:nvSpPr>
        <p:spPr>
          <a:xfrm>
            <a:off x="7159752" y="4206240"/>
            <a:ext cx="4208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checker: mistakes reported before anything runs.</a:t>
            </a:r>
            <a:endParaRPr lang="en-US" sz="1300" dirty="0"/>
          </a:p>
        </p:txBody>
      </p:sp>
      <p:sp>
        <p:nvSpPr>
          <p:cNvPr id="13" name="ans2_d_halo"/>
          <p:cNvSpPr/>
          <p:nvPr/>
        </p:nvSpPr>
        <p:spPr>
          <a:xfrm>
            <a:off x="6812280" y="4764024"/>
            <a:ext cx="128016" cy="128016"/>
          </a:xfrm>
          <a:prstGeom prst="ellips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14" name="ans2_h"/>
          <p:cNvSpPr txBox="1"/>
          <p:nvPr/>
        </p:nvSpPr>
        <p:spPr>
          <a:xfrm>
            <a:off x="7159752" y="4608576"/>
            <a:ext cx="42089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Generate</a:t>
            </a:r>
            <a:endParaRPr lang="en-US" sz="2200" dirty="0"/>
          </a:p>
        </p:txBody>
      </p:sp>
      <p:sp>
        <p:nvSpPr>
          <p:cNvPr id="15" name="ans2_t"/>
          <p:cNvSpPr txBox="1"/>
          <p:nvPr/>
        </p:nvSpPr>
        <p:spPr>
          <a:xfrm>
            <a:off x="7159752" y="5029200"/>
            <a:ext cx="4208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compiler: BlueSky’s .scn format, the same every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The whole compiler,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2"/>
                </a:solidFill>
              </a:rPr>
              <a:t>connected.</a:t>
            </a:r>
            <a:endParaRPr lang="en-US" sz="4400" dirty="0"/>
          </a:p>
        </p:txBody>
      </p:sp>
      <p:pic>
        <p:nvPicPr>
          <p:cNvPr id="3" name="arch_img" descr="AeroDSL compiler architecture: twelve stages from the .aero source to the BlueSky .scn file, with the symbol table, SSA, diagnostics and driver beside th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708" y="182880"/>
            <a:ext cx="4382947" cy="6492240"/>
          </a:xfrm>
          <a:prstGeom prst="rect">
            <a:avLst/>
          </a:prstGeom>
        </p:spPr>
      </p:pic>
      <p:sp>
        <p:nvSpPr>
          <p:cNvPr id="4" name="k0_r"/>
          <p:cNvSpPr/>
          <p:nvPr/>
        </p:nvSpPr>
        <p:spPr>
          <a:xfrm>
            <a:off x="822960" y="2615184"/>
            <a:ext cx="62542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k0_h"/>
          <p:cNvSpPr txBox="1"/>
          <p:nvPr/>
        </p:nvSpPr>
        <p:spPr>
          <a:xfrm>
            <a:off x="822960" y="2734056"/>
            <a:ext cx="6254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Twelve stages, four parts</a:t>
            </a:r>
            <a:endParaRPr lang="en-US" sz="1550" dirty="0"/>
          </a:p>
        </p:txBody>
      </p:sp>
      <p:sp>
        <p:nvSpPr>
          <p:cNvPr id="6" name="k0_d"/>
          <p:cNvSpPr txBox="1"/>
          <p:nvPr/>
        </p:nvSpPr>
        <p:spPr>
          <a:xfrm>
            <a:off x="822960" y="3054096"/>
            <a:ext cx="625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Front end, middle end, back end and runtime, in 20 C files and one header.</a:t>
            </a:r>
            <a:endParaRPr lang="en-US" sz="1200" dirty="0"/>
          </a:p>
        </p:txBody>
      </p:sp>
      <p:sp>
        <p:nvSpPr>
          <p:cNvPr id="7" name="k1_r"/>
          <p:cNvSpPr/>
          <p:nvPr/>
        </p:nvSpPr>
        <p:spPr>
          <a:xfrm>
            <a:off x="822960" y="3529584"/>
            <a:ext cx="62542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k1_h"/>
          <p:cNvSpPr txBox="1"/>
          <p:nvPr/>
        </p:nvSpPr>
        <p:spPr>
          <a:xfrm>
            <a:off x="822960" y="3648456"/>
            <a:ext cx="6254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Each arrow is a data structure</a:t>
            </a:r>
            <a:endParaRPr lang="en-US" sz="1550" dirty="0"/>
          </a:p>
        </p:txBody>
      </p:sp>
      <p:sp>
        <p:nvSpPr>
          <p:cNvPr id="9" name="k1_d"/>
          <p:cNvSpPr txBox="1"/>
          <p:nvPr/>
        </p:nvSpPr>
        <p:spPr>
          <a:xfrm>
            <a:off x="822960" y="3968496"/>
            <a:ext cx="625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Token[], AST, Ir[] quadruples, Block[], Bc[], the event trace: what one stage hands the next.</a:t>
            </a:r>
            <a:endParaRPr lang="en-US" sz="1200" dirty="0"/>
          </a:p>
        </p:txBody>
      </p:sp>
      <p:sp>
        <p:nvSpPr>
          <p:cNvPr id="10" name="k2_r"/>
          <p:cNvSpPr/>
          <p:nvPr/>
        </p:nvSpPr>
        <p:spPr>
          <a:xfrm>
            <a:off x="822960" y="4443984"/>
            <a:ext cx="62542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k2_h"/>
          <p:cNvSpPr txBox="1"/>
          <p:nvPr/>
        </p:nvSpPr>
        <p:spPr>
          <a:xfrm>
            <a:off x="822960" y="4562856"/>
            <a:ext cx="6254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Most stages can be printed</a:t>
            </a:r>
            <a:endParaRPr lang="en-US" sz="1550" dirty="0"/>
          </a:p>
        </p:txBody>
      </p:sp>
      <p:sp>
        <p:nvSpPr>
          <p:cNvPr id="12" name="k2_d"/>
          <p:cNvSpPr txBox="1"/>
          <p:nvPr/>
        </p:nvSpPr>
        <p:spPr>
          <a:xfrm>
            <a:off x="822960" y="4882896"/>
            <a:ext cx="625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--tokens  --ast  --ir  --cfg  --ssa  --opt-ir  --bc  --trace  --scn</a:t>
            </a:r>
            <a:endParaRPr lang="en-US" sz="1200" dirty="0"/>
          </a:p>
        </p:txBody>
      </p:sp>
      <p:sp>
        <p:nvSpPr>
          <p:cNvPr id="13" name="k3_r"/>
          <p:cNvSpPr/>
          <p:nvPr/>
        </p:nvSpPr>
        <p:spPr>
          <a:xfrm>
            <a:off x="822960" y="5358384"/>
            <a:ext cx="6254268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4" name="k3_h"/>
          <p:cNvSpPr txBox="1"/>
          <p:nvPr/>
        </p:nvSpPr>
        <p:spPr>
          <a:xfrm>
            <a:off x="822960" y="5477256"/>
            <a:ext cx="6254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Shared by every stage</a:t>
            </a:r>
            <a:endParaRPr lang="en-US" sz="1550" dirty="0"/>
          </a:p>
        </p:txBody>
      </p:sp>
      <p:sp>
        <p:nvSpPr>
          <p:cNvPr id="15" name="k3_d"/>
          <p:cNvSpPr txBox="1"/>
          <p:nvPr/>
        </p:nvSpPr>
        <p:spPr>
          <a:xfrm>
            <a:off x="822960" y="5797296"/>
            <a:ext cx="6254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The symbol table, one diagnostics list, and compile.c, which stops at the first phase that reports an error.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A scenario, written as a program.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Example 5: climb, wait until the aircraft passes FL300, then turn.</a:t>
            </a:r>
            <a:endParaRPr lang="en-US" sz="1700" dirty="0"/>
          </a:p>
        </p:txBody>
      </p:sp>
      <p:sp>
        <p:nvSpPr>
          <p:cNvPr id="4" name="card_src"/>
          <p:cNvSpPr/>
          <p:nvPr/>
        </p:nvSpPr>
        <p:spPr>
          <a:xfrm>
            <a:off x="822960" y="2240280"/>
            <a:ext cx="5989320" cy="3931920"/>
          </a:xfrm>
          <a:prstGeom prst="roundRect">
            <a:avLst>
              <a:gd name="adj" fmla="val 3721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src_k"/>
          <p:cNvSpPr txBox="1"/>
          <p:nvPr/>
        </p:nvSpPr>
        <p:spPr>
          <a:xfrm>
            <a:off x="1097280" y="2441448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</a:rPr>
              <a:t>AERODSL · EXAMPLES/05_LOOP.AERO</a:t>
            </a:r>
            <a:endParaRPr lang="en-US" sz="950" dirty="0"/>
          </a:p>
        </p:txBody>
      </p:sp>
      <p:sp>
        <p:nvSpPr>
          <p:cNvPr id="6" name="src_rule"/>
          <p:cNvSpPr/>
          <p:nvPr/>
        </p:nvSpPr>
        <p:spPr>
          <a:xfrm>
            <a:off x="822960" y="2770632"/>
            <a:ext cx="598932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src_code"/>
          <p:cNvSpPr txBox="1"/>
          <p:nvPr/>
        </p:nvSpPr>
        <p:spPr>
          <a:xfrm>
            <a:off x="1097280" y="2935224"/>
            <a:ext cx="5577840" cy="284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"Wait for level, then turn"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VOMAN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12.95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77.67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A320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VOMAN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FL240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hdg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climb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FL320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waited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AI202.alt &lt; FL300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waited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waited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"reached FL300 after "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waited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seconds"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FL300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aircraft should have passed FL300"</a:t>
            </a:r>
            <a:endParaRPr lang="en-US" sz="1100" dirty="0"/>
          </a:p>
        </p:txBody>
      </p:sp>
      <p:sp>
        <p:nvSpPr>
          <p:cNvPr id="8" name="g0_r"/>
          <p:cNvSpPr/>
          <p:nvPr/>
        </p:nvSpPr>
        <p:spPr>
          <a:xfrm>
            <a:off x="7132320" y="2240280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g0_k"/>
          <p:cNvSpPr txBox="1"/>
          <p:nvPr/>
        </p:nvSpPr>
        <p:spPr>
          <a:xfrm>
            <a:off x="7132320" y="2340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300" dirty="0"/>
          </a:p>
        </p:txBody>
      </p:sp>
      <p:sp>
        <p:nvSpPr>
          <p:cNvPr id="10" name="g0_d"/>
          <p:cNvSpPr txBox="1"/>
          <p:nvPr/>
        </p:nvSpPr>
        <p:spPr>
          <a:xfrm>
            <a:off x="8549640" y="233172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 named waypoint</a:t>
            </a:r>
            <a:endParaRPr lang="en-US" sz="1200" dirty="0"/>
          </a:p>
        </p:txBody>
      </p:sp>
      <p:sp>
        <p:nvSpPr>
          <p:cNvPr id="11" name="g1_r"/>
          <p:cNvSpPr/>
          <p:nvPr/>
        </p:nvSpPr>
        <p:spPr>
          <a:xfrm>
            <a:off x="7132320" y="2747772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g1_k"/>
          <p:cNvSpPr txBox="1"/>
          <p:nvPr/>
        </p:nvSpPr>
        <p:spPr>
          <a:xfrm>
            <a:off x="7132320" y="28483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</a:t>
            </a:r>
            <a:endParaRPr lang="en-US" sz="1300" dirty="0"/>
          </a:p>
        </p:txBody>
      </p:sp>
      <p:sp>
        <p:nvSpPr>
          <p:cNvPr id="13" name="g1_d"/>
          <p:cNvSpPr txBox="1"/>
          <p:nvPr/>
        </p:nvSpPr>
        <p:spPr>
          <a:xfrm>
            <a:off x="8549640" y="2839212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an aircraft entering, with its starting state</a:t>
            </a:r>
            <a:endParaRPr lang="en-US" sz="1200" dirty="0"/>
          </a:p>
        </p:txBody>
      </p:sp>
      <p:sp>
        <p:nvSpPr>
          <p:cNvPr id="14" name="g2_r"/>
          <p:cNvSpPr/>
          <p:nvPr/>
        </p:nvSpPr>
        <p:spPr>
          <a:xfrm>
            <a:off x="7132320" y="3255264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g2_k"/>
          <p:cNvSpPr txBox="1"/>
          <p:nvPr/>
        </p:nvSpPr>
        <p:spPr>
          <a:xfrm>
            <a:off x="7132320" y="3355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1300" dirty="0"/>
          </a:p>
        </p:txBody>
      </p:sp>
      <p:sp>
        <p:nvSpPr>
          <p:cNvPr id="16" name="g2_d"/>
          <p:cNvSpPr txBox="1"/>
          <p:nvPr/>
        </p:nvSpPr>
        <p:spPr>
          <a:xfrm>
            <a:off x="8549640" y="3346704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an instruction: climb, descend, heading, speed, direct</a:t>
            </a:r>
            <a:endParaRPr lang="en-US" sz="1200" dirty="0"/>
          </a:p>
        </p:txBody>
      </p:sp>
      <p:sp>
        <p:nvSpPr>
          <p:cNvPr id="17" name="g3_r"/>
          <p:cNvSpPr/>
          <p:nvPr/>
        </p:nvSpPr>
        <p:spPr>
          <a:xfrm>
            <a:off x="7132320" y="3762756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" name="g3_k"/>
          <p:cNvSpPr txBox="1"/>
          <p:nvPr/>
        </p:nvSpPr>
        <p:spPr>
          <a:xfrm>
            <a:off x="7132320" y="38633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</a:t>
            </a:r>
            <a:endParaRPr lang="en-US" sz="1300" dirty="0"/>
          </a:p>
        </p:txBody>
      </p:sp>
      <p:sp>
        <p:nvSpPr>
          <p:cNvPr id="19" name="g3_d"/>
          <p:cNvSpPr txBox="1"/>
          <p:nvPr/>
        </p:nvSpPr>
        <p:spPr>
          <a:xfrm>
            <a:off x="8549640" y="3854196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let simulated time pass</a:t>
            </a:r>
            <a:endParaRPr lang="en-US" sz="1200" dirty="0"/>
          </a:p>
        </p:txBody>
      </p:sp>
      <p:sp>
        <p:nvSpPr>
          <p:cNvPr id="20" name="g4_r"/>
          <p:cNvSpPr/>
          <p:nvPr/>
        </p:nvSpPr>
        <p:spPr>
          <a:xfrm>
            <a:off x="7132320" y="4270248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1" name="g4_k"/>
          <p:cNvSpPr txBox="1"/>
          <p:nvPr/>
        </p:nvSpPr>
        <p:spPr>
          <a:xfrm>
            <a:off x="713232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while if</a:t>
            </a:r>
            <a:endParaRPr lang="en-US" sz="1300" dirty="0"/>
          </a:p>
        </p:txBody>
      </p:sp>
      <p:sp>
        <p:nvSpPr>
          <p:cNvPr id="22" name="g4_d"/>
          <p:cNvSpPr txBox="1"/>
          <p:nvPr/>
        </p:nvSpPr>
        <p:spPr>
          <a:xfrm>
            <a:off x="8549640" y="4361688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named values, and reacting to the situation</a:t>
            </a:r>
            <a:endParaRPr lang="en-US" sz="1200" dirty="0"/>
          </a:p>
        </p:txBody>
      </p:sp>
      <p:sp>
        <p:nvSpPr>
          <p:cNvPr id="23" name="g5_r"/>
          <p:cNvSpPr/>
          <p:nvPr/>
        </p:nvSpPr>
        <p:spPr>
          <a:xfrm>
            <a:off x="7132320" y="4777740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g5_k"/>
          <p:cNvSpPr txBox="1"/>
          <p:nvPr/>
        </p:nvSpPr>
        <p:spPr>
          <a:xfrm>
            <a:off x="7132320" y="48783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 call</a:t>
            </a:r>
            <a:endParaRPr lang="en-US" sz="1300" dirty="0"/>
          </a:p>
        </p:txBody>
      </p:sp>
      <p:sp>
        <p:nvSpPr>
          <p:cNvPr id="25" name="g5_d"/>
          <p:cNvSpPr txBox="1"/>
          <p:nvPr/>
        </p:nvSpPr>
        <p:spPr>
          <a:xfrm>
            <a:off x="8549640" y="486918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reusable procedures (example 3)</a:t>
            </a:r>
            <a:endParaRPr lang="en-US" sz="1200" dirty="0"/>
          </a:p>
        </p:txBody>
      </p:sp>
      <p:sp>
        <p:nvSpPr>
          <p:cNvPr id="26" name="g6_r"/>
          <p:cNvSpPr/>
          <p:nvPr/>
        </p:nvSpPr>
        <p:spPr>
          <a:xfrm>
            <a:off x="7132320" y="5285232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7" name="g6_k"/>
          <p:cNvSpPr txBox="1"/>
          <p:nvPr/>
        </p:nvSpPr>
        <p:spPr>
          <a:xfrm>
            <a:off x="7132320" y="5385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</a:t>
            </a:r>
            <a:endParaRPr lang="en-US" sz="1300" dirty="0"/>
          </a:p>
        </p:txBody>
      </p:sp>
      <p:sp>
        <p:nvSpPr>
          <p:cNvPr id="28" name="g6_d"/>
          <p:cNvSpPr txBox="1"/>
          <p:nvPr/>
        </p:nvSpPr>
        <p:spPr>
          <a:xfrm>
            <a:off x="8549640" y="5376672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the scenario’s purpose, checked when it runs</a:t>
            </a:r>
            <a:endParaRPr lang="en-US" sz="1200" dirty="0"/>
          </a:p>
        </p:txBody>
      </p:sp>
      <p:sp>
        <p:nvSpPr>
          <p:cNvPr id="29" name="becomes_r"/>
          <p:cNvSpPr/>
          <p:nvPr/>
        </p:nvSpPr>
        <p:spPr>
          <a:xfrm>
            <a:off x="7132320" y="5797296"/>
            <a:ext cx="4233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0" name="becomes"/>
          <p:cNvSpPr txBox="1"/>
          <p:nvPr/>
        </p:nvSpPr>
        <p:spPr>
          <a:xfrm>
            <a:off x="7132320" y="58795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loop becomes  </a:t>
            </a: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00:03:20.00&gt;HDG AI202,270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Sample output.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Example 5 from the previous slide, compiled and run.</a:t>
            </a:r>
            <a:endParaRPr lang="en-US" sz="1700" dirty="0"/>
          </a:p>
        </p:txBody>
      </p:sp>
      <p:sp>
        <p:nvSpPr>
          <p:cNvPr id="4" name="card_trc"/>
          <p:cNvSpPr/>
          <p:nvPr/>
        </p:nvSpPr>
        <p:spPr>
          <a:xfrm>
            <a:off x="822960" y="2212848"/>
            <a:ext cx="6035040" cy="3429000"/>
          </a:xfrm>
          <a:prstGeom prst="roundRect">
            <a:avLst>
              <a:gd name="adj" fmla="val 4267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rc_k"/>
          <p:cNvSpPr txBox="1"/>
          <p:nvPr/>
        </p:nvSpPr>
        <p:spPr>
          <a:xfrm>
            <a:off x="1097280" y="24140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TERMINAL  ·  WHAT HAPPENED, SECOND BY SECOND</a:t>
            </a:r>
            <a:endParaRPr lang="en-US" sz="950" dirty="0"/>
          </a:p>
        </p:txBody>
      </p:sp>
      <p:sp>
        <p:nvSpPr>
          <p:cNvPr id="6" name="trc_rule"/>
          <p:cNvSpPr/>
          <p:nvPr/>
        </p:nvSpPr>
        <p:spPr>
          <a:xfrm>
            <a:off x="822960" y="2743200"/>
            <a:ext cx="60350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trc_code"/>
          <p:cNvSpPr txBox="1"/>
          <p:nvPr/>
        </p:nvSpPr>
        <p:spPr>
          <a:xfrm>
            <a:off x="1097280" y="2907792"/>
            <a:ext cx="56235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aerodsl --trace examples/05_loop.aero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 trace (5 events, 320 s of simulated time, 271 instructions)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00:00:00  AI202 enters the airspace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00:00:00  AI202 cleared climb 32000 ft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00:03:20</a:t>
            </a: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print: reached FL300 after 200 seconds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00:03:20</a:t>
            </a: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AI202 cleared heading 270 deg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00:05:20  assertion held: the aircraft should have passed FL300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state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AI202   alt  32000 ft  hdg 270  spd 280 kt  at 12.9005 77.8549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separation standard applied: 5 NM horizontally and 1000 ft vertically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losses of separation: 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assertions: 1 checked, 0 failed</a:t>
            </a:r>
            <a:endParaRPr lang="en-US" sz="1000" dirty="0"/>
          </a:p>
        </p:txBody>
      </p:sp>
      <p:sp>
        <p:nvSpPr>
          <p:cNvPr id="8" name="card_scn"/>
          <p:cNvSpPr/>
          <p:nvPr/>
        </p:nvSpPr>
        <p:spPr>
          <a:xfrm>
            <a:off x="7132320" y="2212848"/>
            <a:ext cx="4236415" cy="3429000"/>
          </a:xfrm>
          <a:prstGeom prst="roundRect">
            <a:avLst>
              <a:gd name="adj" fmla="val 4267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cn_k"/>
          <p:cNvSpPr txBox="1"/>
          <p:nvPr/>
        </p:nvSpPr>
        <p:spPr>
          <a:xfrm>
            <a:off x="7406640" y="2414016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THE SCENARIO FILE BLUESKY READS</a:t>
            </a:r>
            <a:endParaRPr lang="en-US" sz="950" dirty="0"/>
          </a:p>
        </p:txBody>
      </p:sp>
      <p:sp>
        <p:nvSpPr>
          <p:cNvPr id="10" name="scn_rule"/>
          <p:cNvSpPr/>
          <p:nvPr/>
        </p:nvSpPr>
        <p:spPr>
          <a:xfrm>
            <a:off x="7132320" y="2743200"/>
            <a:ext cx="4236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scn_code"/>
          <p:cNvSpPr txBox="1"/>
          <p:nvPr/>
        </p:nvSpPr>
        <p:spPr>
          <a:xfrm>
            <a:off x="7406640" y="2907792"/>
            <a:ext cx="382493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aerodsl examples/05_loop.aero &gt; loop.scn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Scenario generated by the AeroDSL compiler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Source scenario: "Wait for level, then turn"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…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00:00:00.00&gt;DEFWPT VOMAN,12.950000,77.670000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00:00:00.00&gt;CRE AI202,A320,12.950000,77.670000,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90,FL240,280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00:00:00.00&gt;ALT AI202,FL320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00:03:20.00</a:t>
            </a:r>
            <a:r>
              <a:rPr lang="en-US" sz="10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&gt;HDG AI202,270</a:t>
            </a:r>
            <a:endParaRPr lang="en-US" sz="1000" dirty="0"/>
          </a:p>
        </p:txBody>
      </p:sp>
      <p:sp>
        <p:nvSpPr>
          <p:cNvPr id="12" name="foot"/>
          <p:cNvSpPr txBox="1"/>
          <p:nvPr/>
        </p:nvSpPr>
        <p:spPr>
          <a:xfrm>
            <a:off x="822960" y="5833872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while loop on the previous slide became one timestamp, </a:t>
            </a:r>
            <a:r>
              <a:rPr lang="en-US" sz="1200" b="1" dirty="0">
                <a:solidFill>
                  <a:schemeClr val="accent1"/>
                </a:solidFill>
              </a:rPr>
              <a:t>00:03:20</a:t>
            </a:r>
            <a:r>
              <a:rPr lang="en-US" sz="1200" dirty="0">
                <a:solidFill>
                  <a:schemeClr val="tx2"/>
                </a:solidFill>
              </a:rPr>
              <a:t>, worked out by simulating the climb. The scenario file’s ten header comment lines are shortened to three here, and its long CRE line is wrapped; everything else is exactly what the compiler prints.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One scenario, written both ways.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Three arrivals on one profile: direct to a fix, descend 8,000 ft, slow to 250 kt, then descend to FL100.</a:t>
            </a:r>
            <a:endParaRPr lang="en-US" sz="1600" dirty="0"/>
          </a:p>
        </p:txBody>
      </p:sp>
      <p:sp>
        <p:nvSpPr>
          <p:cNvPr id="4" name="card_bsk"/>
          <p:cNvSpPr/>
          <p:nvPr/>
        </p:nvSpPr>
        <p:spPr>
          <a:xfrm>
            <a:off x="822960" y="2212848"/>
            <a:ext cx="5120640" cy="3611880"/>
          </a:xfrm>
          <a:prstGeom prst="roundRect">
            <a:avLst>
              <a:gd name="adj" fmla="val 4051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bsk_k"/>
          <p:cNvSpPr txBox="1"/>
          <p:nvPr/>
        </p:nvSpPr>
        <p:spPr>
          <a:xfrm>
            <a:off x="1097280" y="2414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BLUESKY .SCN  ·  WRITTEN BY HAND</a:t>
            </a:r>
            <a:endParaRPr lang="en-US" sz="950" dirty="0"/>
          </a:p>
        </p:txBody>
      </p:sp>
      <p:sp>
        <p:nvSpPr>
          <p:cNvPr id="6" name="bsk_rule"/>
          <p:cNvSpPr/>
          <p:nvPr/>
        </p:nvSpPr>
        <p:spPr>
          <a:xfrm>
            <a:off x="822960" y="2743200"/>
            <a:ext cx="51206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bsk_code"/>
          <p:cNvSpPr txBox="1"/>
          <p:nvPr/>
        </p:nvSpPr>
        <p:spPr>
          <a:xfrm>
            <a:off x="1097280" y="2907792"/>
            <a:ext cx="4709160" cy="270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ADDWPT AI202,VOMAN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AI202,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FL200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00:02:00.00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SPD AI202,250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00:04:00.00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AI202,FL100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00:07:00.00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ADDWPT BA117,TELEM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00:07:00.00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BA117,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FL220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00:09:00.00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SPD BA117,250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00:11:00.00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BA117,FL100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00:14:00.00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ADDWPT QF009,VOMAN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00:14:00.00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QF009,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FL240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00:16:00.00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SPD QF009,250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00:18:00.00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QF009,FL100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+ 5 DEFWPT and 3 CRE lines</a:t>
            </a:r>
            <a:endParaRPr lang="en-US" sz="1150" dirty="0"/>
          </a:p>
        </p:txBody>
      </p:sp>
      <p:sp>
        <p:nvSpPr>
          <p:cNvPr id="8" name="card_ads"/>
          <p:cNvSpPr/>
          <p:nvPr/>
        </p:nvSpPr>
        <p:spPr>
          <a:xfrm>
            <a:off x="6245352" y="2212848"/>
            <a:ext cx="5120640" cy="3611880"/>
          </a:xfrm>
          <a:prstGeom prst="roundRect">
            <a:avLst>
              <a:gd name="adj" fmla="val 4051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ads_k"/>
          <p:cNvSpPr txBox="1"/>
          <p:nvPr/>
        </p:nvSpPr>
        <p:spPr>
          <a:xfrm>
            <a:off x="6519672" y="24140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</a:rPr>
              <a:t>AERODSL  ·  EXAMPLES/03_PROCEDURES.AERO</a:t>
            </a:r>
            <a:endParaRPr lang="en-US" sz="950" dirty="0"/>
          </a:p>
        </p:txBody>
      </p:sp>
      <p:sp>
        <p:nvSpPr>
          <p:cNvPr id="10" name="ads_rule"/>
          <p:cNvSpPr/>
          <p:nvPr/>
        </p:nvSpPr>
        <p:spPr>
          <a:xfrm>
            <a:off x="6245352" y="2743200"/>
            <a:ext cx="51206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ads_code"/>
          <p:cNvSpPr txBox="1"/>
          <p:nvPr/>
        </p:nvSpPr>
        <p:spPr>
          <a:xfrm>
            <a:off x="6519672" y="2907792"/>
            <a:ext cx="4709160" cy="2561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flight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from_level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descend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from_level - 8000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 120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 120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descend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FL100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 180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AI202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FL280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VOMAN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BA117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FL300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QF009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FL320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VOMAN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bsk_n"/>
          <p:cNvSpPr txBox="1"/>
          <p:nvPr/>
        </p:nvSpPr>
        <p:spPr>
          <a:xfrm>
            <a:off x="822960" y="5897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13 numbers worked out by hand</a:t>
            </a:r>
            <a:r>
              <a:rPr lang="en-US" sz="1200" dirty="0">
                <a:solidFill>
                  <a:schemeClr val="tx2"/>
                </a:solidFill>
              </a:rPr>
              <a:t>: 10 times and 3 levels (in blue). The file does not say how any of them was found.</a:t>
            </a:r>
            <a:endParaRPr lang="en-US" sz="1200" dirty="0"/>
          </a:p>
        </p:txBody>
      </p:sp>
      <p:sp>
        <p:nvSpPr>
          <p:cNvPr id="13" name="ads_n"/>
          <p:cNvSpPr txBox="1"/>
          <p:nvPr/>
        </p:nvSpPr>
        <p:spPr>
          <a:xfrm>
            <a:off x="6245352" y="5897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None worked out by hand</a:t>
            </a:r>
            <a:r>
              <a:rPr lang="en-US" sz="1200" dirty="0">
                <a:solidFill>
                  <a:schemeClr val="tx2"/>
                </a:solidFill>
              </a:rPr>
              <a:t>: the compiler derives all 13 from the four blue phrases.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2" grpId="0"/>
      <p:bldP spid="8" grpId="0"/>
      <p:bldP spid="9" grpId="0"/>
      <p:bldP spid="10" grpId="0"/>
      <p:bldP spid="11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Now change one number.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The instructor wants the first hold to last 3 minutes instead of 2.</a:t>
            </a:r>
            <a:endParaRPr lang="en-US" sz="1700" dirty="0"/>
          </a:p>
        </p:txBody>
      </p:sp>
      <p:sp>
        <p:nvSpPr>
          <p:cNvPr id="4" name="card_chg"/>
          <p:cNvSpPr/>
          <p:nvPr/>
        </p:nvSpPr>
        <p:spPr>
          <a:xfrm>
            <a:off x="822960" y="2212848"/>
            <a:ext cx="5806440" cy="3611880"/>
          </a:xfrm>
          <a:prstGeom prst="roundRect">
            <a:avLst>
              <a:gd name="adj" fmla="val 4051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chg_k"/>
          <p:cNvSpPr txBox="1"/>
          <p:nvPr/>
        </p:nvSpPr>
        <p:spPr>
          <a:xfrm>
            <a:off x="1097280" y="24140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BLUESKY .SCN  ·  RETIME BY HAND</a:t>
            </a:r>
            <a:endParaRPr lang="en-US" sz="950" dirty="0"/>
          </a:p>
        </p:txBody>
      </p:sp>
      <p:sp>
        <p:nvSpPr>
          <p:cNvPr id="6" name="chg_rule"/>
          <p:cNvSpPr/>
          <p:nvPr/>
        </p:nvSpPr>
        <p:spPr>
          <a:xfrm>
            <a:off x="822960" y="2743200"/>
            <a:ext cx="58064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chg_code"/>
          <p:cNvSpPr txBox="1"/>
          <p:nvPr/>
        </p:nvSpPr>
        <p:spPr>
          <a:xfrm>
            <a:off x="1097280" y="2907792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00:02:00.00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00:03:00.00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&gt;SPD AI202,250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00:04:00.00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00:05:00.00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&gt;ALT AI202,FL100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00:07:00.00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00:08:00.00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&gt;ADDWPT BA117,TELEM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00:07:00.00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00:08:00.00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&gt;ALT BA117,FL220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00:09:00.00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00:11:00.00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&gt;SPD BA117,250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00:11:00.00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00:13:00.00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&gt;ALT BA117,FL100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00:14:00.00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00:16:00.00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&gt;ADDWPT QF009,VOMAN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00:14:00.00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00:16:00.00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&gt;ALT QF009,FL240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00:16:00.00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00:19:00.00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&gt;SPD QF009,250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00:18:00.00</a:t>
            </a: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00:21:00.00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&gt;ALT QF009,FL100</a:t>
            </a:r>
            <a:endParaRPr lang="en-US" sz="1150" dirty="0"/>
          </a:p>
        </p:txBody>
      </p:sp>
      <p:sp>
        <p:nvSpPr>
          <p:cNvPr id="8" name="card_one"/>
          <p:cNvSpPr/>
          <p:nvPr/>
        </p:nvSpPr>
        <p:spPr>
          <a:xfrm>
            <a:off x="6949440" y="2212848"/>
            <a:ext cx="4416552" cy="3611880"/>
          </a:xfrm>
          <a:prstGeom prst="roundRect">
            <a:avLst>
              <a:gd name="adj" fmla="val 4051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one_k"/>
          <p:cNvSpPr txBox="1"/>
          <p:nvPr/>
        </p:nvSpPr>
        <p:spPr>
          <a:xfrm>
            <a:off x="7223760" y="24140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</a:rPr>
              <a:t>AERODSL  ·  EDIT ONE LINE</a:t>
            </a:r>
            <a:endParaRPr lang="en-US" sz="950" dirty="0"/>
          </a:p>
        </p:txBody>
      </p:sp>
      <p:sp>
        <p:nvSpPr>
          <p:cNvPr id="10" name="one_rule"/>
          <p:cNvSpPr/>
          <p:nvPr/>
        </p:nvSpPr>
        <p:spPr>
          <a:xfrm>
            <a:off x="6949440" y="2743200"/>
            <a:ext cx="441655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one_code"/>
          <p:cNvSpPr txBox="1"/>
          <p:nvPr/>
        </p:nvSpPr>
        <p:spPr>
          <a:xfrm>
            <a:off x="7223760" y="2907792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arrival(...)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descend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from_level - 8000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strike="sngStrike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advance 120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advance 180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clear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</a:t>
            </a: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</a:t>
            </a: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250KT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50" dirty="0"/>
          </a:p>
        </p:txBody>
      </p:sp>
      <p:sp>
        <p:nvSpPr>
          <p:cNvPr id="12" name="one_n"/>
          <p:cNvSpPr txBox="1"/>
          <p:nvPr/>
        </p:nvSpPr>
        <p:spPr>
          <a:xfrm>
            <a:off x="7223760" y="5074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Recompile, and all ten times move.</a:t>
            </a:r>
            <a:endParaRPr lang="en-US" sz="1250" dirty="0"/>
          </a:p>
        </p:txBody>
      </p:sp>
      <p:sp>
        <p:nvSpPr>
          <p:cNvPr id="13" name="big_l"/>
          <p:cNvSpPr txBox="1"/>
          <p:nvPr/>
        </p:nvSpPr>
        <p:spPr>
          <a:xfrm>
            <a:off x="822960" y="5897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10 lines</a:t>
            </a:r>
            <a:r>
              <a:rPr lang="en-US" sz="1500" dirty="0">
                <a:solidFill>
                  <a:schemeClr val="tx2"/>
                </a:solidFill>
              </a:rPr>
              <a:t> to retime by hand, out of 12.</a:t>
            </a:r>
            <a:endParaRPr lang="en-US" sz="1500" dirty="0"/>
          </a:p>
        </p:txBody>
      </p:sp>
      <p:sp>
        <p:nvSpPr>
          <p:cNvPr id="14" name="big_r"/>
          <p:cNvSpPr txBox="1"/>
          <p:nvPr/>
        </p:nvSpPr>
        <p:spPr>
          <a:xfrm>
            <a:off x="6949440" y="589788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 line</a:t>
            </a:r>
            <a:r>
              <a:rPr lang="en-US" sz="1500" dirty="0">
                <a:solidFill>
                  <a:schemeClr val="tx2"/>
                </a:solidFill>
              </a:rPr>
              <a:t> to edit.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3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Now make a mistake.</a:t>
            </a:r>
            <a:endParaRPr lang="en-US" sz="4400" dirty="0"/>
          </a:p>
        </p:txBody>
      </p:sp>
      <p:sp>
        <p:nvSpPr>
          <p:cNvPr id="3" name="h0"/>
          <p:cNvSpPr txBox="1"/>
          <p:nvPr/>
        </p:nvSpPr>
        <p:spPr>
          <a:xfrm>
            <a:off x="822960" y="17830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mistake</a:t>
            </a:r>
            <a:endParaRPr lang="en-US" sz="1200" dirty="0"/>
          </a:p>
        </p:txBody>
      </p:sp>
      <p:sp>
        <p:nvSpPr>
          <p:cNvPr id="4" name="h1"/>
          <p:cNvSpPr txBox="1"/>
          <p:nvPr/>
        </p:nvSpPr>
        <p:spPr>
          <a:xfrm>
            <a:off x="3657600" y="1783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BlueSky 1.1.1, when the file is replayed</a:t>
            </a:r>
            <a:endParaRPr lang="en-US" sz="1200" dirty="0"/>
          </a:p>
        </p:txBody>
      </p:sp>
      <p:sp>
        <p:nvSpPr>
          <p:cNvPr id="5" name="h2"/>
          <p:cNvSpPr txBox="1"/>
          <p:nvPr/>
        </p:nvSpPr>
        <p:spPr>
          <a:xfrm>
            <a:off x="7498080" y="178308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AeroDSL, before any file exists</a:t>
            </a:r>
            <a:endParaRPr lang="en-US" sz="1200" dirty="0"/>
          </a:p>
        </p:txBody>
      </p:sp>
      <p:sp>
        <p:nvSpPr>
          <p:cNvPr id="6" name="m0_r"/>
          <p:cNvSpPr/>
          <p:nvPr/>
        </p:nvSpPr>
        <p:spPr>
          <a:xfrm>
            <a:off x="822960" y="2103120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7" name="m0_m"/>
          <p:cNvSpPr txBox="1"/>
          <p:nvPr/>
        </p:nvSpPr>
        <p:spPr>
          <a:xfrm>
            <a:off x="822960" y="221284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HDG AI202,450</a:t>
            </a:r>
            <a:endParaRPr lang="en-US" sz="1200" dirty="0"/>
          </a:p>
        </p:txBody>
      </p:sp>
      <p:sp>
        <p:nvSpPr>
          <p:cNvPr id="8" name="m0_d"/>
          <p:cNvSpPr txBox="1"/>
          <p:nvPr/>
        </p:nvSpPr>
        <p:spPr>
          <a:xfrm>
            <a:off x="822960" y="2468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heading that does not exist</a:t>
            </a:r>
            <a:endParaRPr lang="en-US" sz="1100" dirty="0"/>
          </a:p>
        </p:txBody>
      </p:sp>
      <p:sp>
        <p:nvSpPr>
          <p:cNvPr id="9" name="m0_b"/>
          <p:cNvSpPr txBox="1"/>
          <p:nvPr/>
        </p:nvSpPr>
        <p:spPr>
          <a:xfrm>
            <a:off x="3657600" y="221284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Accepted without a message, and flown as heading 090.</a:t>
            </a:r>
            <a:endParaRPr lang="en-US" sz="1250" dirty="0"/>
          </a:p>
        </p:txBody>
      </p:sp>
      <p:sp>
        <p:nvSpPr>
          <p:cNvPr id="10" name="m0_a"/>
          <p:cNvSpPr txBox="1"/>
          <p:nvPr/>
        </p:nvSpPr>
        <p:spPr>
          <a:xfrm>
            <a:off x="7498080" y="2194560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11:1: semantic error: the operand of 'heading' must be between 0 and 360 deg, found 450</a:t>
            </a:r>
            <a:endParaRPr lang="en-US" sz="950" dirty="0"/>
          </a:p>
        </p:txBody>
      </p:sp>
      <p:sp>
        <p:nvSpPr>
          <p:cNvPr id="11" name="m1_r"/>
          <p:cNvSpPr/>
          <p:nvPr/>
        </p:nvSpPr>
        <p:spPr>
          <a:xfrm>
            <a:off x="822960" y="3035808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m1_m"/>
          <p:cNvSpPr txBox="1"/>
          <p:nvPr/>
        </p:nvSpPr>
        <p:spPr>
          <a:xfrm>
            <a:off x="822960" y="314553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SPD AI202,40</a:t>
            </a:r>
            <a:endParaRPr lang="en-US" sz="1200" dirty="0"/>
          </a:p>
        </p:txBody>
      </p:sp>
      <p:sp>
        <p:nvSpPr>
          <p:cNvPr id="13" name="m1_d"/>
          <p:cNvSpPr txBox="1"/>
          <p:nvPr/>
        </p:nvSpPr>
        <p:spPr>
          <a:xfrm>
            <a:off x="822960" y="34015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speed no airliner flies</a:t>
            </a:r>
            <a:endParaRPr lang="en-US" sz="1100" dirty="0"/>
          </a:p>
        </p:txBody>
      </p:sp>
      <p:sp>
        <p:nvSpPr>
          <p:cNvPr id="14" name="m1_b"/>
          <p:cNvSpPr txBox="1"/>
          <p:nvPr/>
        </p:nvSpPr>
        <p:spPr>
          <a:xfrm>
            <a:off x="3657600" y="314553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Accepted without a message. The A320 slows to its limit, about 130 kt, and stays there.</a:t>
            </a:r>
            <a:endParaRPr lang="en-US" sz="1250" dirty="0"/>
          </a:p>
        </p:txBody>
      </p:sp>
      <p:sp>
        <p:nvSpPr>
          <p:cNvPr id="15" name="m1_a"/>
          <p:cNvSpPr txBox="1"/>
          <p:nvPr/>
        </p:nvSpPr>
        <p:spPr>
          <a:xfrm>
            <a:off x="7498080" y="3127248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12:1: semantic error: the operand of 'speed' must be between 60 and 600 kt, found 40</a:t>
            </a:r>
            <a:endParaRPr lang="en-US" sz="950" dirty="0"/>
          </a:p>
        </p:txBody>
      </p:sp>
      <p:sp>
        <p:nvSpPr>
          <p:cNvPr id="16" name="m2_r"/>
          <p:cNvSpPr/>
          <p:nvPr/>
        </p:nvSpPr>
        <p:spPr>
          <a:xfrm>
            <a:off x="822960" y="3968496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7" name="m2_m"/>
          <p:cNvSpPr txBox="1"/>
          <p:nvPr/>
        </p:nvSpPr>
        <p:spPr>
          <a:xfrm>
            <a:off x="822960" y="407822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AI220,FL300</a:t>
            </a:r>
            <a:endParaRPr lang="en-US" sz="1200" dirty="0"/>
          </a:p>
        </p:txBody>
      </p:sp>
      <p:sp>
        <p:nvSpPr>
          <p:cNvPr id="18" name="m2_d"/>
          <p:cNvSpPr txBox="1"/>
          <p:nvPr/>
        </p:nvSpPr>
        <p:spPr>
          <a:xfrm>
            <a:off x="822960" y="43342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typo in the callsign</a:t>
            </a:r>
            <a:endParaRPr lang="en-US" sz="1100" dirty="0"/>
          </a:p>
        </p:txBody>
      </p:sp>
      <p:sp>
        <p:nvSpPr>
          <p:cNvPr id="19" name="m2_b"/>
          <p:cNvSpPr txBox="1"/>
          <p:nvPr/>
        </p:nvSpPr>
        <p:spPr>
          <a:xfrm>
            <a:off x="3657600" y="40782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Reported only when that line runs: “Aircraft with callsign AI220 not found”.</a:t>
            </a:r>
            <a:endParaRPr lang="en-US" sz="1250" dirty="0"/>
          </a:p>
        </p:txBody>
      </p:sp>
      <p:sp>
        <p:nvSpPr>
          <p:cNvPr id="20" name="m2_a"/>
          <p:cNvSpPr txBox="1"/>
          <p:nvPr/>
        </p:nvSpPr>
        <p:spPr>
          <a:xfrm>
            <a:off x="7498080" y="4059936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14:7: semantic error: 'AI220' is not declared</a:t>
            </a:r>
            <a:endParaRPr lang="en-US" sz="950" dirty="0"/>
          </a:p>
        </p:txBody>
      </p:sp>
      <p:sp>
        <p:nvSpPr>
          <p:cNvPr id="21" name="m3_r"/>
          <p:cNvSpPr/>
          <p:nvPr/>
        </p:nvSpPr>
        <p:spPr>
          <a:xfrm>
            <a:off x="822960" y="4901184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2" name="m3_m"/>
          <p:cNvSpPr txBox="1"/>
          <p:nvPr/>
        </p:nvSpPr>
        <p:spPr>
          <a:xfrm>
            <a:off x="822960" y="501091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AI202,FL320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 AI202,FL280</a:t>
            </a:r>
            <a:endParaRPr lang="en-US" sz="1200" dirty="0"/>
          </a:p>
        </p:txBody>
      </p:sp>
      <p:sp>
        <p:nvSpPr>
          <p:cNvPr id="23" name="m3_d"/>
          <p:cNvSpPr txBox="1"/>
          <p:nvPr/>
        </p:nvSpPr>
        <p:spPr>
          <a:xfrm>
            <a:off x="822960" y="544982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two clearances at the same time</a:t>
            </a:r>
            <a:endParaRPr lang="en-US" sz="1100" dirty="0"/>
          </a:p>
        </p:txBody>
      </p:sp>
      <p:sp>
        <p:nvSpPr>
          <p:cNvPr id="24" name="m3_b"/>
          <p:cNvSpPr txBox="1"/>
          <p:nvPr/>
        </p:nvSpPr>
        <p:spPr>
          <a:xfrm>
            <a:off x="3657600" y="50109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Both accepted. The second silently replaces the first.</a:t>
            </a:r>
            <a:endParaRPr lang="en-US" sz="1250" dirty="0"/>
          </a:p>
        </p:txBody>
      </p:sp>
      <p:sp>
        <p:nvSpPr>
          <p:cNvPr id="25" name="m3_a"/>
          <p:cNvSpPr txBox="1"/>
          <p:nvPr/>
        </p:nvSpPr>
        <p:spPr>
          <a:xfrm>
            <a:off x="7498080" y="4992624"/>
            <a:ext cx="3867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17:1: semantic warning: AI202 was cleared 'climb' at line 16 and 'descend' here with no 'advance' between them: the two contradict each other</a:t>
            </a:r>
            <a:endParaRPr lang="en-US" sz="950" dirty="0"/>
          </a:p>
        </p:txBody>
      </p:sp>
      <p:sp>
        <p:nvSpPr>
          <p:cNvPr id="26" name="foot"/>
          <p:cNvSpPr txBox="1"/>
          <p:nvPr/>
        </p:nvSpPr>
        <p:spPr>
          <a:xfrm>
            <a:off x="822960" y="5870448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BlueSky: bluesky/four_mistakes.scn, replayed in BlueSky 1.1.1, headless. AeroDSL: examples/16_four_mistakes.aero. The undeclared AI220 stops the first compile; fix it, and the next compile reports the other three.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The same scenario, scored.</a:t>
            </a:r>
            <a:endParaRPr lang="en-US" sz="4400" dirty="0"/>
          </a:p>
        </p:txBody>
      </p:sp>
      <p:sp>
        <p:nvSpPr>
          <p:cNvPr id="3" name="h1"/>
          <p:cNvSpPr txBox="1"/>
          <p:nvPr/>
        </p:nvSpPr>
        <p:spPr>
          <a:xfrm>
            <a:off x="649224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BlueSky file, by hand</a:t>
            </a:r>
            <a:endParaRPr lang="en-US" sz="1250" dirty="0"/>
          </a:p>
        </p:txBody>
      </p:sp>
      <p:sp>
        <p:nvSpPr>
          <p:cNvPr id="4" name="h2"/>
          <p:cNvSpPr txBox="1"/>
          <p:nvPr/>
        </p:nvSpPr>
        <p:spPr>
          <a:xfrm>
            <a:off x="9052560" y="181051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AeroDSL</a:t>
            </a:r>
            <a:endParaRPr lang="en-US" sz="1250" dirty="0"/>
          </a:p>
        </p:txBody>
      </p:sp>
      <p:sp>
        <p:nvSpPr>
          <p:cNvPr id="5" name="s0_r"/>
          <p:cNvSpPr/>
          <p:nvPr/>
        </p:nvSpPr>
        <p:spPr>
          <a:xfrm>
            <a:off x="822960" y="2194560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6" name="s0_k"/>
          <p:cNvSpPr txBox="1"/>
          <p:nvPr/>
        </p:nvSpPr>
        <p:spPr>
          <a:xfrm>
            <a:off x="82296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Lines the author writes</a:t>
            </a:r>
            <a:endParaRPr lang="en-US" sz="1450" dirty="0"/>
          </a:p>
        </p:txBody>
      </p:sp>
      <p:sp>
        <p:nvSpPr>
          <p:cNvPr id="7" name="s0_n"/>
          <p:cNvSpPr txBox="1"/>
          <p:nvPr/>
        </p:nvSpPr>
        <p:spPr>
          <a:xfrm>
            <a:off x="822960" y="2542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Not shorter. What changes is what the lines say.</a:t>
            </a:r>
            <a:endParaRPr lang="en-US" sz="1100" dirty="0"/>
          </a:p>
        </p:txBody>
      </p:sp>
      <p:sp>
        <p:nvSpPr>
          <p:cNvPr id="8" name="s0_a"/>
          <p:cNvSpPr txBox="1"/>
          <p:nvPr/>
        </p:nvSpPr>
        <p:spPr>
          <a:xfrm>
            <a:off x="649224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20</a:t>
            </a:r>
            <a:endParaRPr lang="en-US" sz="2200" dirty="0"/>
          </a:p>
        </p:txBody>
      </p:sp>
      <p:sp>
        <p:nvSpPr>
          <p:cNvPr id="9" name="s0_b"/>
          <p:cNvSpPr txBox="1"/>
          <p:nvPr/>
        </p:nvSpPr>
        <p:spPr>
          <a:xfrm>
            <a:off x="9052560" y="226771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24</a:t>
            </a:r>
            <a:endParaRPr lang="en-US" sz="2200" dirty="0"/>
          </a:p>
        </p:txBody>
      </p:sp>
      <p:sp>
        <p:nvSpPr>
          <p:cNvPr id="10" name="s1_r"/>
          <p:cNvSpPr/>
          <p:nvPr/>
        </p:nvSpPr>
        <p:spPr>
          <a:xfrm>
            <a:off x="822960" y="2926080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s1_k"/>
          <p:cNvSpPr txBox="1"/>
          <p:nvPr/>
        </p:nvSpPr>
        <p:spPr>
          <a:xfrm>
            <a:off x="82296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Numbers worked out by hand</a:t>
            </a:r>
            <a:endParaRPr lang="en-US" sz="1450" dirty="0"/>
          </a:p>
        </p:txBody>
      </p:sp>
      <p:sp>
        <p:nvSpPr>
          <p:cNvPr id="12" name="s1_a"/>
          <p:cNvSpPr txBox="1"/>
          <p:nvPr/>
        </p:nvSpPr>
        <p:spPr>
          <a:xfrm>
            <a:off x="6492240" y="29992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13</a:t>
            </a:r>
            <a:endParaRPr lang="en-US" sz="2200" dirty="0"/>
          </a:p>
        </p:txBody>
      </p:sp>
      <p:sp>
        <p:nvSpPr>
          <p:cNvPr id="13" name="s1_b"/>
          <p:cNvSpPr txBox="1"/>
          <p:nvPr/>
        </p:nvSpPr>
        <p:spPr>
          <a:xfrm>
            <a:off x="9052560" y="299923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0</a:t>
            </a:r>
            <a:endParaRPr lang="en-US" sz="2200" dirty="0"/>
          </a:p>
        </p:txBody>
      </p:sp>
      <p:sp>
        <p:nvSpPr>
          <p:cNvPr id="14" name="s2_r"/>
          <p:cNvSpPr/>
          <p:nvPr/>
        </p:nvSpPr>
        <p:spPr>
          <a:xfrm>
            <a:off x="822960" y="3657600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s2_k"/>
          <p:cNvSpPr txBox="1"/>
          <p:nvPr/>
        </p:nvSpPr>
        <p:spPr>
          <a:xfrm>
            <a:off x="822960" y="3749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Lines to edit when the first hold changes</a:t>
            </a:r>
            <a:endParaRPr lang="en-US" sz="1450" dirty="0"/>
          </a:p>
        </p:txBody>
      </p:sp>
      <p:sp>
        <p:nvSpPr>
          <p:cNvPr id="16" name="s2_a"/>
          <p:cNvSpPr txBox="1"/>
          <p:nvPr/>
        </p:nvSpPr>
        <p:spPr>
          <a:xfrm>
            <a:off x="6492240" y="37307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10</a:t>
            </a:r>
            <a:endParaRPr lang="en-US" sz="2200" dirty="0"/>
          </a:p>
        </p:txBody>
      </p:sp>
      <p:sp>
        <p:nvSpPr>
          <p:cNvPr id="17" name="s2_b"/>
          <p:cNvSpPr txBox="1"/>
          <p:nvPr/>
        </p:nvSpPr>
        <p:spPr>
          <a:xfrm>
            <a:off x="9052560" y="373075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18" name="s3_r"/>
          <p:cNvSpPr/>
          <p:nvPr/>
        </p:nvSpPr>
        <p:spPr>
          <a:xfrm>
            <a:off x="822960" y="4389120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s3_k"/>
          <p:cNvSpPr txBox="1"/>
          <p:nvPr/>
        </p:nvSpPr>
        <p:spPr>
          <a:xfrm>
            <a:off x="82296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Of four mistakes, reported before it runs</a:t>
            </a:r>
            <a:endParaRPr lang="en-US" sz="1450" dirty="0"/>
          </a:p>
        </p:txBody>
      </p:sp>
      <p:sp>
        <p:nvSpPr>
          <p:cNvPr id="20" name="s3_n"/>
          <p:cNvSpPr txBox="1"/>
          <p:nvPr/>
        </p:nvSpPr>
        <p:spPr>
          <a:xfrm>
            <a:off x="822960" y="47365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BlueSky reports one of them, during the replay.</a:t>
            </a:r>
            <a:endParaRPr lang="en-US" sz="1100" dirty="0"/>
          </a:p>
        </p:txBody>
      </p:sp>
      <p:sp>
        <p:nvSpPr>
          <p:cNvPr id="21" name="s3_a"/>
          <p:cNvSpPr txBox="1"/>
          <p:nvPr/>
        </p:nvSpPr>
        <p:spPr>
          <a:xfrm>
            <a:off x="6492240" y="44622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</a:t>
            </a:r>
            <a:endParaRPr lang="en-US" sz="2200" dirty="0"/>
          </a:p>
        </p:txBody>
      </p:sp>
      <p:sp>
        <p:nvSpPr>
          <p:cNvPr id="22" name="s3_b"/>
          <p:cNvSpPr txBox="1"/>
          <p:nvPr/>
        </p:nvSpPr>
        <p:spPr>
          <a:xfrm>
            <a:off x="9052560" y="446227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4</a:t>
            </a:r>
            <a:endParaRPr lang="en-US" sz="2200" dirty="0"/>
          </a:p>
        </p:txBody>
      </p:sp>
      <p:sp>
        <p:nvSpPr>
          <p:cNvPr id="23" name="s4_r"/>
          <p:cNvSpPr/>
          <p:nvPr/>
        </p:nvSpPr>
        <p:spPr>
          <a:xfrm>
            <a:off x="822960" y="5120640"/>
            <a:ext cx="10545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4" name="s4_k"/>
          <p:cNvSpPr txBox="1"/>
          <p:nvPr/>
        </p:nvSpPr>
        <p:spPr>
          <a:xfrm>
            <a:off x="822960" y="5212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Runs in BlueSky</a:t>
            </a:r>
            <a:endParaRPr lang="en-US" sz="1450" dirty="0"/>
          </a:p>
        </p:txBody>
      </p:sp>
      <p:sp>
        <p:nvSpPr>
          <p:cNvPr id="25" name="s4_n"/>
          <p:cNvSpPr txBox="1"/>
          <p:nvPr/>
        </p:nvSpPr>
        <p:spPr>
          <a:xfrm>
            <a:off x="822960" y="54681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compiled file loads and runs with no error messages.</a:t>
            </a:r>
            <a:endParaRPr lang="en-US" sz="1100" dirty="0"/>
          </a:p>
        </p:txBody>
      </p:sp>
      <p:sp>
        <p:nvSpPr>
          <p:cNvPr id="26" name="s4_a"/>
          <p:cNvSpPr txBox="1"/>
          <p:nvPr/>
        </p:nvSpPr>
        <p:spPr>
          <a:xfrm>
            <a:off x="6492240" y="5193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Yes</a:t>
            </a:r>
            <a:endParaRPr lang="en-US" sz="2200" dirty="0"/>
          </a:p>
        </p:txBody>
      </p:sp>
      <p:sp>
        <p:nvSpPr>
          <p:cNvPr id="27" name="s4_b"/>
          <p:cNvSpPr txBox="1"/>
          <p:nvPr/>
        </p:nvSpPr>
        <p:spPr>
          <a:xfrm>
            <a:off x="9052560" y="519379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Yes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0" grpId="0"/>
      <p:bldP spid="23" grpId="0"/>
      <p:bldP spid="24" grpId="0"/>
      <p:bldP spid="26" grpId="0"/>
      <p:bldP spid="27" grpId="0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It runs in BlueSky. The timing drifts.</a:t>
            </a:r>
            <a:endParaRPr lang="en-US" sz="4400" dirty="0"/>
          </a:p>
        </p:txBody>
      </p:sp>
      <p:graphicFrame>
        <p:nvGraphicFramePr>
          <p:cNvPr id="3" name="chart_alt" descr=""/>
          <p:cNvGraphicFramePr/>
          <p:nvPr/>
        </p:nvGraphicFramePr>
        <p:xfrm>
          <a:off x="731520" y="1828800"/>
          <a:ext cx="6309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_c"/>
          <p:cNvSpPr txBox="1"/>
          <p:nvPr/>
        </p:nvSpPr>
        <p:spPr>
          <a:xfrm>
            <a:off x="822960" y="5852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Altitude of AI202 in example 5 (feet), against time. The turn is issued at 3:20.</a:t>
            </a:r>
            <a:endParaRPr lang="en-US" sz="1100" dirty="0"/>
          </a:p>
        </p:txBody>
      </p:sp>
      <p:sp>
        <p:nvSpPr>
          <p:cNvPr id="5" name="t0_r"/>
          <p:cNvSpPr/>
          <p:nvPr/>
        </p:nvSpPr>
        <p:spPr>
          <a:xfrm>
            <a:off x="7086600" y="1828800"/>
            <a:ext cx="42821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t0_h"/>
          <p:cNvSpPr txBox="1"/>
          <p:nvPr/>
        </p:nvSpPr>
        <p:spPr>
          <a:xfrm>
            <a:off x="7086600" y="1938528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Runs without errors</a:t>
            </a:r>
            <a:endParaRPr lang="en-US" sz="1500" dirty="0"/>
          </a:p>
        </p:txBody>
      </p:sp>
      <p:sp>
        <p:nvSpPr>
          <p:cNvPr id="7" name="t0_d"/>
          <p:cNvSpPr txBox="1"/>
          <p:nvPr/>
        </p:nvSpPr>
        <p:spPr>
          <a:xfrm>
            <a:off x="7086600" y="2249424"/>
            <a:ext cx="4282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Our generated files for examples 3 and 5 load and run in BlueSky 1.1.1 with no error messages.</a:t>
            </a:r>
            <a:endParaRPr lang="en-US" sz="1200" dirty="0"/>
          </a:p>
        </p:txBody>
      </p:sp>
      <p:sp>
        <p:nvSpPr>
          <p:cNvPr id="8" name="t1_r"/>
          <p:cNvSpPr/>
          <p:nvPr/>
        </p:nvSpPr>
        <p:spPr>
          <a:xfrm>
            <a:off x="7086600" y="3172968"/>
            <a:ext cx="42821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t1_h"/>
          <p:cNvSpPr txBox="1"/>
          <p:nvPr/>
        </p:nvSpPr>
        <p:spPr>
          <a:xfrm>
            <a:off x="7086600" y="3282696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But the 3:20 turn comes early</a:t>
            </a:r>
            <a:endParaRPr lang="en-US" sz="1500" dirty="0"/>
          </a:p>
        </p:txBody>
      </p:sp>
      <p:sp>
        <p:nvSpPr>
          <p:cNvPr id="10" name="t1_d"/>
          <p:cNvSpPr txBox="1"/>
          <p:nvPr/>
        </p:nvSpPr>
        <p:spPr>
          <a:xfrm>
            <a:off x="7086600" y="3593592"/>
            <a:ext cx="4282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Our model climbs at 1,800 ft/min; BlueSky’s A320 at about 1,500. At 3:20 it is at 28,939 ft, about 1,060 ft below FL300, which it reaches at about 4:02.</a:t>
            </a:r>
            <a:endParaRPr lang="en-US" sz="1200" dirty="0"/>
          </a:p>
        </p:txBody>
      </p:sp>
      <p:sp>
        <p:nvSpPr>
          <p:cNvPr id="11" name="t2_r"/>
          <p:cNvSpPr/>
          <p:nvPr/>
        </p:nvSpPr>
        <p:spPr>
          <a:xfrm>
            <a:off x="7086600" y="4517136"/>
            <a:ext cx="42821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t2_h"/>
          <p:cNvSpPr txBox="1"/>
          <p:nvPr/>
        </p:nvSpPr>
        <p:spPr>
          <a:xfrm>
            <a:off x="7086600" y="4626864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BlueSky already has the fix</a:t>
            </a:r>
            <a:endParaRPr lang="en-US" sz="1500" dirty="0"/>
          </a:p>
        </p:txBody>
      </p:sp>
      <p:sp>
        <p:nvSpPr>
          <p:cNvPr id="13" name="t2_d"/>
          <p:cNvSpPr txBox="1"/>
          <p:nvPr/>
        </p:nvSpPr>
        <p:spPr>
          <a:xfrm>
            <a:off x="7086600" y="4937760"/>
            <a:ext cx="4282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AI202 ATALT FL300 HDG AI202 270 turns at FL300 whatever the climb rate. We tested it. Next step: compile altitude waits into ATALT, not a fixed time.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How we know it works.</a:t>
            </a:r>
            <a:endParaRPr lang="en-US" sz="4400" dirty="0"/>
          </a:p>
        </p:txBody>
      </p:sp>
      <p:graphicFrame>
        <p:nvGraphicFramePr>
          <p:cNvPr id="3" name="chart_opt" descr=""/>
          <p:cNvGraphicFramePr/>
          <p:nvPr/>
        </p:nvGraphicFramePr>
        <p:xfrm>
          <a:off x="731520" y="1828800"/>
          <a:ext cx="6172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_c"/>
          <p:cNvSpPr txBox="1"/>
          <p:nvPr/>
        </p:nvSpPr>
        <p:spPr>
          <a:xfrm>
            <a:off x="822960" y="58064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Three-address instructions per example, before and after the optimiser. The examples were written to be clear, so most have little to remove; the optimiser demo drops from 61 to 37.</a:t>
            </a:r>
            <a:endParaRPr lang="en-US" sz="1100" dirty="0"/>
          </a:p>
        </p:txBody>
      </p:sp>
      <p:sp>
        <p:nvSpPr>
          <p:cNvPr id="5" name="v0_r"/>
          <p:cNvSpPr/>
          <p:nvPr/>
        </p:nvSpPr>
        <p:spPr>
          <a:xfrm>
            <a:off x="7269480" y="1847088"/>
            <a:ext cx="40965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v0_n"/>
          <p:cNvSpPr txBox="1"/>
          <p:nvPr/>
        </p:nvSpPr>
        <p:spPr>
          <a:xfrm>
            <a:off x="7269480" y="19385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336</a:t>
            </a:r>
            <a:endParaRPr lang="en-US" sz="2400" dirty="0"/>
          </a:p>
        </p:txBody>
      </p:sp>
      <p:sp>
        <p:nvSpPr>
          <p:cNvPr id="7" name="v0_d"/>
          <p:cNvSpPr txBox="1"/>
          <p:nvPr/>
        </p:nvSpPr>
        <p:spPr>
          <a:xfrm>
            <a:off x="8458200" y="195681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unit and integration checks in 60 groups, all passing</a:t>
            </a:r>
            <a:endParaRPr lang="en-US" sz="1150" dirty="0"/>
          </a:p>
        </p:txBody>
      </p:sp>
      <p:sp>
        <p:nvSpPr>
          <p:cNvPr id="8" name="v1_r"/>
          <p:cNvSpPr/>
          <p:nvPr/>
        </p:nvSpPr>
        <p:spPr>
          <a:xfrm>
            <a:off x="7269480" y="2633472"/>
            <a:ext cx="40965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v1_n"/>
          <p:cNvSpPr txBox="1"/>
          <p:nvPr/>
        </p:nvSpPr>
        <p:spPr>
          <a:xfrm>
            <a:off x="7269480" y="272491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18</a:t>
            </a:r>
            <a:endParaRPr lang="en-US" sz="2400" dirty="0"/>
          </a:p>
        </p:txBody>
      </p:sp>
      <p:sp>
        <p:nvSpPr>
          <p:cNvPr id="10" name="v1_d"/>
          <p:cNvSpPr txBox="1"/>
          <p:nvPr/>
        </p:nvSpPr>
        <p:spPr>
          <a:xfrm>
            <a:off x="8458200" y="274320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scenarios run with and without the optimiser: identical behaviour</a:t>
            </a:r>
            <a:endParaRPr lang="en-US" sz="1150" dirty="0"/>
          </a:p>
        </p:txBody>
      </p:sp>
      <p:sp>
        <p:nvSpPr>
          <p:cNvPr id="11" name="v2_r"/>
          <p:cNvSpPr/>
          <p:nvPr/>
        </p:nvSpPr>
        <p:spPr>
          <a:xfrm>
            <a:off x="7269480" y="3419856"/>
            <a:ext cx="40965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v2_n"/>
          <p:cNvSpPr txBox="1"/>
          <p:nvPr/>
        </p:nvSpPr>
        <p:spPr>
          <a:xfrm>
            <a:off x="7269480" y="35112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3,000</a:t>
            </a:r>
            <a:endParaRPr lang="en-US" sz="2400" dirty="0"/>
          </a:p>
        </p:txBody>
      </p:sp>
      <p:sp>
        <p:nvSpPr>
          <p:cNvPr id="13" name="v2_d"/>
          <p:cNvSpPr txBox="1"/>
          <p:nvPr/>
        </p:nvSpPr>
        <p:spPr>
          <a:xfrm>
            <a:off x="8458200" y="352958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random and mutated inputs under AddressSanitizer: 0 crashes</a:t>
            </a:r>
            <a:endParaRPr lang="en-US" sz="1150" dirty="0"/>
          </a:p>
        </p:txBody>
      </p:sp>
      <p:sp>
        <p:nvSpPr>
          <p:cNvPr id="14" name="v3_r"/>
          <p:cNvSpPr/>
          <p:nvPr/>
        </p:nvSpPr>
        <p:spPr>
          <a:xfrm>
            <a:off x="7269480" y="4206240"/>
            <a:ext cx="40965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v3_n"/>
          <p:cNvSpPr txBox="1"/>
          <p:nvPr/>
        </p:nvSpPr>
        <p:spPr>
          <a:xfrm>
            <a:off x="7269480" y="4297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255</a:t>
            </a:r>
            <a:endParaRPr lang="en-US" sz="2400" dirty="0"/>
          </a:p>
        </p:txBody>
      </p:sp>
      <p:sp>
        <p:nvSpPr>
          <p:cNvPr id="16" name="v3_d"/>
          <p:cNvSpPr txBox="1"/>
          <p:nvPr/>
        </p:nvSpPr>
        <p:spPr>
          <a:xfrm>
            <a:off x="8458200" y="4315968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runs comparing the Windows and Linux builds: identical output (Windows under Wine)</a:t>
            </a:r>
            <a:endParaRPr lang="en-US" sz="1150" dirty="0"/>
          </a:p>
        </p:txBody>
      </p:sp>
      <p:sp>
        <p:nvSpPr>
          <p:cNvPr id="17" name="v4_r"/>
          <p:cNvSpPr/>
          <p:nvPr/>
        </p:nvSpPr>
        <p:spPr>
          <a:xfrm>
            <a:off x="7269480" y="4992624"/>
            <a:ext cx="409651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" name="v4_n"/>
          <p:cNvSpPr txBox="1"/>
          <p:nvPr/>
        </p:nvSpPr>
        <p:spPr>
          <a:xfrm>
            <a:off x="7269480" y="508406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34</a:t>
            </a:r>
            <a:endParaRPr lang="en-US" sz="2400" dirty="0"/>
          </a:p>
        </p:txBody>
      </p:sp>
      <p:sp>
        <p:nvSpPr>
          <p:cNvPr id="19" name="v4_d"/>
          <p:cNvSpPr txBox="1"/>
          <p:nvPr/>
        </p:nvSpPr>
        <p:spPr>
          <a:xfrm>
            <a:off x="8458200" y="5102352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checks that each example and command-line option behaves as documented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The compiler, live.</a:t>
            </a:r>
            <a:endParaRPr lang="en-US" sz="4400" dirty="0"/>
          </a:p>
        </p:txBody>
      </p:sp>
      <p:sp>
        <p:nvSpPr>
          <p:cNvPr id="3" name="shot_frame"/>
          <p:cNvSpPr/>
          <p:nvPr/>
        </p:nvSpPr>
        <p:spPr>
          <a:xfrm>
            <a:off x="777240" y="1783080"/>
            <a:ext cx="6858000" cy="4315968"/>
          </a:xfrm>
          <a:prstGeom prst="roundRect">
            <a:avLst>
              <a:gd name="adj" fmla="val 2542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" name="shot" descr="The AeroDSL demo page: source editor on the left, plan view of two converging aircraft on the 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6766560" cy="4229100"/>
          </a:xfrm>
          <a:prstGeom prst="rect">
            <a:avLst/>
          </a:prstGeom>
        </p:spPr>
      </p:pic>
      <p:sp>
        <p:nvSpPr>
          <p:cNvPr id="5" name="i0_r"/>
          <p:cNvSpPr/>
          <p:nvPr/>
        </p:nvSpPr>
        <p:spPr>
          <a:xfrm>
            <a:off x="8001000" y="1828800"/>
            <a:ext cx="3364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i0_h"/>
          <p:cNvSpPr txBox="1"/>
          <p:nvPr/>
        </p:nvSpPr>
        <p:spPr>
          <a:xfrm>
            <a:off x="8001000" y="19385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How far it got</a:t>
            </a:r>
            <a:endParaRPr lang="en-US" sz="1500" dirty="0"/>
          </a:p>
        </p:txBody>
      </p:sp>
      <p:sp>
        <p:nvSpPr>
          <p:cNvPr id="7" name="i0_d"/>
          <p:cNvSpPr txBox="1"/>
          <p:nvPr/>
        </p:nvSpPr>
        <p:spPr>
          <a:xfrm>
            <a:off x="8001000" y="2240280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Five stages across the top. The one that failed turns red.</a:t>
            </a:r>
            <a:endParaRPr lang="en-US" sz="1200" dirty="0"/>
          </a:p>
        </p:txBody>
      </p:sp>
      <p:sp>
        <p:nvSpPr>
          <p:cNvPr id="8" name="i1_r"/>
          <p:cNvSpPr/>
          <p:nvPr/>
        </p:nvSpPr>
        <p:spPr>
          <a:xfrm>
            <a:off x="8001000" y="2852928"/>
            <a:ext cx="3364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i1_h"/>
          <p:cNvSpPr txBox="1"/>
          <p:nvPr/>
        </p:nvSpPr>
        <p:spPr>
          <a:xfrm>
            <a:off x="8001000" y="2962656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source</a:t>
            </a:r>
            <a:endParaRPr lang="en-US" sz="1500" dirty="0"/>
          </a:p>
        </p:txBody>
      </p:sp>
      <p:sp>
        <p:nvSpPr>
          <p:cNvPr id="10" name="i1_d"/>
          <p:cNvSpPr txBox="1"/>
          <p:nvPr/>
        </p:nvSpPr>
        <p:spPr>
          <a:xfrm>
            <a:off x="8001000" y="3264408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Coloured like the slides. Error lines are marked, and a click on a message jumps to it.</a:t>
            </a:r>
            <a:endParaRPr lang="en-US" sz="1200" dirty="0"/>
          </a:p>
        </p:txBody>
      </p:sp>
      <p:sp>
        <p:nvSpPr>
          <p:cNvPr id="11" name="i2_r"/>
          <p:cNvSpPr/>
          <p:nvPr/>
        </p:nvSpPr>
        <p:spPr>
          <a:xfrm>
            <a:off x="8001000" y="3877056"/>
            <a:ext cx="3364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i2_h"/>
          <p:cNvSpPr txBox="1"/>
          <p:nvPr/>
        </p:nvSpPr>
        <p:spPr>
          <a:xfrm>
            <a:off x="8001000" y="398678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Every phase</a:t>
            </a:r>
            <a:endParaRPr lang="en-US" sz="1500" dirty="0"/>
          </a:p>
        </p:txBody>
      </p:sp>
      <p:sp>
        <p:nvSpPr>
          <p:cNvPr id="13" name="i2_d"/>
          <p:cNvSpPr txBox="1"/>
          <p:nvPr/>
        </p:nvSpPr>
        <p:spPr>
          <a:xfrm>
            <a:off x="8001000" y="4288536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Twelve views from tokens to the scenario file, including this plan view: press play, or drag the time.</a:t>
            </a:r>
            <a:endParaRPr lang="en-US" sz="1200" dirty="0"/>
          </a:p>
        </p:txBody>
      </p:sp>
      <p:sp>
        <p:nvSpPr>
          <p:cNvPr id="14" name="run_r"/>
          <p:cNvSpPr/>
          <p:nvPr/>
        </p:nvSpPr>
        <p:spPr>
          <a:xfrm>
            <a:off x="8001000" y="4983480"/>
            <a:ext cx="33649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run"/>
          <p:cNvSpPr txBox="1"/>
          <p:nvPr/>
        </p:nvSpPr>
        <p:spPr>
          <a:xfrm>
            <a:off x="8001000" y="5093208"/>
            <a:ext cx="3364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Run it yourself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Windows: double-click run-demo.bat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macOS, Linux: ./run-demo.sh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The code is on GitHub.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Everything in these slides can be rerun from it.</a:t>
            </a:r>
            <a:endParaRPr lang="en-US" sz="1700" dirty="0"/>
          </a:p>
        </p:txBody>
      </p:sp>
      <p:sp>
        <p:nvSpPr>
          <p:cNvPr id="4" name="card_gh"/>
          <p:cNvSpPr/>
          <p:nvPr/>
        </p:nvSpPr>
        <p:spPr>
          <a:xfrm>
            <a:off x="822960" y="2212848"/>
            <a:ext cx="4846320" cy="3840480"/>
          </a:xfrm>
          <a:prstGeom prst="roundRect">
            <a:avLst>
              <a:gd name="adj" fmla="val 3810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gh_k"/>
          <p:cNvSpPr txBox="1"/>
          <p:nvPr/>
        </p:nvSpPr>
        <p:spPr>
          <a:xfrm>
            <a:off x="1143000" y="24323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1"/>
                </a:solidFill>
              </a:rPr>
              <a:t>REPOSITORY</a:t>
            </a:r>
            <a:endParaRPr lang="en-US" sz="950" dirty="0"/>
          </a:p>
        </p:txBody>
      </p:sp>
      <p:sp>
        <p:nvSpPr>
          <p:cNvPr id="6" name="gh_u"/>
          <p:cNvSpPr txBox="1"/>
          <p:nvPr/>
        </p:nvSpPr>
        <p:spPr>
          <a:xfrm>
            <a:off x="1143000" y="2779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</a:t>
            </a:r>
            <a:r>
              <a:rPr lang="en-US" sz="145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Jaskaran-Singh-ops</a:t>
            </a:r>
            <a:r>
              <a:rPr lang="en-US" sz="1450" b="1" u="sng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/AeroDSL</a:t>
            </a:r>
            <a:endParaRPr lang="en-US" sz="1450" dirty="0"/>
          </a:p>
        </p:txBody>
      </p:sp>
      <p:sp>
        <p:nvSpPr>
          <p:cNvPr id="7" name="gh_r1"/>
          <p:cNvSpPr/>
          <p:nvPr/>
        </p:nvSpPr>
        <p:spPr>
          <a:xfrm>
            <a:off x="1143000" y="3401568"/>
            <a:ext cx="4206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8" name="gh_ck"/>
          <p:cNvSpPr txBox="1"/>
          <p:nvPr/>
        </p:nvSpPr>
        <p:spPr>
          <a:xfrm>
            <a:off x="1143000" y="35478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CLONE IT</a:t>
            </a:r>
            <a:endParaRPr lang="en-US" sz="950" dirty="0"/>
          </a:p>
        </p:txBody>
      </p:sp>
      <p:sp>
        <p:nvSpPr>
          <p:cNvPr id="9" name="gh_c"/>
          <p:cNvSpPr txBox="1"/>
          <p:nvPr/>
        </p:nvSpPr>
        <p:spPr>
          <a:xfrm>
            <a:off x="1143000" y="38039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https://github.com/Jaskaran-Singh-ops/AeroDSL.git</a:t>
            </a:r>
            <a:endParaRPr lang="en-US" sz="1050" dirty="0"/>
          </a:p>
        </p:txBody>
      </p:sp>
      <p:sp>
        <p:nvSpPr>
          <p:cNvPr id="10" name="gh_r2"/>
          <p:cNvSpPr/>
          <p:nvPr/>
        </p:nvSpPr>
        <p:spPr>
          <a:xfrm>
            <a:off x="1143000" y="4407408"/>
            <a:ext cx="420624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1" name="gh_ok"/>
          <p:cNvSpPr txBox="1"/>
          <p:nvPr/>
        </p:nvSpPr>
        <p:spPr>
          <a:xfrm>
            <a:off x="1143000" y="455371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OR WITHOUT GIT</a:t>
            </a:r>
            <a:endParaRPr lang="en-US" sz="950" dirty="0"/>
          </a:p>
        </p:txBody>
      </p:sp>
      <p:sp>
        <p:nvSpPr>
          <p:cNvPr id="12" name="gh_o"/>
          <p:cNvSpPr txBox="1"/>
          <p:nvPr/>
        </p:nvSpPr>
        <p:spPr>
          <a:xfrm>
            <a:off x="1143000" y="4809744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2"/>
                </a:solidFill>
              </a:rPr>
              <a:t>On the repository page: Code, then Download ZIP. The ready-to-run programs for Windows, macOS and Linux are inside.</a:t>
            </a:r>
            <a:endParaRPr lang="en-US" sz="1250" dirty="0"/>
          </a:p>
        </p:txBody>
      </p:sp>
      <p:sp>
        <p:nvSpPr>
          <p:cNvPr id="13" name="card_tree"/>
          <p:cNvSpPr/>
          <p:nvPr/>
        </p:nvSpPr>
        <p:spPr>
          <a:xfrm>
            <a:off x="5943600" y="2212848"/>
            <a:ext cx="5425135" cy="3840480"/>
          </a:xfrm>
          <a:prstGeom prst="roundRect">
            <a:avLst>
              <a:gd name="adj" fmla="val 3810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14" name="tree_k"/>
          <p:cNvSpPr txBox="1"/>
          <p:nvPr/>
        </p:nvSpPr>
        <p:spPr>
          <a:xfrm>
            <a:off x="6217920" y="2414016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WHAT IS IN IT</a:t>
            </a:r>
            <a:endParaRPr lang="en-US" sz="950" dirty="0"/>
          </a:p>
        </p:txBody>
      </p:sp>
      <p:sp>
        <p:nvSpPr>
          <p:cNvPr id="15" name="tree_rule"/>
          <p:cNvSpPr/>
          <p:nvPr/>
        </p:nvSpPr>
        <p:spPr>
          <a:xfrm>
            <a:off x="5943600" y="2743200"/>
            <a:ext cx="542513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tree_code"/>
          <p:cNvSpPr txBox="1"/>
          <p:nvPr/>
        </p:nvSpPr>
        <p:spPr>
          <a:xfrm>
            <a:off x="6217920" y="2907792"/>
            <a:ext cx="5013655" cy="221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AeroDSL/     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src/     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compiler: 20 C files, one header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examples/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programs, 7 written to fail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tests/   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336 checks, and the fuzzer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bin/     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ready-to-run programs, 5 systems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ui/      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demo page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bluesky/ 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BlueSky comparison files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docs/    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spec, architecture, viva, slides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slides/  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1, 2 and 3 decks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tools/   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and slide checks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README.md </a:t>
            </a:r>
            <a:r>
              <a:rPr lang="en-US" sz="115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run it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Run it yourself.</a:t>
            </a:r>
            <a:endParaRPr lang="en-US" sz="4400" dirty="0"/>
          </a:p>
        </p:txBody>
      </p:sp>
      <p:sp>
        <p:nvSpPr>
          <p:cNvPr id="3" name="sub"/>
          <p:cNvSpPr txBox="1"/>
          <p:nvPr/>
        </p:nvSpPr>
        <p:spPr>
          <a:xfrm>
            <a:off x="822960" y="1645920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The same steps as the README. Pick the column for your computer.</a:t>
            </a:r>
            <a:endParaRPr lang="en-US" sz="1700" dirty="0"/>
          </a:p>
        </p:txBody>
      </p:sp>
      <p:sp>
        <p:nvSpPr>
          <p:cNvPr id="4" name="card_c0"/>
          <p:cNvSpPr/>
          <p:nvPr/>
        </p:nvSpPr>
        <p:spPr>
          <a:xfrm>
            <a:off x="822960" y="2212848"/>
            <a:ext cx="3310128" cy="3611880"/>
          </a:xfrm>
          <a:prstGeom prst="roundRect">
            <a:avLst>
              <a:gd name="adj" fmla="val 4420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0_h"/>
          <p:cNvSpPr txBox="1"/>
          <p:nvPr/>
        </p:nvSpPr>
        <p:spPr>
          <a:xfrm>
            <a:off x="1097280" y="2432304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Windows</a:t>
            </a:r>
            <a:endParaRPr lang="en-US" sz="1900" dirty="0"/>
          </a:p>
        </p:txBody>
      </p:sp>
      <p:sp>
        <p:nvSpPr>
          <p:cNvPr id="6" name="c0_s"/>
          <p:cNvSpPr txBox="1"/>
          <p:nvPr/>
        </p:nvSpPr>
        <p:spPr>
          <a:xfrm>
            <a:off x="1097280" y="279806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Nothing to install</a:t>
            </a:r>
            <a:endParaRPr lang="en-US" sz="1150" dirty="0"/>
          </a:p>
        </p:txBody>
      </p:sp>
      <p:sp>
        <p:nvSpPr>
          <p:cNvPr id="7" name="c0_r0"/>
          <p:cNvSpPr/>
          <p:nvPr/>
        </p:nvSpPr>
        <p:spPr>
          <a:xfrm>
            <a:off x="1097280" y="3182112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c0_n0"/>
          <p:cNvSpPr txBox="1"/>
          <p:nvPr/>
        </p:nvSpPr>
        <p:spPr>
          <a:xfrm>
            <a:off x="1097280" y="32826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c0_c0"/>
          <p:cNvSpPr txBox="1"/>
          <p:nvPr/>
        </p:nvSpPr>
        <p:spPr>
          <a:xfrm>
            <a:off x="1353312" y="3273552"/>
            <a:ext cx="24871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Download the ZIP from GitHub and unzip it</a:t>
            </a:r>
            <a:endParaRPr lang="en-US" sz="1250" dirty="0"/>
          </a:p>
        </p:txBody>
      </p:sp>
      <p:sp>
        <p:nvSpPr>
          <p:cNvPr id="10" name="c0_r1"/>
          <p:cNvSpPr/>
          <p:nvPr/>
        </p:nvSpPr>
        <p:spPr>
          <a:xfrm>
            <a:off x="1097280" y="3831336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c0_n1"/>
          <p:cNvSpPr txBox="1"/>
          <p:nvPr/>
        </p:nvSpPr>
        <p:spPr>
          <a:xfrm>
            <a:off x="1097280" y="3931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c0_c1"/>
          <p:cNvSpPr txBox="1"/>
          <p:nvPr/>
        </p:nvSpPr>
        <p:spPr>
          <a:xfrm>
            <a:off x="1353312" y="3922776"/>
            <a:ext cx="24871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Open Command Prompt in the folder</a:t>
            </a:r>
            <a:endParaRPr lang="en-US" sz="1250" dirty="0"/>
          </a:p>
        </p:txBody>
      </p:sp>
      <p:sp>
        <p:nvSpPr>
          <p:cNvPr id="13" name="c0_r2"/>
          <p:cNvSpPr/>
          <p:nvPr/>
        </p:nvSpPr>
        <p:spPr>
          <a:xfrm>
            <a:off x="1097280" y="4480560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c0_n2"/>
          <p:cNvSpPr txBox="1"/>
          <p:nvPr/>
        </p:nvSpPr>
        <p:spPr>
          <a:xfrm>
            <a:off x="1097280" y="458114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c0_c2"/>
          <p:cNvSpPr txBox="1"/>
          <p:nvPr/>
        </p:nvSpPr>
        <p:spPr>
          <a:xfrm>
            <a:off x="1353312" y="45720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aerodsl examples\05_loop.aero</a:t>
            </a:r>
            <a:endParaRPr lang="en-US" sz="1050" dirty="0"/>
          </a:p>
        </p:txBody>
      </p:sp>
      <p:sp>
        <p:nvSpPr>
          <p:cNvPr id="16" name="c0_d2"/>
          <p:cNvSpPr txBox="1"/>
          <p:nvPr/>
        </p:nvSpPr>
        <p:spPr>
          <a:xfrm>
            <a:off x="1353312" y="479145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scenario file</a:t>
            </a:r>
            <a:endParaRPr lang="en-US" sz="1050" dirty="0"/>
          </a:p>
        </p:txBody>
      </p:sp>
      <p:sp>
        <p:nvSpPr>
          <p:cNvPr id="17" name="c0_r3"/>
          <p:cNvSpPr/>
          <p:nvPr/>
        </p:nvSpPr>
        <p:spPr>
          <a:xfrm>
            <a:off x="1097280" y="5138928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8" name="c0_n3"/>
          <p:cNvSpPr txBox="1"/>
          <p:nvPr/>
        </p:nvSpPr>
        <p:spPr>
          <a:xfrm>
            <a:off x="1097280" y="523951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c0_c3"/>
          <p:cNvSpPr txBox="1"/>
          <p:nvPr/>
        </p:nvSpPr>
        <p:spPr>
          <a:xfrm>
            <a:off x="1353312" y="52303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Double-click run-demo.bat</a:t>
            </a:r>
            <a:endParaRPr lang="en-US" sz="1250" dirty="0"/>
          </a:p>
        </p:txBody>
      </p:sp>
      <p:sp>
        <p:nvSpPr>
          <p:cNvPr id="20" name="c0_d3"/>
          <p:cNvSpPr txBox="1"/>
          <p:nvPr/>
        </p:nvSpPr>
        <p:spPr>
          <a:xfrm>
            <a:off x="1353312" y="546811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demo page</a:t>
            </a:r>
            <a:endParaRPr lang="en-US" sz="1050" dirty="0"/>
          </a:p>
        </p:txBody>
      </p:sp>
      <p:sp>
        <p:nvSpPr>
          <p:cNvPr id="21" name="card_c1"/>
          <p:cNvSpPr/>
          <p:nvPr/>
        </p:nvSpPr>
        <p:spPr>
          <a:xfrm>
            <a:off x="4440784" y="2212848"/>
            <a:ext cx="3310128" cy="3611880"/>
          </a:xfrm>
          <a:prstGeom prst="roundRect">
            <a:avLst>
              <a:gd name="adj" fmla="val 4420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c1_h"/>
          <p:cNvSpPr txBox="1"/>
          <p:nvPr/>
        </p:nvSpPr>
        <p:spPr>
          <a:xfrm>
            <a:off x="4715104" y="2432304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macOS and Linux</a:t>
            </a:r>
            <a:endParaRPr lang="en-US" sz="1900" dirty="0"/>
          </a:p>
        </p:txBody>
      </p:sp>
      <p:sp>
        <p:nvSpPr>
          <p:cNvPr id="23" name="c1_s"/>
          <p:cNvSpPr txBox="1"/>
          <p:nvPr/>
        </p:nvSpPr>
        <p:spPr>
          <a:xfrm>
            <a:off x="4715104" y="279806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Nothing to install</a:t>
            </a:r>
            <a:endParaRPr lang="en-US" sz="1150" dirty="0"/>
          </a:p>
        </p:txBody>
      </p:sp>
      <p:sp>
        <p:nvSpPr>
          <p:cNvPr id="24" name="c1_r0"/>
          <p:cNvSpPr/>
          <p:nvPr/>
        </p:nvSpPr>
        <p:spPr>
          <a:xfrm>
            <a:off x="4715104" y="3182112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c1_n0"/>
          <p:cNvSpPr txBox="1"/>
          <p:nvPr/>
        </p:nvSpPr>
        <p:spPr>
          <a:xfrm>
            <a:off x="4715104" y="32826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c1_c0"/>
          <p:cNvSpPr txBox="1"/>
          <p:nvPr/>
        </p:nvSpPr>
        <p:spPr>
          <a:xfrm>
            <a:off x="4971136" y="327355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https://github.com/Jaskaran-Singh-ops/AeroDSL.git</a:t>
            </a:r>
            <a:endParaRPr lang="en-US" sz="1050" dirty="0"/>
          </a:p>
        </p:txBody>
      </p:sp>
      <p:sp>
        <p:nvSpPr>
          <p:cNvPr id="27" name="c1_r1"/>
          <p:cNvSpPr/>
          <p:nvPr/>
        </p:nvSpPr>
        <p:spPr>
          <a:xfrm>
            <a:off x="4715104" y="3785616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8" name="c1_n1"/>
          <p:cNvSpPr txBox="1"/>
          <p:nvPr/>
        </p:nvSpPr>
        <p:spPr>
          <a:xfrm>
            <a:off x="4715104" y="388620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c1_c1"/>
          <p:cNvSpPr txBox="1"/>
          <p:nvPr/>
        </p:nvSpPr>
        <p:spPr>
          <a:xfrm>
            <a:off x="4971136" y="387705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AeroDSL</a:t>
            </a:r>
            <a:endParaRPr lang="en-US" sz="1050" dirty="0"/>
          </a:p>
        </p:txBody>
      </p:sp>
      <p:sp>
        <p:nvSpPr>
          <p:cNvPr id="30" name="c1_r2"/>
          <p:cNvSpPr/>
          <p:nvPr/>
        </p:nvSpPr>
        <p:spPr>
          <a:xfrm>
            <a:off x="4715104" y="4224528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1" name="c1_n2"/>
          <p:cNvSpPr txBox="1"/>
          <p:nvPr/>
        </p:nvSpPr>
        <p:spPr>
          <a:xfrm>
            <a:off x="4715104" y="432511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c1_c2"/>
          <p:cNvSpPr txBox="1"/>
          <p:nvPr/>
        </p:nvSpPr>
        <p:spPr>
          <a:xfrm>
            <a:off x="4971136" y="431596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bin/macos-arm64/aerodsl examples/05_loop.aero</a:t>
            </a:r>
            <a:endParaRPr lang="en-US" sz="1050" dirty="0"/>
          </a:p>
        </p:txBody>
      </p:sp>
      <p:sp>
        <p:nvSpPr>
          <p:cNvPr id="33" name="c1_d2"/>
          <p:cNvSpPr txBox="1"/>
          <p:nvPr/>
        </p:nvSpPr>
        <p:spPr>
          <a:xfrm>
            <a:off x="4971136" y="470001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Intel Mac: macos-x64. Linux: linux-x64</a:t>
            </a:r>
            <a:endParaRPr lang="en-US" sz="1050" dirty="0"/>
          </a:p>
        </p:txBody>
      </p:sp>
      <p:sp>
        <p:nvSpPr>
          <p:cNvPr id="34" name="c1_r3"/>
          <p:cNvSpPr/>
          <p:nvPr/>
        </p:nvSpPr>
        <p:spPr>
          <a:xfrm>
            <a:off x="4715104" y="5047488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5" name="c1_n3"/>
          <p:cNvSpPr txBox="1"/>
          <p:nvPr/>
        </p:nvSpPr>
        <p:spPr>
          <a:xfrm>
            <a:off x="4715104" y="514807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c1_c3"/>
          <p:cNvSpPr txBox="1"/>
          <p:nvPr/>
        </p:nvSpPr>
        <p:spPr>
          <a:xfrm>
            <a:off x="4971136" y="513892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./run-demo.sh</a:t>
            </a:r>
            <a:endParaRPr lang="en-US" sz="1050" dirty="0"/>
          </a:p>
        </p:txBody>
      </p:sp>
      <p:sp>
        <p:nvSpPr>
          <p:cNvPr id="37" name="c1_d3"/>
          <p:cNvSpPr txBox="1"/>
          <p:nvPr/>
        </p:nvSpPr>
        <p:spPr>
          <a:xfrm>
            <a:off x="4971136" y="535838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demo page</a:t>
            </a:r>
            <a:endParaRPr lang="en-US" sz="1050" dirty="0"/>
          </a:p>
        </p:txBody>
      </p:sp>
      <p:sp>
        <p:nvSpPr>
          <p:cNvPr id="38" name="card_c2"/>
          <p:cNvSpPr/>
          <p:nvPr/>
        </p:nvSpPr>
        <p:spPr>
          <a:xfrm>
            <a:off x="8058607" y="2212848"/>
            <a:ext cx="3310128" cy="3611880"/>
          </a:xfrm>
          <a:prstGeom prst="roundRect">
            <a:avLst>
              <a:gd name="adj" fmla="val 4420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9525">
            <a:solidFill>
              <a:schemeClr val="accent5"/>
            </a:solidFill>
            <a:prstDash val="solid"/>
          </a:ln>
        </p:spPr>
      </p:sp>
      <p:sp>
        <p:nvSpPr>
          <p:cNvPr id="39" name="c2_h"/>
          <p:cNvSpPr txBox="1"/>
          <p:nvPr/>
        </p:nvSpPr>
        <p:spPr>
          <a:xfrm>
            <a:off x="8332927" y="2432304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From source</a:t>
            </a:r>
            <a:endParaRPr lang="en-US" sz="1900" dirty="0"/>
          </a:p>
        </p:txBody>
      </p:sp>
      <p:sp>
        <p:nvSpPr>
          <p:cNvPr id="40" name="c2_s"/>
          <p:cNvSpPr txBox="1"/>
          <p:nvPr/>
        </p:nvSpPr>
        <p:spPr>
          <a:xfrm>
            <a:off x="8332927" y="2798064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Any system with a C compiler and make</a:t>
            </a:r>
            <a:endParaRPr lang="en-US" sz="1150" dirty="0"/>
          </a:p>
        </p:txBody>
      </p:sp>
      <p:sp>
        <p:nvSpPr>
          <p:cNvPr id="41" name="c2_r0"/>
          <p:cNvSpPr/>
          <p:nvPr/>
        </p:nvSpPr>
        <p:spPr>
          <a:xfrm>
            <a:off x="8332927" y="3182112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2" name="c2_n0"/>
          <p:cNvSpPr txBox="1"/>
          <p:nvPr/>
        </p:nvSpPr>
        <p:spPr>
          <a:xfrm>
            <a:off x="8332927" y="32826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c2_c0"/>
          <p:cNvSpPr txBox="1"/>
          <p:nvPr/>
        </p:nvSpPr>
        <p:spPr>
          <a:xfrm>
            <a:off x="8588959" y="32735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</a:t>
            </a:r>
            <a:endParaRPr lang="en-US" sz="1050" dirty="0"/>
          </a:p>
        </p:txBody>
      </p:sp>
      <p:sp>
        <p:nvSpPr>
          <p:cNvPr id="44" name="c2_d0"/>
          <p:cNvSpPr txBox="1"/>
          <p:nvPr/>
        </p:nvSpPr>
        <p:spPr>
          <a:xfrm>
            <a:off x="8588959" y="349300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builds ./aerodsl</a:t>
            </a:r>
            <a:endParaRPr lang="en-US" sz="1050" dirty="0"/>
          </a:p>
        </p:txBody>
      </p:sp>
      <p:sp>
        <p:nvSpPr>
          <p:cNvPr id="45" name="c2_r1"/>
          <p:cNvSpPr/>
          <p:nvPr/>
        </p:nvSpPr>
        <p:spPr>
          <a:xfrm>
            <a:off x="8332927" y="3840480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6" name="c2_n1"/>
          <p:cNvSpPr txBox="1"/>
          <p:nvPr/>
        </p:nvSpPr>
        <p:spPr>
          <a:xfrm>
            <a:off x="8332927" y="394106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c2_c1"/>
          <p:cNvSpPr txBox="1"/>
          <p:nvPr/>
        </p:nvSpPr>
        <p:spPr>
          <a:xfrm>
            <a:off x="8588959" y="39319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test</a:t>
            </a:r>
            <a:endParaRPr lang="en-US" sz="1050" dirty="0"/>
          </a:p>
        </p:txBody>
      </p:sp>
      <p:sp>
        <p:nvSpPr>
          <p:cNvPr id="48" name="c2_d1"/>
          <p:cNvSpPr txBox="1"/>
          <p:nvPr/>
        </p:nvSpPr>
        <p:spPr>
          <a:xfrm>
            <a:off x="8588959" y="415137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336 checks and every example</a:t>
            </a:r>
            <a:endParaRPr lang="en-US" sz="1050" dirty="0"/>
          </a:p>
        </p:txBody>
      </p:sp>
      <p:sp>
        <p:nvSpPr>
          <p:cNvPr id="49" name="c2_r2"/>
          <p:cNvSpPr/>
          <p:nvPr/>
        </p:nvSpPr>
        <p:spPr>
          <a:xfrm>
            <a:off x="8332927" y="4498848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0" name="c2_n2"/>
          <p:cNvSpPr txBox="1"/>
          <p:nvPr/>
        </p:nvSpPr>
        <p:spPr>
          <a:xfrm>
            <a:off x="8332927" y="45994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c2_c2"/>
          <p:cNvSpPr txBox="1"/>
          <p:nvPr/>
        </p:nvSpPr>
        <p:spPr>
          <a:xfrm>
            <a:off x="8588959" y="45902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./aerodsl examples/05_loop.aero</a:t>
            </a:r>
            <a:endParaRPr lang="en-US" sz="1050" dirty="0"/>
          </a:p>
        </p:txBody>
      </p:sp>
      <p:sp>
        <p:nvSpPr>
          <p:cNvPr id="52" name="c2_d2"/>
          <p:cNvSpPr txBox="1"/>
          <p:nvPr/>
        </p:nvSpPr>
        <p:spPr>
          <a:xfrm>
            <a:off x="8588959" y="480974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scenario file</a:t>
            </a:r>
            <a:endParaRPr lang="en-US" sz="1050" dirty="0"/>
          </a:p>
        </p:txBody>
      </p:sp>
      <p:sp>
        <p:nvSpPr>
          <p:cNvPr id="53" name="c2_r3"/>
          <p:cNvSpPr/>
          <p:nvPr/>
        </p:nvSpPr>
        <p:spPr>
          <a:xfrm>
            <a:off x="8332927" y="5157216"/>
            <a:ext cx="276148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4" name="c2_n3"/>
          <p:cNvSpPr txBox="1"/>
          <p:nvPr/>
        </p:nvSpPr>
        <p:spPr>
          <a:xfrm>
            <a:off x="8332927" y="525780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55" name="c2_c3"/>
          <p:cNvSpPr txBox="1"/>
          <p:nvPr/>
        </p:nvSpPr>
        <p:spPr>
          <a:xfrm>
            <a:off x="8588959" y="524865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ui</a:t>
            </a:r>
            <a:endParaRPr lang="en-US" sz="1050" dirty="0"/>
          </a:p>
        </p:txBody>
      </p:sp>
      <p:sp>
        <p:nvSpPr>
          <p:cNvPr id="56" name="c2_d3"/>
          <p:cNvSpPr txBox="1"/>
          <p:nvPr/>
        </p:nvSpPr>
        <p:spPr>
          <a:xfrm>
            <a:off x="8588959" y="546811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the demo page on port 8080</a:t>
            </a:r>
            <a:endParaRPr lang="en-US" sz="1050" dirty="0"/>
          </a:p>
        </p:txBody>
      </p:sp>
      <p:sp>
        <p:nvSpPr>
          <p:cNvPr id="57" name="foot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README.md has the same steps, the first-run warnings for Windows SmartScreen and macOS, and every command-line option.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What it does not do, yet.</a:t>
            </a:r>
            <a:endParaRPr lang="en-US" sz="4400" dirty="0"/>
          </a:p>
        </p:txBody>
      </p:sp>
      <p:sp>
        <p:nvSpPr>
          <p:cNvPr id="3" name="lim"/>
          <p:cNvSpPr/>
          <p:nvPr/>
        </p:nvSpPr>
        <p:spPr>
          <a:xfrm>
            <a:off x="822960" y="1920240"/>
            <a:ext cx="5120640" cy="4160520"/>
          </a:xfrm>
          <a:prstGeom prst="roundRect">
            <a:avLst>
              <a:gd name="adj" fmla="val 3516"/>
            </a:avLst>
          </a:prstGeom>
          <a:ln w="9525">
            <a:solidFill>
              <a:schemeClr val="accent4"/>
            </a:solidFill>
            <a:prstDash val="dash"/>
          </a:ln>
        </p:spPr>
      </p:sp>
      <p:sp>
        <p:nvSpPr>
          <p:cNvPr id="4" name="lim_k"/>
          <p:cNvSpPr txBox="1"/>
          <p:nvPr/>
        </p:nvSpPr>
        <p:spPr>
          <a:xfrm>
            <a:off x="1143000" y="21214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</a:rPr>
              <a:t>LIMITS</a:t>
            </a:r>
            <a:endParaRPr lang="en-US" sz="1050" dirty="0"/>
          </a:p>
        </p:txBody>
      </p:sp>
      <p:sp>
        <p:nvSpPr>
          <p:cNvPr id="5" name="l0_r"/>
          <p:cNvSpPr/>
          <p:nvPr/>
        </p:nvSpPr>
        <p:spPr>
          <a:xfrm>
            <a:off x="1143000" y="2487168"/>
            <a:ext cx="44805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6" name="l0"/>
          <p:cNvSpPr txBox="1"/>
          <p:nvPr/>
        </p:nvSpPr>
        <p:spPr>
          <a:xfrm>
            <a:off x="1143000" y="25968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Times come from our simplified flight model, not BlueSky’s</a:t>
            </a:r>
            <a:endParaRPr lang="en-US" sz="1300" dirty="0"/>
          </a:p>
        </p:txBody>
      </p:sp>
      <p:sp>
        <p:nvSpPr>
          <p:cNvPr id="7" name="l1_r"/>
          <p:cNvSpPr/>
          <p:nvPr/>
        </p:nvSpPr>
        <p:spPr>
          <a:xfrm>
            <a:off x="1143000" y="3063240"/>
            <a:ext cx="44805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l1"/>
          <p:cNvSpPr txBox="1"/>
          <p:nvPr/>
        </p:nvSpPr>
        <p:spPr>
          <a:xfrm>
            <a:off x="1143000" y="317296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Tested in BlueSky 1.1.1 only, headless, on our examples</a:t>
            </a:r>
            <a:endParaRPr lang="en-US" sz="1300" dirty="0"/>
          </a:p>
        </p:txBody>
      </p:sp>
      <p:sp>
        <p:nvSpPr>
          <p:cNvPr id="9" name="l2_r"/>
          <p:cNvSpPr/>
          <p:nvPr/>
        </p:nvSpPr>
        <p:spPr>
          <a:xfrm>
            <a:off x="1143000" y="3639312"/>
            <a:ext cx="44805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l2"/>
          <p:cNvSpPr txBox="1"/>
          <p:nvPr/>
        </p:nvSpPr>
        <p:spPr>
          <a:xfrm>
            <a:off x="1143000" y="374904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SSA is built and printed, but not used by the optimiser</a:t>
            </a:r>
            <a:endParaRPr lang="en-US" sz="1300" dirty="0"/>
          </a:p>
        </p:txBody>
      </p:sp>
      <p:sp>
        <p:nvSpPr>
          <p:cNvPr id="11" name="l3_r"/>
          <p:cNvSpPr/>
          <p:nvPr/>
        </p:nvSpPr>
        <p:spPr>
          <a:xfrm>
            <a:off x="1143000" y="4215384"/>
            <a:ext cx="44805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l3"/>
          <p:cNvSpPr txBox="1"/>
          <p:nvPr/>
        </p:nvSpPr>
        <p:spPr>
          <a:xfrm>
            <a:off x="1143000" y="432511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No verifier checks bytecode before it runs</a:t>
            </a:r>
            <a:endParaRPr lang="en-US" sz="1300" dirty="0"/>
          </a:p>
        </p:txBody>
      </p:sp>
      <p:sp>
        <p:nvSpPr>
          <p:cNvPr id="13" name="l4_r"/>
          <p:cNvSpPr/>
          <p:nvPr/>
        </p:nvSpPr>
        <p:spPr>
          <a:xfrm>
            <a:off x="1143000" y="4791456"/>
            <a:ext cx="44805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l4"/>
          <p:cNvSpPr txBox="1"/>
          <p:nvPr/>
        </p:nvSpPr>
        <p:spPr>
          <a:xfrm>
            <a:off x="1143000" y="490118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No study with real scenario authors</a:t>
            </a:r>
            <a:endParaRPr lang="en-US" sz="1300" dirty="0"/>
          </a:p>
        </p:txBody>
      </p:sp>
      <p:sp>
        <p:nvSpPr>
          <p:cNvPr id="15" name="l5_r"/>
          <p:cNvSpPr/>
          <p:nvPr/>
        </p:nvSpPr>
        <p:spPr>
          <a:xfrm>
            <a:off x="1143000" y="5367528"/>
            <a:ext cx="448056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l5"/>
          <p:cNvSpPr txBox="1"/>
          <p:nvPr/>
        </p:nvSpPr>
        <p:spPr>
          <a:xfrm>
            <a:off x="1143000" y="54772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An academic prototype: not for operational air traffic control</a:t>
            </a:r>
            <a:endParaRPr lang="en-US" sz="1300" dirty="0"/>
          </a:p>
        </p:txBody>
      </p:sp>
      <p:sp>
        <p:nvSpPr>
          <p:cNvPr id="17" name="card_nx"/>
          <p:cNvSpPr/>
          <p:nvPr/>
        </p:nvSpPr>
        <p:spPr>
          <a:xfrm>
            <a:off x="6245352" y="1920240"/>
            <a:ext cx="5120640" cy="4160520"/>
          </a:xfrm>
          <a:prstGeom prst="roundRect">
            <a:avLst>
              <a:gd name="adj" fmla="val 3516"/>
            </a:avLst>
          </a:prstGeom>
          <a:gradFill rotWithShape="1">
            <a:gsLst>
              <a:gs pos="0">
                <a:schemeClr val="bg2">
                  <a:lumMod val="125000"/>
                </a:schemeClr>
              </a:gs>
              <a:gs pos="100000">
                <a:schemeClr val="bg2">
                  <a:lumMod val="80000"/>
                </a:schemeClr>
              </a:gs>
            </a:gsLst>
            <a:lin ang="5400000" scaled="0"/>
          </a:gra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x_k"/>
          <p:cNvSpPr txBox="1"/>
          <p:nvPr/>
        </p:nvSpPr>
        <p:spPr>
          <a:xfrm>
            <a:off x="6565392" y="21214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</a:rPr>
              <a:t>NEXT, IN ORDER</a:t>
            </a:r>
            <a:endParaRPr lang="en-US" sz="1050" dirty="0"/>
          </a:p>
        </p:txBody>
      </p:sp>
      <p:sp>
        <p:nvSpPr>
          <p:cNvPr id="19" name="n0_r"/>
          <p:cNvSpPr/>
          <p:nvPr/>
        </p:nvSpPr>
        <p:spPr>
          <a:xfrm>
            <a:off x="6565392" y="2487168"/>
            <a:ext cx="44805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n0_n"/>
          <p:cNvSpPr txBox="1"/>
          <p:nvPr/>
        </p:nvSpPr>
        <p:spPr>
          <a:xfrm>
            <a:off x="6565392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n0_h"/>
          <p:cNvSpPr txBox="1"/>
          <p:nvPr/>
        </p:nvSpPr>
        <p:spPr>
          <a:xfrm>
            <a:off x="6903720" y="25968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Compile altitude waits into ATALT</a:t>
            </a:r>
            <a:endParaRPr lang="en-US" sz="1500" dirty="0"/>
          </a:p>
        </p:txBody>
      </p:sp>
      <p:sp>
        <p:nvSpPr>
          <p:cNvPr id="22" name="n0_d"/>
          <p:cNvSpPr txBox="1"/>
          <p:nvPr/>
        </p:nvSpPr>
        <p:spPr>
          <a:xfrm>
            <a:off x="6903720" y="28986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 BlueSky turns at FL300, whatever the climb rate</a:t>
            </a:r>
            <a:endParaRPr lang="en-US" sz="1200" dirty="0"/>
          </a:p>
        </p:txBody>
      </p:sp>
      <p:sp>
        <p:nvSpPr>
          <p:cNvPr id="23" name="n1_r"/>
          <p:cNvSpPr/>
          <p:nvPr/>
        </p:nvSpPr>
        <p:spPr>
          <a:xfrm>
            <a:off x="6565392" y="3328416"/>
            <a:ext cx="44805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4" name="n1_n"/>
          <p:cNvSpPr txBox="1"/>
          <p:nvPr/>
        </p:nvSpPr>
        <p:spPr>
          <a:xfrm>
            <a:off x="6565392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n1_h"/>
          <p:cNvSpPr txBox="1"/>
          <p:nvPr/>
        </p:nvSpPr>
        <p:spPr>
          <a:xfrm>
            <a:off x="6903720" y="3438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Measure with scenario authors</a:t>
            </a:r>
            <a:endParaRPr lang="en-US" sz="1500" dirty="0"/>
          </a:p>
        </p:txBody>
      </p:sp>
      <p:sp>
        <p:nvSpPr>
          <p:cNvPr id="26" name="n1_d"/>
          <p:cNvSpPr txBox="1"/>
          <p:nvPr/>
        </p:nvSpPr>
        <p:spPr>
          <a:xfrm>
            <a:off x="6903720" y="37398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time to make an edit, mistakes caught</a:t>
            </a:r>
            <a:endParaRPr lang="en-US" sz="1200" dirty="0"/>
          </a:p>
        </p:txBody>
      </p:sp>
      <p:sp>
        <p:nvSpPr>
          <p:cNvPr id="27" name="n2_r"/>
          <p:cNvSpPr/>
          <p:nvPr/>
        </p:nvSpPr>
        <p:spPr>
          <a:xfrm>
            <a:off x="6565392" y="4169664"/>
            <a:ext cx="44805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8" name="n2_n"/>
          <p:cNvSpPr txBox="1"/>
          <p:nvPr/>
        </p:nvSpPr>
        <p:spPr>
          <a:xfrm>
            <a:off x="6565392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n2_h"/>
          <p:cNvSpPr txBox="1"/>
          <p:nvPr/>
        </p:nvSpPr>
        <p:spPr>
          <a:xfrm>
            <a:off x="6903720" y="4279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SSA in the optimiser</a:t>
            </a:r>
            <a:endParaRPr lang="en-US" sz="1500" dirty="0"/>
          </a:p>
        </p:txBody>
      </p:sp>
      <p:sp>
        <p:nvSpPr>
          <p:cNvPr id="30" name="n2_d"/>
          <p:cNvSpPr txBox="1"/>
          <p:nvPr/>
        </p:nvSpPr>
        <p:spPr>
          <a:xfrm>
            <a:off x="6903720" y="4581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sparse constant propagation, cleaner passes</a:t>
            </a:r>
            <a:endParaRPr lang="en-US" sz="1200" dirty="0"/>
          </a:p>
        </p:txBody>
      </p:sp>
      <p:sp>
        <p:nvSpPr>
          <p:cNvPr id="31" name="n3_r"/>
          <p:cNvSpPr/>
          <p:nvPr/>
        </p:nvSpPr>
        <p:spPr>
          <a:xfrm>
            <a:off x="6565392" y="5010912"/>
            <a:ext cx="4480560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2" name="n3_n"/>
          <p:cNvSpPr txBox="1"/>
          <p:nvPr/>
        </p:nvSpPr>
        <p:spPr>
          <a:xfrm>
            <a:off x="6565392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n3_h"/>
          <p:cNvSpPr txBox="1"/>
          <p:nvPr/>
        </p:nvSpPr>
        <p:spPr>
          <a:xfrm>
            <a:off x="6903720" y="5120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a bytecode verifier</a:t>
            </a:r>
            <a:endParaRPr lang="en-US" sz="1500" dirty="0"/>
          </a:p>
        </p:txBody>
      </p:sp>
      <p:sp>
        <p:nvSpPr>
          <p:cNvPr id="34" name="n3_d"/>
          <p:cNvSpPr txBox="1"/>
          <p:nvPr/>
        </p:nvSpPr>
        <p:spPr>
          <a:xfrm>
            <a:off x="6903720" y="54223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jump targets and registers checked before running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896112"/>
            <a:ext cx="1054577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-120" kern="0" dirty="0">
                <a:solidFill>
                  <a:schemeClr val="tx1"/>
                </a:solidFill>
              </a:rPr>
              <a:t>References.</a:t>
            </a:r>
            <a:endParaRPr lang="en-US" sz="4400" dirty="0"/>
          </a:p>
        </p:txBody>
      </p:sp>
      <p:sp>
        <p:nvSpPr>
          <p:cNvPr id="3" name="rk_u"/>
          <p:cNvSpPr txBox="1"/>
          <p:nvPr/>
        </p:nvSpPr>
        <p:spPr>
          <a:xfrm>
            <a:off x="8716975" y="16459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accent3"/>
                </a:solidFill>
              </a:rPr>
              <a:t>USED FOR</a:t>
            </a:r>
            <a:endParaRPr lang="en-US" sz="950" dirty="0"/>
          </a:p>
        </p:txBody>
      </p:sp>
      <p:sp>
        <p:nvSpPr>
          <p:cNvPr id="4" name="rf0_r"/>
          <p:cNvSpPr/>
          <p:nvPr/>
        </p:nvSpPr>
        <p:spPr>
          <a:xfrm>
            <a:off x="822960" y="1938528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" name="rf0_n"/>
          <p:cNvSpPr txBox="1"/>
          <p:nvPr/>
        </p:nvSpPr>
        <p:spPr>
          <a:xfrm>
            <a:off x="822960" y="20482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250" dirty="0"/>
          </a:p>
        </p:txBody>
      </p:sp>
      <p:sp>
        <p:nvSpPr>
          <p:cNvPr id="6" name="rf0_a"/>
          <p:cNvSpPr txBox="1"/>
          <p:nvPr/>
        </p:nvSpPr>
        <p:spPr>
          <a:xfrm>
            <a:off x="1508760" y="2029968"/>
            <a:ext cx="7071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A. V. Aho, M. S. Lam, R. Sethi and J. D. Ullman</a:t>
            </a:r>
            <a:endParaRPr lang="en-US" sz="1300" dirty="0"/>
          </a:p>
        </p:txBody>
      </p:sp>
      <p:sp>
        <p:nvSpPr>
          <p:cNvPr id="7" name="rf0_t"/>
          <p:cNvSpPr txBox="1"/>
          <p:nvPr/>
        </p:nvSpPr>
        <p:spPr>
          <a:xfrm>
            <a:off x="1508760" y="2276856"/>
            <a:ext cx="7071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Compilers: Principles, Techniques, and Tools, 2nd ed. Pearson Education, 2007.</a:t>
            </a:r>
            <a:endParaRPr lang="en-US" sz="1050" dirty="0"/>
          </a:p>
        </p:txBody>
      </p:sp>
      <p:sp>
        <p:nvSpPr>
          <p:cNvPr id="8" name="rf0_u"/>
          <p:cNvSpPr txBox="1"/>
          <p:nvPr/>
        </p:nvSpPr>
        <p:spPr>
          <a:xfrm>
            <a:off x="8716975" y="20482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Backpatching, the DAG, next-use, register allocation</a:t>
            </a:r>
            <a:endParaRPr lang="en-US" sz="1100" dirty="0"/>
          </a:p>
        </p:txBody>
      </p:sp>
      <p:sp>
        <p:nvSpPr>
          <p:cNvPr id="9" name="rf1_r"/>
          <p:cNvSpPr/>
          <p:nvPr/>
        </p:nvSpPr>
        <p:spPr>
          <a:xfrm>
            <a:off x="822960" y="2615184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0" name="rf1_n"/>
          <p:cNvSpPr txBox="1"/>
          <p:nvPr/>
        </p:nvSpPr>
        <p:spPr>
          <a:xfrm>
            <a:off x="822960" y="27249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250" dirty="0"/>
          </a:p>
        </p:txBody>
      </p:sp>
      <p:sp>
        <p:nvSpPr>
          <p:cNvPr id="11" name="rf1_a"/>
          <p:cNvSpPr txBox="1"/>
          <p:nvPr/>
        </p:nvSpPr>
        <p:spPr>
          <a:xfrm>
            <a:off x="1508760" y="2706624"/>
            <a:ext cx="7071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R. Cytron, J. Ferrante, B. K. Rosen, M. N. Wegman and F. K. Zadeck</a:t>
            </a:r>
            <a:endParaRPr lang="en-US" sz="1300" dirty="0"/>
          </a:p>
        </p:txBody>
      </p:sp>
      <p:sp>
        <p:nvSpPr>
          <p:cNvPr id="12" name="rf1_t"/>
          <p:cNvSpPr txBox="1"/>
          <p:nvPr/>
        </p:nvSpPr>
        <p:spPr>
          <a:xfrm>
            <a:off x="1508760" y="2953512"/>
            <a:ext cx="7071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“Efficiently computing static single assignment form and the control dependence graph,” ACM TOPLAS, vol. 13, no. 4, pp. 451–490, 1991.</a:t>
            </a:r>
            <a:endParaRPr lang="en-US" sz="1050" dirty="0"/>
          </a:p>
        </p:txBody>
      </p:sp>
      <p:sp>
        <p:nvSpPr>
          <p:cNvPr id="13" name="rf1_u"/>
          <p:cNvSpPr txBox="1"/>
          <p:nvPr/>
        </p:nvSpPr>
        <p:spPr>
          <a:xfrm>
            <a:off x="8716975" y="27249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Dominance frontiers and phi placement for SSA</a:t>
            </a:r>
            <a:endParaRPr lang="en-US" sz="1100" dirty="0"/>
          </a:p>
        </p:txBody>
      </p:sp>
      <p:sp>
        <p:nvSpPr>
          <p:cNvPr id="14" name="rf2_r"/>
          <p:cNvSpPr/>
          <p:nvPr/>
        </p:nvSpPr>
        <p:spPr>
          <a:xfrm>
            <a:off x="822960" y="3291840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15" name="rf2_n"/>
          <p:cNvSpPr txBox="1"/>
          <p:nvPr/>
        </p:nvSpPr>
        <p:spPr>
          <a:xfrm>
            <a:off x="822960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250" dirty="0"/>
          </a:p>
        </p:txBody>
      </p:sp>
      <p:sp>
        <p:nvSpPr>
          <p:cNvPr id="16" name="rf2_a"/>
          <p:cNvSpPr txBox="1"/>
          <p:nvPr/>
        </p:nvSpPr>
        <p:spPr>
          <a:xfrm>
            <a:off x="1508760" y="3383280"/>
            <a:ext cx="7071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J. Hoekstra and J. Ellerbroek</a:t>
            </a:r>
            <a:endParaRPr lang="en-US" sz="1300" dirty="0"/>
          </a:p>
        </p:txBody>
      </p:sp>
      <p:sp>
        <p:nvSpPr>
          <p:cNvPr id="17" name="rf2_t"/>
          <p:cNvSpPr txBox="1"/>
          <p:nvPr/>
        </p:nvSpPr>
        <p:spPr>
          <a:xfrm>
            <a:off x="1508760" y="3630168"/>
            <a:ext cx="7071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“BlueSky ATC simulator project: an open data and open source approach,” 7th Int. Conf. on Research in Air Transportation (ICRAT), 2016.</a:t>
            </a:r>
            <a:endParaRPr lang="en-US" sz="1050" dirty="0"/>
          </a:p>
        </p:txBody>
      </p:sp>
      <p:sp>
        <p:nvSpPr>
          <p:cNvPr id="18" name="rf2_u"/>
          <p:cNvSpPr txBox="1"/>
          <p:nvPr/>
        </p:nvSpPr>
        <p:spPr>
          <a:xfrm>
            <a:off x="8716975" y="34015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simulator the compiler targets</a:t>
            </a:r>
            <a:endParaRPr lang="en-US" sz="1100" dirty="0"/>
          </a:p>
        </p:txBody>
      </p:sp>
      <p:sp>
        <p:nvSpPr>
          <p:cNvPr id="19" name="rf3_r"/>
          <p:cNvSpPr/>
          <p:nvPr/>
        </p:nvSpPr>
        <p:spPr>
          <a:xfrm>
            <a:off x="822960" y="3968496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0" name="rf3_n"/>
          <p:cNvSpPr txBox="1"/>
          <p:nvPr/>
        </p:nvSpPr>
        <p:spPr>
          <a:xfrm>
            <a:off x="822960" y="40782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250" dirty="0"/>
          </a:p>
        </p:txBody>
      </p:sp>
      <p:sp>
        <p:nvSpPr>
          <p:cNvPr id="21" name="rf3_a"/>
          <p:cNvSpPr txBox="1"/>
          <p:nvPr/>
        </p:nvSpPr>
        <p:spPr>
          <a:xfrm>
            <a:off x="1508760" y="4059936"/>
            <a:ext cx="7071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TU Delft CNS/ATM</a:t>
            </a:r>
            <a:endParaRPr lang="en-US" sz="1300" dirty="0"/>
          </a:p>
        </p:txBody>
      </p:sp>
      <p:sp>
        <p:nvSpPr>
          <p:cNvPr id="22" name="rf3_t"/>
          <p:cNvSpPr txBox="1"/>
          <p:nvPr/>
        </p:nvSpPr>
        <p:spPr>
          <a:xfrm>
            <a:off x="1508760" y="4306824"/>
            <a:ext cx="7071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BlueSky wiki, “Scenario files.” github.com/TUDelft-CNS-ATM/bluesky/wiki/Scenario-files</a:t>
            </a:r>
            <a:endParaRPr lang="en-US" sz="1050" dirty="0"/>
          </a:p>
        </p:txBody>
      </p:sp>
      <p:sp>
        <p:nvSpPr>
          <p:cNvPr id="23" name="rf3_u"/>
          <p:cNvSpPr txBox="1"/>
          <p:nvPr/>
        </p:nvSpPr>
        <p:spPr>
          <a:xfrm>
            <a:off x="8716975" y="40782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.scn line format and the CRE arguments</a:t>
            </a:r>
            <a:endParaRPr lang="en-US" sz="1100" dirty="0"/>
          </a:p>
        </p:txBody>
      </p:sp>
      <p:sp>
        <p:nvSpPr>
          <p:cNvPr id="24" name="rf4_r"/>
          <p:cNvSpPr/>
          <p:nvPr/>
        </p:nvSpPr>
        <p:spPr>
          <a:xfrm>
            <a:off x="822960" y="4645152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rf4_n"/>
          <p:cNvSpPr txBox="1"/>
          <p:nvPr/>
        </p:nvSpPr>
        <p:spPr>
          <a:xfrm>
            <a:off x="822960" y="47548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1250" dirty="0"/>
          </a:p>
        </p:txBody>
      </p:sp>
      <p:sp>
        <p:nvSpPr>
          <p:cNvPr id="26" name="rf4_a"/>
          <p:cNvSpPr txBox="1"/>
          <p:nvPr/>
        </p:nvSpPr>
        <p:spPr>
          <a:xfrm>
            <a:off x="1508760" y="4736592"/>
            <a:ext cx="7071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S. Jafer, J. Updegrove and B. Chhaya</a:t>
            </a:r>
            <a:endParaRPr lang="en-US" sz="1300" dirty="0"/>
          </a:p>
        </p:txBody>
      </p:sp>
      <p:sp>
        <p:nvSpPr>
          <p:cNvPr id="27" name="rf4_t"/>
          <p:cNvSpPr txBox="1"/>
          <p:nvPr/>
        </p:nvSpPr>
        <p:spPr>
          <a:xfrm>
            <a:off x="1508760" y="4983480"/>
            <a:ext cx="7071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“Towards a common air traffic control simulation scenario development,” EPS Madrid 2017, SciTePress, pp. 52–70, 2017.</a:t>
            </a:r>
            <a:endParaRPr lang="en-US" sz="1050" dirty="0"/>
          </a:p>
        </p:txBody>
      </p:sp>
      <p:sp>
        <p:nvSpPr>
          <p:cNvPr id="28" name="rf4_u"/>
          <p:cNvSpPr txBox="1"/>
          <p:nvPr/>
        </p:nvSpPr>
        <p:spPr>
          <a:xfrm>
            <a:off x="8716975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Prior work on scenario languages</a:t>
            </a:r>
            <a:endParaRPr lang="en-US" sz="1100" dirty="0"/>
          </a:p>
        </p:txBody>
      </p:sp>
      <p:sp>
        <p:nvSpPr>
          <p:cNvPr id="29" name="rf5_r"/>
          <p:cNvSpPr/>
          <p:nvPr/>
        </p:nvSpPr>
        <p:spPr>
          <a:xfrm>
            <a:off x="822960" y="5321808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30" name="rf5_n"/>
          <p:cNvSpPr txBox="1"/>
          <p:nvPr/>
        </p:nvSpPr>
        <p:spPr>
          <a:xfrm>
            <a:off x="822960" y="54315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1250" dirty="0"/>
          </a:p>
        </p:txBody>
      </p:sp>
      <p:sp>
        <p:nvSpPr>
          <p:cNvPr id="31" name="rf5_a"/>
          <p:cNvSpPr txBox="1"/>
          <p:nvPr/>
        </p:nvSpPr>
        <p:spPr>
          <a:xfrm>
            <a:off x="1508760" y="5413248"/>
            <a:ext cx="7071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D. S. W. Gould, G. De Ath, B. Carvell and N. Pepper</a:t>
            </a:r>
            <a:endParaRPr lang="en-US" sz="1300" dirty="0"/>
          </a:p>
        </p:txBody>
      </p:sp>
      <p:sp>
        <p:nvSpPr>
          <p:cNvPr id="32" name="rf5_t"/>
          <p:cNvSpPr txBox="1"/>
          <p:nvPr/>
        </p:nvSpPr>
        <p:spPr>
          <a:xfrm>
            <a:off x="1508760" y="5660136"/>
            <a:ext cx="7071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“AirTrafficGen: Configurable air traffic scenario generation with large language models,” arXiv:2508.02269, 2025.</a:t>
            </a:r>
            <a:endParaRPr lang="en-US" sz="1050" dirty="0"/>
          </a:p>
        </p:txBody>
      </p:sp>
      <p:sp>
        <p:nvSpPr>
          <p:cNvPr id="33" name="rf5_u"/>
          <p:cNvSpPr txBox="1"/>
          <p:nvPr/>
        </p:nvSpPr>
        <p:spPr>
          <a:xfrm>
            <a:off x="8716975" y="54315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Scenario authoring as a bottleneck</a:t>
            </a:r>
            <a:endParaRPr lang="en-US" sz="1100" dirty="0"/>
          </a:p>
        </p:txBody>
      </p:sp>
      <p:sp>
        <p:nvSpPr>
          <p:cNvPr id="34" name="rf_end"/>
          <p:cNvSpPr/>
          <p:nvPr/>
        </p:nvSpPr>
        <p:spPr>
          <a:xfrm>
            <a:off x="822960" y="5998464"/>
            <a:ext cx="10545775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mb14_stmt"/>
          <p:cNvSpPr/>
          <p:nvPr/>
        </p:nvSpPr>
        <p:spPr>
          <a:xfrm>
            <a:off x="1295248" y="457200"/>
            <a:ext cx="9601200" cy="5486400"/>
          </a:xfrm>
          <a:prstGeom prst="ellipse">
            <a:avLst/>
          </a:prstGeom>
          <a:gradFill rotWithShape="1">
            <a:gsLst>
              <a:gs pos="0">
                <a:schemeClr val="accent1">
                  <a:lumMod val="14000"/>
                </a:schemeClr>
              </a:gs>
              <a:gs pos="70000">
                <a:schemeClr val="bg1"/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low_silver"/>
          <p:cNvSpPr/>
          <p:nvPr/>
        </p:nvSpPr>
        <p:spPr>
          <a:xfrm>
            <a:off x="-274320" y="5394960"/>
            <a:ext cx="12801600" cy="1417320"/>
          </a:xfrm>
          <a:custGeom>
            <a:avLst/>
            <a:gdLst/>
            <a:ahLst/>
            <a:cxnLst/>
            <a:rect l="l" t="t" r="r" b="b"/>
            <a:pathLst>
              <a:path w="12801600" h="1417320">
                <a:moveTo>
                  <a:pt x="0" y="594360"/>
                </a:moveTo>
                <a:cubicBezTo>
                  <a:pt x="4114800" y="1417320"/>
                  <a:pt x="8138160" y="0"/>
                  <a:pt x="12801600" y="868680"/>
                </a:cubicBezTo>
              </a:path>
            </a:pathLst>
          </a:custGeom>
          <a:ln w="11430">
            <a:solidFill>
              <a:schemeClr val="accent5"/>
            </a:solidFill>
            <a:prstDash val="solid"/>
          </a:ln>
        </p:spPr>
      </p:sp>
      <p:sp>
        <p:nvSpPr>
          <p:cNvPr id="4" name="low_hero_fadeL"/>
          <p:cNvSpPr/>
          <p:nvPr/>
        </p:nvSpPr>
        <p:spPr>
          <a:xfrm>
            <a:off x="-274320" y="5760720"/>
            <a:ext cx="11155680" cy="960120"/>
          </a:xfrm>
          <a:custGeom>
            <a:avLst/>
            <a:gdLst/>
            <a:ahLst/>
            <a:cxnLst/>
            <a:rect l="l" t="t" r="r" b="b"/>
            <a:pathLst>
              <a:path w="11155680" h="960120">
                <a:moveTo>
                  <a:pt x="0" y="960120"/>
                </a:moveTo>
                <a:cubicBezTo>
                  <a:pt x="3749040" y="45720"/>
                  <a:pt x="7955280" y="685800"/>
                  <a:pt x="11155680" y="0"/>
                </a:cubicBezTo>
              </a:path>
            </a:pathLst>
          </a:custGeom>
          <a:ln w="19050">
            <a:gradFill>
              <a:gsLst>
                <a:gs pos="0">
                  <a:schemeClr val="accent1">
                    <a:alpha val="0"/>
                  </a:schemeClr>
                </a:gs>
                <a:gs pos="60000">
                  <a:schemeClr val="accent1"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0" scaled="0"/>
            </a:gradFill>
            <a:prstDash val="solid"/>
          </a:ln>
        </p:spPr>
      </p:sp>
      <p:sp>
        <p:nvSpPr>
          <p:cNvPr id="5" name="low_next"/>
          <p:cNvSpPr/>
          <p:nvPr/>
        </p:nvSpPr>
        <p:spPr>
          <a:xfrm>
            <a:off x="10881360" y="5559552"/>
            <a:ext cx="1737360" cy="201168"/>
          </a:xfrm>
          <a:custGeom>
            <a:avLst/>
            <a:gdLst/>
            <a:ahLst/>
            <a:cxnLst/>
            <a:rect l="l" t="t" r="r" b="b"/>
            <a:pathLst>
              <a:path w="1737360" h="201168">
                <a:moveTo>
                  <a:pt x="0" y="201168"/>
                </a:moveTo>
                <a:cubicBezTo>
                  <a:pt x="548640" y="82296"/>
                  <a:pt x="1097280" y="18288"/>
                  <a:pt x="1737360" y="0"/>
                </a:cubicBezTo>
              </a:path>
            </a:pathLst>
          </a:custGeom>
          <a:ln w="12700">
            <a:solidFill>
              <a:schemeClr val="accent1"/>
            </a:solidFill>
            <a:prstDash val="dash"/>
          </a:ln>
        </p:spPr>
      </p:sp>
      <p:sp>
        <p:nvSpPr>
          <p:cNvPr id="6" name="low_ac_halo"/>
          <p:cNvSpPr/>
          <p:nvPr/>
        </p:nvSpPr>
        <p:spPr>
          <a:xfrm rot="4680000">
            <a:off x="10817352" y="5660136"/>
            <a:ext cx="128016" cy="201168"/>
          </a:xfrm>
          <a:prstGeom prst="triangle">
            <a:avLst/>
          </a:prstGeom>
          <a:solidFill>
            <a:schemeClr val="accent1"/>
          </a:solidFill>
          <a:ln/>
          <a:effectLst>
            <a:glow rad="114300">
              <a:schemeClr val="accent1">
                <a:alpha val="45000"/>
              </a:schemeClr>
            </a:glow>
          </a:effectLst>
        </p:spPr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1143000" y="1783080"/>
            <a:ext cx="99056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-250" kern="0" dirty="0">
                <a:solidFill>
                  <a:schemeClr val="tx1"/>
                </a:solidFill>
              </a:rPr>
              <a:t>Thank you.</a:t>
            </a:r>
            <a:endParaRPr lang="en-US" sz="34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822960" y="484632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chemeClr val="tx2"/>
                </a:solidFill>
              </a:rPr>
              <a:t>Questions welcome.</a:t>
            </a:r>
            <a:endParaRPr lang="en-US" sz="1400" dirty="0"/>
          </a:p>
        </p:txBody>
      </p:sp>
      <p:sp>
        <p:nvSpPr>
          <p:cNvPr id="9" name="gh_link"/>
          <p:cNvSpPr txBox="1"/>
          <p:nvPr/>
        </p:nvSpPr>
        <p:spPr>
          <a:xfrm>
            <a:off x="822960" y="523036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u="sng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github.com/Jaskaran-Singh-ops/AeroDSL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AeroDSL Keynote">
  <a:themeElements>
    <a:clrScheme name="AeroDSL Keynote">
      <a:dk1>
        <a:srgbClr val="0B0B0D"/>
      </a:dk1>
      <a:lt1>
        <a:srgbClr val="F5F5F7"/>
      </a:lt1>
      <a:dk2>
        <a:srgbClr val="161618"/>
      </a:dk2>
      <a:lt2>
        <a:srgbClr val="86868B"/>
      </a:lt2>
      <a:accent1>
        <a:srgbClr val="2997FF"/>
      </a:accent1>
      <a:accent2>
        <a:srgbClr val="D2D2D7"/>
      </a:accent2>
      <a:accent3>
        <a:srgbClr val="6E6E73"/>
      </a:accent3>
      <a:accent4>
        <a:srgbClr val="3A3A3C"/>
      </a:accent4>
      <a:accent5>
        <a:srgbClr val="26262A"/>
      </a:accent5>
      <a:accent6>
        <a:srgbClr val="1A1A1D"/>
      </a:accent6>
      <a:hlink>
        <a:srgbClr val="2997FF"/>
      </a:hlink>
      <a:folHlink>
        <a:srgbClr val="86868B"/>
      </a:folHlink>
    </a:clrScheme>
    <a:fontScheme name="AeroDSL Keyno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AeroDSL - Review 3: Implementation and Results</dc:title>
  <dc:subject>Compiler Design (BCSE307L) project review</dc:subject>
  <dc:creator>AeroDSL project team</dc:creator>
  <cp:lastModifiedBy>AeroDSL project team</cp:lastModifiedBy>
  <cp:revision>1</cp:revision>
  <dcterms:created xsi:type="dcterms:W3CDTF">2026-10-26T16:54:46Z</dcterms:created>
  <dcterms:modified xsi:type="dcterms:W3CDTF">2026-10-26T16:54:46Z</dcterms:modified>
</cp:coreProperties>
</file>