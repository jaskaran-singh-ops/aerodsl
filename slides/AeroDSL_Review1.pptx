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AeroDSL — a small programming language I designed, and a compiler for it, written from scratch in C. The domain is air traffic control training scenarios: the scripted traffic situations instructors use to train controllers on a simulator."
CONCEPT: framing. A new language plus a working compiler, for a real authoring problem.
WHY IT MATTERS: the first fifteen seconds decide whether the examiner thinks this is a toy or a real compiler. Say "compiler written from scratch in C, no parser generator" early.
SAY NEXT: "Before anything else — this is an educational prototype for simulated scenarios. It is not connected to anything real, and I will be clear about that throughout."
THE PICTURE: those two lines are the actual plan view from my demo — two aircraft converging, and the circle is where my compiler's simulator predicts they lose separation.
LIKELY Q: "Did you write the whole compiler yourself?"
A: "Yes — about 8,400 lines of C11, no dependencies. No Lex, no Yacc, no LLVM. The lexer and the recursive-descent parser are hand-written, which I did on purpose so I can trace any part of them for you."
TRANSITION: "Let me start with the problem, because the language only makes sense once you have seen what it replaces."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"Who actually writes these? Instructors training controllers, and researchers running experiments on ATC simulators. They are domain experts — not necessarily programmers."
"What they build is a scenario: a set of aircraft with starting positions, and a timeline of clearances — climb to this level, turn to that heading."
"And today they write it as a flat text file. One command per line, each line stamped with the time it should fire. That file at the bottom is the real documented format from BlueSky, which is an open-source ATC simulator from TU Delft."
CONCEPT: establishing the user, the artefact and the current workflow before proposing anything.
ANALOGY: "It is a bit like writing a film by listing every camera instruction with a timecode, instead of writing a script."
WHY IT MATTERS: a professor who has never seen this project needs the workflow in their head before the language will mean anything.
LIKELY Q: "Is BlueSky's format really like that?"
A: "Yes — that example is quoted from their wiki page on scenario files. The timestamp-arrow line format, the hash comment and the CRE argument order are all theirs, not mine."
TRANSITION: "The format is fine for the simulator. The trouble starts when a person has to maintain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things go wrong, and they all come from the same cause — the file has no structure above the level of a single command."
"No names: a level used ten times is typed ten times. No conditions: if you want a turn when the aircraft reaches a level, you have to work out when that happens and write an absolute timestamp. Nothing is checked. And the reason the scenario exists at all is written nowhere."
"The box at the bottom is the one that actually bites. Someone edits the starting altitude from FL100 to FL200. The timestamp for the turn was computed from FL100. Now the turn fires at the wrong moment, nothing reports it, and you find out by watching the replay."
CONCEPT: the failure mode is silent, which is what makes it worth a compiler.
WHY IT MATTERS: this is the single most important slide for justifying the project. If the examiner accepts this, everything else follows.
LIKELY Q: "Couldn't you just write a Python script to generate the file?"
A: "You could, and for the first two problems that would be enough — Python has variables and conditionals. What it does not give you is checking against the domain: in a library, clear(f, 'heading', 450) is an ordinary function call. In my language heading is a construct with a declared range, so 450 is rejected at the line and column where it was written, before anything runs. And a library cannot analyse across statements to notice that two clearances contradict each other."
TRANSITION: "Before I show you my answer, let me be honest about whether this problem is real and whether anyone has already solved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want to separate three different kinds of claim, because it would be easy to overstate this."
"Verified: the format genuinely has no variables, conditionals or validation. I read that off the documentation and off my own output."
"From the literature: Jafer and colleagues in 2017 say ATC scenario development lacks standardised practice and scenarios are hard to reuse — and they propose an ATC Scenario Language for exactly that. A 2025 paper on AirTrafficGen calls manual scenario design, in their words, a demanding and time-consuming bottleneck."
"And an assumption: that a compiler-checked language is the right answer for a working instructor. I have not interviewed anyone. That is a design hypothesis and I am labelling it as one."
"The bottom box is the one I most want to say out loud. AeroDSL is not the first language proposed for this. ASDL and the ATC Scenario Language came first. What I am claiming is narrower: a complete, small, readable compiler for the idea, with domain-aware static checking that those papers do not describe."
CONCEPT: intellectual honesty as a feature, not an apology.
WHY IT MATTERS: examiners probe novelty claims. Conceding priority before being asked turns a weakness into evidence of judgement.
LIKELY Q: "So what is actually new here?"
A: "As an idea, nothing — and I say so. As a project, the contribution is the compiler itself: the static checking that uses the domain, and specifically the barrier rule I will show you on slide eleven, which is what makes optimising a language with simulated state correct at all."
TRANSITION: "So — here is the same scenario, written as a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the left, what the author writes. On the right, what my compiler produces — and the right-hand side is the file the simulator actually consumes. AeroDSL does not replace the flat format. It generates it."
"Two things to notice. FL320 appears once, as cruise. And look at the clearance: the author wrote cruise minus two thousand feet. The compiler folded that to thirty thousand, and the output says FL300. Nobody typed FL300."
CONCEPT: source language versus target. The ordinary compiler relationship.
ANALOGY: "Exactly like writing C instead of assembly. The assembly still exists — you just stop writing it by hand."
WHY IT MATTERS: it reframes the project from "a new thing that competes with the simulator" to "a compiler, with a well-defined target".
LIKELY Q: "Does that generated file actually load in BlueSky?"
A: "I have not tested that, and I am careful not to claim it. What I can show you is that the line format and the CRE argument order match their published documentation exactly. Loading it into BlueSky is the first thing on my future-work list."
TRANSITION: "Let me show you the language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complete, runnable example from the repository — a controller-training exercise with two aircraft converging at the same level."
"Four things I would point at. Declarations: waypoints and aircraft are first-class, and an aircraft enters the airspace where its declaration appears, so traffic can arrive part-way through a scenario."
"Abstraction: FL320 written once, used by both aircraft."
"Simulated state: hsep is the horizontal separation between two aircraft right now. advance runs the simulation forward. So that loop is measuring the closest the pair ever comes — in the language itself, not by reading it off a replay."
"And the last line. assert says why this scenario exists: the pair must come within five miles, or there is no exercise. The compiler simulates the scenario and checks it."
CONCEPT: domain constructs as syntax, and executable intent.
WHY IT MATTERS: this is the slide where the language stops looking like a config format.
LIKELY Q: "Why is assert interesting? Every language has assertions."
A: "Because of what it is asserting about. It is checked against a simulation the compiler ran itself, so the claim being verified is about the traffic situation, not about a variable. If someone edits the geometry and the aircraft stop converging, the compile fails."
TRANSITION: "So how does that become a scenario file? Here is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"Ten stages, all implemented, and every one of them can be printed from the command line — the flag is written under each box."
"Front end across the top: lexer, parser, semantic analysis, then three-address code and the control-flow graph. Back end along the bottom: the optimiser, the domain checks, code generation, the virtual machine, and finally the scenario file."
"The amber box is the one that is specific to this project — that is where operand ranges and clearance consistency are checked."
"And the bar at the bottom: dominators, liveness, SSA, register allocation with spilling. All real and all tested. I am not going to walk through them unless you want me to, because they are not needed to understand the project."
CONCEPT: the standard phase structure, with the domain-specific pass identified.
ANALOGY for the stages: "Lexer recognises the words. Parser checks the grammar. Semantic analysis asks whether the sentence makes sense. The rest is translation."
WHY IT MATTERS: it shows completeness without drowning the audience.
LIKELY Q: "Which phases are only partially done?"
A: "Register allocation and common-subexpression elimination are both local to a basic block, not global. The SSA form is built and printed but no pass runs on it. Those three are in my limitations slide and in the project's STATUS document."
TRANSITION: "Let me take one tiny program and follow it all the way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"Eight lines of source. Everything you see on this slide and the next is real output from the compiler — I ran it to make these slides."
"Tokens first. Notice FL240 is a single token carrying the value twenty-four thousand feet, and 280KT is a single token worth two hundred and eighty knots. The units are in the lexer."
"Then the AST — the tree. And every node already has a type on it: num, flight. That is the semantic analyser's output, annotated onto the tree the parser built."
CONCEPT: lexical then syntactic then semantic, each adding information.
ANALOGY: "Tokens are the words. The tree is the sentence diagram. The types are knowing that 'climb' needs a height and not a place."
WHY IT MATTERS: this is the heart of a compiler review. Use real output and the examiner can trust the rest.
LIKELY Q: "Why is FL320 one token and not three?"
A: "Because in this domain it is one thing — a flight level. The lexer matches FL followed by exactly three digits and attaches the numeric value. It is tried before the callsign rule, which is why an aircraft cannot be named FL plus three digits. I derived that little DFA in the architecture document."
TRANSITION: "Same program, now in the middle of the compiler."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"Three-address code: at most one operation per instruction, which is the form the optimiser works on. You can see the let became an assignment, the subtraction became its own instruction into a temporary, and then the clearance uses that temporary."
"Optimised: those three instructions collapsed into one. Constant propagation knew what cruise held, folding did the subtraction, and the copy that was left became dead."
"Then bytecode for my virtual machine — sixteen registers, spill slots in the frame."
"And at the bottom, running it. Two events, and then the scenario file: a CRE line and an ALT line, at the times the simulation produced them."
CONCEPT: lowering, optimisation, code generation, execution.
ANALOGY: "Three-address code is the compiler's own simplified language — small enough that it can reason about it."
WHY IT MATTERS: it closes the loop from source to the artefact the user actually wanted.
LIKELY Q: "Why generate bytecode and a VM rather than C?"
A: "Because the scenario has to run to produce its own timeline. A conditional that depends on where the aircraft is can only be resolved by simulating. And a VM can be instrumented — every clearance and every separation measurement is observable from inside the instruction loop, which is what the assertion checking needs."
TRANSITION: "Let me say a bit more about the optimiser, because it does something I did not expect when I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"Seven passes, repeated until nothing changes, because each one creates work for the others."
"The small example at the top is the one from the walkthrough: propagate, fold, drop the dead copy. Three instructions to one."
"The box on the left is every counter from a file I wrote specifically so that every pass fires. Sixty-one three-address instructions in, thirty-seven out."
"But the right-hand box is the thing I would actually like to be asked about. Range checking runs after constant propagation. So if you write let h = 450 and then clear with heading h, that is a compile-time error — because by that point the compiler knows what h holds. An optimisation is normally justified by the code it produces. Here one is justified by the error message it makes possible."
CONCEPT: optimisation as an enabler of analysis, not just of speed.
WHY IT MATTERS: it is a genuine insight and it is specific to this project.
LIKELY Q: "Does the optimiser change what the program does?"
A: "It must not, and I test that rather than assert it. The suite runs eighteen scenarios twice — once with the optimiser, once without — and requires the diagnostics, the whole event trace and the final state of every aircraft to be identical."
TRANSITION: "Which brings me to the one rule that makes all of that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a perfectly ordinary loop: wait until the aircraft passes FL300."
"A textbook optimiser would break it. That altitude read looks loop-invariant by every usual test — the operands are the same, nothing in the loop assigns to them. So hoist it out, evaluate the condition once, and the loop never terminates."
"The fix is the rule on the right. clear, advance, enter and call can change the simulated world, so they are barriers. A read of that world is never moved across one — not by common-subexpression elimination, not by code motion. That is six lines of C and it is what makes every other optimisation in the project correct."
"And the bottom box: it is checked by that differential test, not just asserted."
CONCEPT: a domain-specific dependence rule constraining classical optimisation.
ANALOGY: "It is the same reason a C compiler cannot cache a read through a volatile pointer. Something outside the code can change it."
WHY IT MATTERS: this is the intellectual high point of the project. If you only get one deep question, you want it to be this one.
LIKELY Q: "How do you know you caught every case?"
A: "I do not know it by proof — I know it by construction and by test. The rule is applied in one place, ir_is_barrier, and every pass that moves or reuses an instruction consults it. The differential test is what would catch a pass that forgot."
TRANSITION: "Let me show you what the compiler catches."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layers, and every message on this slide is copied from an actual run."
"Lexical and syntax first — and the parser reports all of them, not just the first, because it resynchronises at the start of the next statement line."
"Then semantic: types, arity, scope. One decision I will defend — there is no implicit test against zero. if AI202.alt then is rejected. In a language about altitudes and headings, 'non-zero means true' would be a trap: a heading condition would be false only when the aircraft points exactly north."
"Then the domain layer. The heading error here came from a variable, not a literal — caught because range checking runs after propagation. And the warning underneath is the one a general-purpose compiler could not produce: two clearances that contradict each other, with no advance between them to let the first take effect."
CONCEPT: the three error classes, kept distinct, plus a fourth domain layer.
WHY IT MATTERS: examiners specifically test whether a student confuses lexical, syntax and semantic errors.
LIKELY Q: "What is the difference between the error and the warning here?"
A: "The error is a value that cannot be legal — no heading is 450 degrees — so compilation stops. The warning is a scenario that is legal but probably not what was meant; an author might have a reason, so it reports and carries on."
TRANSITION: "Last piece — what happens when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things in the VM. A register machine with proper activation records, so procedures and recursion work. A flight model that integrates in one-second steps — and it is deliberately crude: fixed rates, no wind, no mass."
"And a separation monitor that measures every pair of aircraft after every simulated second."
"The trace on the left is the converging example. At one minute thirty-five the monitor records the loss of separation. At ten minutes, the assertion holds — the conflict this scenario exists to create does happen."
"The box on the right is what I would defend hardest. There is a companion file with the same geometry and a resolution applied, and it asserts the opposite — that separation is maintained. Both hold. Edit either one so the geometry changes, and the compiler tells you."
CONCEPT: runtime organisation, plus verification of intent.
WHY IT MATTERS: it closes the argument that started on slide three — the intent that was written nowhere is now checkable.
LIKELY Q: "How realistic is the flight model?"
A: "Not very, and I would not defend it as realistic. It is kinematic with fixed rates. It is good enough to decide when two aircraft come close on the scale of a training scenario and good for nothing else. It is the weakest part of the project and it is first on my limitations slide."
TRANSITION: "Let me show you what is actually in the repository, and what I did to convince myself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"Ten source files, about eighty-four hundred lines of C11, no dependencies at all — no parser generator, no libraries. It builds with make and a C compiler."
"On the right is the evidence. Three hundred and thirty-six checks pass. Eighteen scenarios are run twice, with and without the optimiser, and compared — that is the differential test. The whole suite is clean under AddressSanitizer and the undefined-behaviour sanitizer. And three thousand fuzz inputs — random tokens, random bytes, mutated valid programs — produce no crash."
"The fuzz harness is in the repository as tests/fuzz.py, so you can run it yourself rather than take my word for it."
CONCEPT: verification, and making claims reproducible.
WHY IT MATTERS: numbers that can be checked carry far more weight than numbers that cannot.
LIKELY Q: "Which test would catch the most serious kind of bug?"
A: "The differential one. An unsound optimisation is the worst thing a compiler can do, because the program still runs and quietly does the wrong thing. That test compares the whole observable behaviour of eighteen scenarios with the optimiser on and off."
TRANSITION: "Against the syllabus,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"Forty-five topics implemented, one partial, three worked out on paper, and ten not covered."
"Module one through six are essentially complete. Module two I would highlight: the parser is recursive descent, but because the syllabus also covers bottom-up parsing, I worked the full SLR table — the item sets, FIRST and FOLLOW, and the proof there is no shift-reduce conflict — by hand in the architecture document."
"Module seven is where I am weakest. Domain-specific languages and SSA are there; automatic parallelisation, vectorisation, cache locality and instruction scheduling are not. I have named all ten uncovered topics in the box at the bottom rather than leaving you to find them."
CONCEPT: honest coverage mapping.
WHY IT MATTERS: a table claiming every topic would not be believable. Naming the gaps makes the rest credible.
LIKELY Q: "Why no switch statement, when module four lists it?"
A: "Because the language has nothing to switch on. Adding a construct purely to tick a syllabus box would be padding, and I would rather say that than pretend."
TRANSITION: "Finally — what this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limitations I would rather raise myself."
"The flight model is the weakest part. Everything above it is sound in its own terms, but a scenario that depends on precise timing is only as good as that model."
"Units are a convention, not types. climb 280 means two hundred and eighty feet and is accepted. That is the one place the language looks safer than it is, and making units part of the type system is the single most valuable change I could make."
"SSA is built and printed but no pass uses it."
"And I have not loaded the output into a real simulator. The format matches the published documentation; whether it loads, I do not know, and I have not claimed otherwise anywhere in this deck."
"Next, in order: use the SSA form, add unit types, and test against BlueSky."
CONCEPT: closing on scope and judgement.
WHY IT MATTERS: finishing with limitations rather than a claim leaves the impression of someone who understands their own work.
LIKELY Q: "If you had another month, what would you do?"
A: "Unit-aware types. It is the smallest change with the biggest effect on the thing the language is for — it turns the one remaining silent failure into a compile error, and it is mostly a wider type enum plus a table of which units combine."
CLOSING LINE: "The claim is not that this solves air traffic control. It is that a small language with a complete compiler turns a class of authoring mistake into a compiler error — and that the compiler is finished enough that I can show you every stage of it. Thank you — happy to go into any phase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only if asked about the grammar.
SAY: "The grammar is LL(1) by construction, which is what lets me have one function per production in the parser."
"Three places it could have been ambiguous. end closes every block, so there is no dangling-else problem at all. Comparisons do not chain — a &lt; b &lt; c is a syntax error, which removes a whole class of bug by construction rather than by checking. And fix and flight are each both a keyword and a type name, but they only ever appear in different positions, so one token of lookahead is enough."
LIKELY Q: "Show me there is no shift-reduce conflict."
A: "The architecture document has the full SLR construction on the expression core — the twelve LR(0) item sets and the table. The two states that could conflict are the ones with E to T dot and E to E plus T dot, where a reduce competes with shifting a star. Star is not in FOLLOW of E, so no reduce entry is placed on it and the shift stands unopposed. That is precedence falling out of the table, and it is the same fact my recursive-descent parser expresses by having parse_add call parse_mul."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use if asked "isn't this too big for a student project?"
SAY: "I thought about this carefully. The honest answer is that the student-sized version of this project is a smaller story, not a smaller codebase."
"The must-have row is the spine — remove any one of those and either the pipeline stops or the domain claim stops being true."
"The nice-to-have row is each a syllabus topic in its own right and cheap to explain on top of what is already there."
"The held-in-reserve row is real and tested and genuinely not needed to understand the project. SSA is the clearest example: it answers 'is there more?' rather than 'what is this?'."
"And I deliberately left things out — arrays, modules, procedures returning values, a global register allocator. Each was a decision, not an oversight."
LIKELY Q: "Would the project be better if it were smaller?"
A: "The presentation would be — which is why the core deck is sixteen slides and leads with seven stages. The code would not be: deleting working, tested, documented code to look simpler would lose information, not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technical note on the deck itself, not the project.
SAY (if asked): "The build steps are real PowerPoint entrance animations, written into the slide XML directly — the library I used to generate the deck has no animation API, so I post-processed the package to add the timing tree."
"I did not use morph, because it needs PowerPoint 2019 or later and degrades badly where it is unsupported. Everything is fade, which is universally supported."
"And every slide is laid out so it still reads with all the build steps visible at once, because animations do not survive a PDF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the sources.
SAY (if asked): "Four external sources and two textbook ones."
"The BlueSky wiki for the scenario file format — that is where the line format and the CRE argument order on slides two and five come from."
"Jafer, Updegrove and Chhaya from 2017 for the claim that ATC scenario development lacks standard practice — and that is also the prior art for the idea of an ATC scenario language."
"AirTrafficGen from 2025 for the description of manual scenario design as a bottleneck."
"And Aho, Lam, Sethi and Ullman for the compiler technique throughout — backpatching, the DAG, next-use, the register allocator — plus Cytron for SSA construction."
IMPORTANT: "There is no industry statistic, interview, incident record or user study anywhere in this deck, because I did not conduct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162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C16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rtlCol="0"/>
          <a:lstStyle>
            <a:lvl1pPr algn="l" indent="0" marL="0">
              <a:buNone/>
              <a:defRPr lang="en-US" sz="2900" b="1" dirty="0">
                <a:solidFill>
                  <a:srgbClr val="FFFFFF"/>
                </a:solidFill>
              </a:defRPr>
            </a:lvl1pPr>
          </a:lstStyle>
          <a:p>
            <a:pPr algn="l" indent="0" marL="0">
              <a:buNone/>
            </a:pPr>
            <a:r>
              <a:rPr lang="en-US" sz="2900" b="1" dirty="0">
                <a:solidFill>
                  <a:srgbClr val="FFFFFF"/>
                </a:solidFill>
              </a:rPr>
              <a:t> </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rtlCol="0"/>
          <a:lstStyle>
            <a:lvl1pPr algn="l" indent="0" marL="0">
              <a:buNone/>
              <a:defRPr lang="en-US" sz="1500" dirty="0">
                <a:solidFill>
                  <a:srgbClr val="DCE6F2"/>
                </a:solidFill>
              </a:defRPr>
            </a:lvl1pPr>
          </a:lstStyle>
          <a:p>
            <a:pPr algn="l" indent="0" marL="0">
              <a:buNone/>
            </a:pPr>
            <a:r>
              <a:rPr lang="en-US" sz="1500" dirty="0">
                <a:solidFill>
                  <a:srgbClr val="DCE6F2"/>
                </a:solidFill>
              </a:rPr>
              <a:t> </a:t>
            </a:r>
            <a:endParaRPr lang="en-US" sz="1500" dirty="0"/>
          </a:p>
        </p:txBody>
      </p:sp>
      <p:sp>
        <p:nvSpPr>
          <p:cNvPr id="4" name="Text 0"/>
          <p:cNvSpPr txBox="1"/>
          <p:nvPr/>
        </p:nvSpPr>
        <p:spPr>
          <a:xfrm>
            <a:off x="566928" y="6419088"/>
            <a:ext cx="8595360" cy="274320"/>
          </a:xfrm>
          <a:prstGeom prst="rect">
            <a:avLst/>
          </a:prstGeom>
          <a:noFill/>
          <a:ln/>
        </p:spPr>
        <p:txBody>
          <a:bodyPr wrap="square" lIns="0" tIns="0" rIns="0" bIns="0" rtlCol="0" anchor="ctr"/>
          <a:lstStyle/>
          <a:p>
            <a:pPr indent="0" marL="0">
              <a:buNone/>
            </a:pPr>
            <a:r>
              <a:rPr lang="en-US" sz="900" dirty="0">
                <a:solidFill>
                  <a:srgbClr val="4A5B70"/>
                </a:solidFill>
              </a:rPr>
              <a:t>AeroDSL · academic prototype · not for operational air traffic control</a:t>
            </a:r>
            <a:endParaRPr lang="en-US" sz="9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PPENDIX">
    <p:bg>
      <p:bgPr>
        <a:solidFill>
          <a:srgbClr val="08111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rtlCol="0"/>
          <a:lstStyle>
            <a:lvl1pPr algn="l" indent="0" marL="0">
              <a:buNone/>
              <a:defRPr lang="en-US" sz="2900" b="1" dirty="0">
                <a:solidFill>
                  <a:srgbClr val="FFFFFF"/>
                </a:solidFill>
              </a:defRPr>
            </a:lvl1pPr>
          </a:lstStyle>
          <a:p>
            <a:pPr algn="l" indent="0" marL="0">
              <a:buNone/>
            </a:pPr>
            <a:r>
              <a:rPr lang="en-US" sz="2900" b="1" dirty="0">
                <a:solidFill>
                  <a:srgbClr val="FFFFFF"/>
                </a:solidFill>
              </a:rPr>
              <a:t> </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rtlCol="0"/>
          <a:lstStyle>
            <a:lvl1pPr algn="l" indent="0" marL="0">
              <a:buNone/>
              <a:defRPr lang="en-US" sz="1500" dirty="0">
                <a:solidFill>
                  <a:srgbClr val="DCE6F2"/>
                </a:solidFill>
              </a:defRPr>
            </a:lvl1pPr>
          </a:lstStyle>
          <a:p>
            <a:pPr algn="l" indent="0" marL="0">
              <a:buNone/>
            </a:pPr>
            <a:r>
              <a:rPr lang="en-US" sz="1500" dirty="0">
                <a:solidFill>
                  <a:srgbClr val="DCE6F2"/>
                </a:solidFill>
              </a:rPr>
              <a:t> </a:t>
            </a:r>
            <a:endParaRPr lang="en-US" sz="1500" dirty="0"/>
          </a:p>
        </p:txBody>
      </p:sp>
      <p:sp>
        <p:nvSpPr>
          <p:cNvPr id="4" name="Text 0"/>
          <p:cNvSpPr txBox="1"/>
          <p:nvPr/>
        </p:nvSpPr>
        <p:spPr>
          <a:xfrm>
            <a:off x="566928" y="6419088"/>
            <a:ext cx="3657600" cy="274320"/>
          </a:xfrm>
          <a:prstGeom prst="rect">
            <a:avLst/>
          </a:prstGeom>
          <a:noFill/>
          <a:ln/>
        </p:spPr>
        <p:txBody>
          <a:bodyPr wrap="square" lIns="0" tIns="0" rIns="0" bIns="0" rtlCol="0" anchor="ctr"/>
          <a:lstStyle/>
          <a:p>
            <a:pPr indent="0" marL="0">
              <a:buNone/>
            </a:pPr>
            <a:r>
              <a:rPr lang="en-US" sz="900" dirty="0">
                <a:solidFill>
                  <a:srgbClr val="4A5B70"/>
                </a:solidFill>
              </a:rPr>
              <a:t>Appendix</a:t>
            </a:r>
            <a:endParaRPr lang="en-US" sz="9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ckA"/>
          <p:cNvSpPr/>
          <p:nvPr/>
        </p:nvSpPr>
        <p:spPr>
          <a:xfrm flipV="1">
            <a:off x="1005840" y="3886200"/>
            <a:ext cx="4846320" cy="1874520"/>
          </a:xfrm>
          <a:prstGeom prst="line">
            <a:avLst/>
          </a:prstGeom>
          <a:noFill/>
          <a:ln w="25400">
            <a:solidFill>
              <a:srgbClr val="35C6A8"/>
            </a:solidFill>
            <a:prstDash val="solid"/>
          </a:ln>
        </p:spPr>
      </p:sp>
      <p:sp>
        <p:nvSpPr>
          <p:cNvPr id="3" name="trackB"/>
          <p:cNvSpPr/>
          <p:nvPr/>
        </p:nvSpPr>
        <p:spPr>
          <a:xfrm flipH="1" flipV="1">
            <a:off x="6035040" y="3886200"/>
            <a:ext cx="4846320" cy="1874520"/>
          </a:xfrm>
          <a:prstGeom prst="line">
            <a:avLst/>
          </a:prstGeom>
          <a:noFill/>
          <a:ln w="25400">
            <a:solidFill>
              <a:srgbClr val="E8A33D"/>
            </a:solidFill>
            <a:prstDash val="solid"/>
          </a:ln>
        </p:spPr>
      </p:sp>
      <p:sp>
        <p:nvSpPr>
          <p:cNvPr id="4" name="conflict"/>
          <p:cNvSpPr/>
          <p:nvPr/>
        </p:nvSpPr>
        <p:spPr>
          <a:xfrm>
            <a:off x="5870448" y="3749040"/>
            <a:ext cx="274320" cy="274320"/>
          </a:xfrm>
          <a:prstGeom prst="ellipse">
            <a:avLst/>
          </a:prstGeom>
          <a:solidFill>
            <a:srgbClr val="0C1626"/>
          </a:solidFill>
          <a:ln w="22225">
            <a:solidFill>
              <a:srgbClr val="E85D75"/>
            </a:solidFill>
            <a:prstDash val="solid"/>
          </a:ln>
        </p:spPr>
      </p:sp>
      <p:sp>
        <p:nvSpPr>
          <p:cNvPr id="5" name="conflictLabel"/>
          <p:cNvSpPr txBox="1"/>
          <p:nvPr/>
        </p:nvSpPr>
        <p:spPr>
          <a:xfrm>
            <a:off x="6355080" y="3749040"/>
            <a:ext cx="3657600" cy="274320"/>
          </a:xfrm>
          <a:prstGeom prst="rect">
            <a:avLst/>
          </a:prstGeom>
          <a:noFill/>
          <a:ln/>
        </p:spPr>
        <p:txBody>
          <a:bodyPr wrap="square" lIns="0" tIns="0" rIns="0" bIns="0" rtlCol="0" anchor="ctr"/>
          <a:lstStyle/>
          <a:p>
            <a:pPr indent="0" marL="0">
              <a:buNone/>
            </a:pPr>
            <a:r>
              <a:rPr lang="en-US" sz="1000" dirty="0">
                <a:solidFill>
                  <a:srgbClr val="E85D75"/>
                </a:solidFill>
              </a:rPr>
              <a:t>predicted loss of separation</a:t>
            </a:r>
            <a:endParaRPr lang="en-US" sz="1000" dirty="0"/>
          </a:p>
        </p:txBody>
      </p:sp>
      <p:sp>
        <p:nvSpPr>
          <p:cNvPr id="6" name="Text 4"/>
          <p:cNvSpPr txBox="1"/>
          <p:nvPr/>
        </p:nvSpPr>
        <p:spPr>
          <a:xfrm>
            <a:off x="566928" y="1572768"/>
            <a:ext cx="11057839" cy="914400"/>
          </a:xfrm>
          <a:prstGeom prst="rect">
            <a:avLst/>
          </a:prstGeom>
          <a:noFill/>
          <a:ln/>
        </p:spPr>
        <p:txBody>
          <a:bodyPr wrap="square" lIns="0" tIns="0" rIns="0" bIns="0" rtlCol="0" anchor="ctr"/>
          <a:lstStyle/>
          <a:p>
            <a:pPr indent="0" marL="0">
              <a:buNone/>
            </a:pPr>
            <a:r>
              <a:rPr lang="en-US" sz="6000" b="1" spc="-100" kern="0" dirty="0">
                <a:solidFill>
                  <a:srgbClr val="FFFFFF"/>
                </a:solidFill>
              </a:rPr>
              <a:t>AeroDSL</a:t>
            </a:r>
            <a:endParaRPr lang="en-US" sz="6000" dirty="0"/>
          </a:p>
        </p:txBody>
      </p:sp>
      <p:sp>
        <p:nvSpPr>
          <p:cNvPr id="7" name="Text 5"/>
          <p:cNvSpPr txBox="1"/>
          <p:nvPr/>
        </p:nvSpPr>
        <p:spPr>
          <a:xfrm>
            <a:off x="566928" y="2487168"/>
            <a:ext cx="9692640" cy="457200"/>
          </a:xfrm>
          <a:prstGeom prst="rect">
            <a:avLst/>
          </a:prstGeom>
          <a:noFill/>
          <a:ln/>
        </p:spPr>
        <p:txBody>
          <a:bodyPr wrap="square" lIns="0" tIns="0" rIns="0" bIns="0" rtlCol="0" anchor="ctr"/>
          <a:lstStyle/>
          <a:p>
            <a:pPr indent="0" marL="0">
              <a:buNone/>
            </a:pPr>
            <a:r>
              <a:rPr lang="en-US" sz="1900" dirty="0">
                <a:solidFill>
                  <a:srgbClr val="35C6A8"/>
                </a:solidFill>
              </a:rPr>
              <a:t>A domain-specific language and compiler for simulated ATC training scenarios</a:t>
            </a:r>
            <a:endParaRPr lang="en-US" sz="1900" dirty="0"/>
          </a:p>
        </p:txBody>
      </p:sp>
      <p:sp>
        <p:nvSpPr>
          <p:cNvPr id="8" name="Text 6"/>
          <p:cNvSpPr txBox="1"/>
          <p:nvPr/>
        </p:nvSpPr>
        <p:spPr>
          <a:xfrm>
            <a:off x="566928" y="3035808"/>
            <a:ext cx="9692640" cy="320040"/>
          </a:xfrm>
          <a:prstGeom prst="rect">
            <a:avLst/>
          </a:prstGeom>
          <a:noFill/>
          <a:ln/>
        </p:spPr>
        <p:txBody>
          <a:bodyPr wrap="square" lIns="0" tIns="0" rIns="0" bIns="0" rtlCol="0" anchor="ctr"/>
          <a:lstStyle/>
          <a:p>
            <a:pPr indent="0" marL="0">
              <a:buNone/>
            </a:pPr>
            <a:r>
              <a:rPr lang="en-US" sz="1350" dirty="0">
                <a:solidFill>
                  <a:srgbClr val="8D9CAF"/>
                </a:solidFill>
              </a:rPr>
              <a:t>Compiler Design (BCSE307L) · project review</a:t>
            </a:r>
            <a:endParaRPr lang="en-US" sz="1350" dirty="0"/>
          </a:p>
        </p:txBody>
      </p:sp>
      <p:sp>
        <p:nvSpPr>
          <p:cNvPr id="9" name="Shape 7"/>
          <p:cNvSpPr/>
          <p:nvPr/>
        </p:nvSpPr>
        <p:spPr>
          <a:xfrm>
            <a:off x="566928" y="5961888"/>
            <a:ext cx="11055096" cy="402336"/>
          </a:xfrm>
          <a:prstGeom prst="roundRect">
            <a:avLst>
              <a:gd name="adj" fmla="val 18182"/>
            </a:avLst>
          </a:prstGeom>
          <a:solidFill>
            <a:srgbClr val="16233A"/>
          </a:solidFill>
          <a:ln w="12700">
            <a:solidFill>
              <a:srgbClr val="2A3B52"/>
            </a:solidFill>
            <a:prstDash val="solid"/>
          </a:ln>
        </p:spPr>
      </p:sp>
      <p:sp>
        <p:nvSpPr>
          <p:cNvPr id="10" name="Text 8"/>
          <p:cNvSpPr txBox="1"/>
          <p:nvPr/>
        </p:nvSpPr>
        <p:spPr>
          <a:xfrm>
            <a:off x="749808" y="5961888"/>
            <a:ext cx="10698480" cy="402336"/>
          </a:xfrm>
          <a:prstGeom prst="rect">
            <a:avLst/>
          </a:prstGeom>
          <a:noFill/>
          <a:ln/>
        </p:spPr>
        <p:txBody>
          <a:bodyPr wrap="square" lIns="0" tIns="0" rIns="0" bIns="0" rtlCol="0" anchor="ctr"/>
          <a:lstStyle/>
          <a:p>
            <a:pPr indent="0" marL="0">
              <a:buNone/>
            </a:pPr>
            <a:r>
              <a:rPr lang="en-US" sz="1100" dirty="0">
                <a:solidFill>
                  <a:srgbClr val="E8A33D"/>
                </a:solidFill>
              </a:rPr>
              <a:t>Educational prototype for simulated training scenarios. Not connected to, and not for use with, real aircraft or live air traffic control.</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The problem, in plain English</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A scenario is a text file of timestamped commands. Nothing checks it before it runs.</a:t>
            </a:r>
            <a:endParaRPr lang="en-US" sz="1500" dirty="0"/>
          </a:p>
        </p:txBody>
      </p:sp>
      <p:sp>
        <p:nvSpPr>
          <p:cNvPr id="4" name="who"/>
          <p:cNvSpPr/>
          <p:nvPr/>
        </p:nvSpPr>
        <p:spPr>
          <a:xfrm>
            <a:off x="566928" y="1572768"/>
            <a:ext cx="3503066" cy="1664208"/>
          </a:xfrm>
          <a:prstGeom prst="roundRect">
            <a:avLst>
              <a:gd name="adj" fmla="val 3846"/>
            </a:avLst>
          </a:prstGeom>
          <a:solidFill>
            <a:srgbClr val="16233A"/>
          </a:solidFill>
          <a:ln w="12700">
            <a:solidFill>
              <a:srgbClr val="22344F"/>
            </a:solidFill>
            <a:prstDash val="solid"/>
          </a:ln>
        </p:spPr>
      </p:sp>
      <p:sp>
        <p:nvSpPr>
          <p:cNvPr id="5" name="who_h"/>
          <p:cNvSpPr txBox="1"/>
          <p:nvPr/>
        </p:nvSpPr>
        <p:spPr>
          <a:xfrm>
            <a:off x="749808" y="1719072"/>
            <a:ext cx="3137306" cy="274320"/>
          </a:xfrm>
          <a:prstGeom prst="rect">
            <a:avLst/>
          </a:prstGeom>
          <a:noFill/>
          <a:ln/>
        </p:spPr>
        <p:txBody>
          <a:bodyPr wrap="square" lIns="0" tIns="0" rIns="0" bIns="0" rtlCol="0" anchor="ctr"/>
          <a:lstStyle/>
          <a:p>
            <a:pPr indent="0" marL="0">
              <a:buNone/>
            </a:pPr>
            <a:r>
              <a:rPr lang="en-US" sz="1300" b="1" dirty="0">
                <a:solidFill>
                  <a:srgbClr val="35C6A8"/>
                </a:solidFill>
              </a:rPr>
              <a:t>Who</a:t>
            </a:r>
            <a:endParaRPr lang="en-US" sz="1300" dirty="0"/>
          </a:p>
        </p:txBody>
      </p:sp>
      <p:sp>
        <p:nvSpPr>
          <p:cNvPr id="6" name="who_b"/>
          <p:cNvSpPr txBox="1"/>
          <p:nvPr/>
        </p:nvSpPr>
        <p:spPr>
          <a:xfrm>
            <a:off x="749808" y="2048256"/>
            <a:ext cx="3137306" cy="1042416"/>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Instructors training controllers. Researchers running simulator experiments.</a:t>
            </a:r>
            <a:endParaRPr lang="en-US" sz="1200" dirty="0"/>
          </a:p>
          <a:p>
            <a:pPr indent="0" marL="0">
              <a:lnSpc>
                <a:spcPts val="1596"/>
              </a:lnSpc>
              <a:buNone/>
            </a:pPr>
            <a:endParaRPr lang="en-US" sz="1200" dirty="0"/>
          </a:p>
          <a:p>
            <a:pPr indent="0" marL="0">
              <a:lnSpc>
                <a:spcPts val="1596"/>
              </a:lnSpc>
              <a:buNone/>
            </a:pPr>
            <a:r>
              <a:rPr lang="en-US" sz="1200" dirty="0">
                <a:solidFill>
                  <a:srgbClr val="DCE6F2"/>
                </a:solidFill>
              </a:rPr>
              <a:t>Domain experts — not programmers.</a:t>
            </a:r>
            <a:endParaRPr lang="en-US" sz="1200" dirty="0"/>
          </a:p>
        </p:txBody>
      </p:sp>
      <p:sp>
        <p:nvSpPr>
          <p:cNvPr id="7" name="what"/>
          <p:cNvSpPr/>
          <p:nvPr/>
        </p:nvSpPr>
        <p:spPr>
          <a:xfrm>
            <a:off x="4344314" y="1572768"/>
            <a:ext cx="3503066" cy="1664208"/>
          </a:xfrm>
          <a:prstGeom prst="roundRect">
            <a:avLst>
              <a:gd name="adj" fmla="val 3846"/>
            </a:avLst>
          </a:prstGeom>
          <a:solidFill>
            <a:srgbClr val="16233A"/>
          </a:solidFill>
          <a:ln w="12700">
            <a:solidFill>
              <a:srgbClr val="22344F"/>
            </a:solidFill>
            <a:prstDash val="solid"/>
          </a:ln>
        </p:spPr>
      </p:sp>
      <p:sp>
        <p:nvSpPr>
          <p:cNvPr id="8" name="what_h"/>
          <p:cNvSpPr txBox="1"/>
          <p:nvPr/>
        </p:nvSpPr>
        <p:spPr>
          <a:xfrm>
            <a:off x="4527194" y="1719072"/>
            <a:ext cx="3137306" cy="274320"/>
          </a:xfrm>
          <a:prstGeom prst="rect">
            <a:avLst/>
          </a:prstGeom>
          <a:noFill/>
          <a:ln/>
        </p:spPr>
        <p:txBody>
          <a:bodyPr wrap="square" lIns="0" tIns="0" rIns="0" bIns="0" rtlCol="0" anchor="ctr"/>
          <a:lstStyle/>
          <a:p>
            <a:pPr indent="0" marL="0">
              <a:buNone/>
            </a:pPr>
            <a:r>
              <a:rPr lang="en-US" sz="1300" b="1" dirty="0">
                <a:solidFill>
                  <a:srgbClr val="35C6A8"/>
                </a:solidFill>
              </a:rPr>
              <a:t>What they build</a:t>
            </a:r>
            <a:endParaRPr lang="en-US" sz="1300" dirty="0"/>
          </a:p>
        </p:txBody>
      </p:sp>
      <p:sp>
        <p:nvSpPr>
          <p:cNvPr id="9" name="what_b"/>
          <p:cNvSpPr txBox="1"/>
          <p:nvPr/>
        </p:nvSpPr>
        <p:spPr>
          <a:xfrm>
            <a:off x="4527194" y="2048256"/>
            <a:ext cx="3137306" cy="1042416"/>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Aircraft, starting positions, and a timeline of clearances.</a:t>
            </a:r>
            <a:endParaRPr lang="en-US" sz="1200" dirty="0"/>
          </a:p>
          <a:p>
            <a:pPr indent="0" marL="0">
              <a:lnSpc>
                <a:spcPts val="1596"/>
              </a:lnSpc>
              <a:buNone/>
            </a:pPr>
            <a:endParaRPr lang="en-US" sz="1200" dirty="0"/>
          </a:p>
          <a:p>
            <a:pPr indent="0" marL="0">
              <a:lnSpc>
                <a:spcPts val="1596"/>
              </a:lnSpc>
              <a:buNone/>
            </a:pPr>
            <a:r>
              <a:rPr lang="en-US" sz="1200" dirty="0">
                <a:solidFill>
                  <a:srgbClr val="DCE6F2"/>
                </a:solidFill>
              </a:rPr>
              <a:t>Built to put one situation in front of a trainee.</a:t>
            </a:r>
            <a:endParaRPr lang="en-US" sz="1200" dirty="0"/>
          </a:p>
        </p:txBody>
      </p:sp>
      <p:sp>
        <p:nvSpPr>
          <p:cNvPr id="10" name="how"/>
          <p:cNvSpPr/>
          <p:nvPr/>
        </p:nvSpPr>
        <p:spPr>
          <a:xfrm>
            <a:off x="8121701" y="1572768"/>
            <a:ext cx="3503066" cy="1664208"/>
          </a:xfrm>
          <a:prstGeom prst="roundRect">
            <a:avLst>
              <a:gd name="adj" fmla="val 3846"/>
            </a:avLst>
          </a:prstGeom>
          <a:solidFill>
            <a:srgbClr val="16233A"/>
          </a:solidFill>
          <a:ln w="12700">
            <a:solidFill>
              <a:srgbClr val="22344F"/>
            </a:solidFill>
            <a:prstDash val="solid"/>
          </a:ln>
        </p:spPr>
      </p:sp>
      <p:sp>
        <p:nvSpPr>
          <p:cNvPr id="11" name="how_h"/>
          <p:cNvSpPr txBox="1"/>
          <p:nvPr/>
        </p:nvSpPr>
        <p:spPr>
          <a:xfrm>
            <a:off x="8304581" y="1719072"/>
            <a:ext cx="3137306" cy="274320"/>
          </a:xfrm>
          <a:prstGeom prst="rect">
            <a:avLst/>
          </a:prstGeom>
          <a:noFill/>
          <a:ln/>
        </p:spPr>
        <p:txBody>
          <a:bodyPr wrap="square" lIns="0" tIns="0" rIns="0" bIns="0" rtlCol="0" anchor="ctr"/>
          <a:lstStyle/>
          <a:p>
            <a:pPr indent="0" marL="0">
              <a:buNone/>
            </a:pPr>
            <a:r>
              <a:rPr lang="en-US" sz="1300" b="1" dirty="0">
                <a:solidFill>
                  <a:srgbClr val="35C6A8"/>
                </a:solidFill>
              </a:rPr>
              <a:t>How, today</a:t>
            </a:r>
            <a:endParaRPr lang="en-US" sz="1300" dirty="0"/>
          </a:p>
        </p:txBody>
      </p:sp>
      <p:sp>
        <p:nvSpPr>
          <p:cNvPr id="12" name="how_b"/>
          <p:cNvSpPr txBox="1"/>
          <p:nvPr/>
        </p:nvSpPr>
        <p:spPr>
          <a:xfrm>
            <a:off x="8304581" y="2048256"/>
            <a:ext cx="3137306" cy="1042416"/>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By hand. One timestamped command per line.</a:t>
            </a:r>
            <a:endParaRPr lang="en-US" sz="1200" dirty="0"/>
          </a:p>
          <a:p>
            <a:pPr indent="0" marL="0">
              <a:lnSpc>
                <a:spcPts val="1596"/>
              </a:lnSpc>
              <a:buNone/>
            </a:pPr>
            <a:endParaRPr lang="en-US" sz="1200" dirty="0"/>
          </a:p>
          <a:p>
            <a:pPr indent="0" marL="0">
              <a:lnSpc>
                <a:spcPts val="1596"/>
              </a:lnSpc>
              <a:buNone/>
            </a:pPr>
            <a:r>
              <a:rPr lang="en-US" sz="1200" dirty="0">
                <a:solidFill>
                  <a:srgbClr val="DCE6F2"/>
                </a:solidFill>
              </a:rPr>
              <a:t>The simulator replays it. Nothing validates it.</a:t>
            </a:r>
            <a:endParaRPr lang="en-US" sz="1200" dirty="0"/>
          </a:p>
        </p:txBody>
      </p:sp>
      <p:sp>
        <p:nvSpPr>
          <p:cNvPr id="13" name="scn"/>
          <p:cNvSpPr/>
          <p:nvPr/>
        </p:nvSpPr>
        <p:spPr>
          <a:xfrm>
            <a:off x="566928" y="3566160"/>
            <a:ext cx="11057839" cy="1627632"/>
          </a:xfrm>
          <a:prstGeom prst="roundRect">
            <a:avLst>
              <a:gd name="adj" fmla="val 3371"/>
            </a:avLst>
          </a:prstGeom>
          <a:solidFill>
            <a:srgbClr val="16233A"/>
          </a:solidFill>
          <a:ln w="12700">
            <a:solidFill>
              <a:srgbClr val="22344F"/>
            </a:solidFill>
            <a:prstDash val="solid"/>
          </a:ln>
        </p:spPr>
      </p:sp>
      <p:sp>
        <p:nvSpPr>
          <p:cNvPr id="14" name="scn_label"/>
          <p:cNvSpPr txBox="1"/>
          <p:nvPr/>
        </p:nvSpPr>
        <p:spPr>
          <a:xfrm>
            <a:off x="731520" y="3685032"/>
            <a:ext cx="10728655" cy="237744"/>
          </a:xfrm>
          <a:prstGeom prst="rect">
            <a:avLst/>
          </a:prstGeom>
          <a:noFill/>
          <a:ln/>
        </p:spPr>
        <p:txBody>
          <a:bodyPr wrap="square" lIns="0" tIns="0" rIns="0" bIns="0" rtlCol="0" anchor="ctr"/>
          <a:lstStyle/>
          <a:p>
            <a:pPr indent="0" marL="0">
              <a:buNone/>
            </a:pPr>
            <a:r>
              <a:rPr lang="en-US" sz="1050" b="1" spc="120" kern="0" dirty="0">
                <a:solidFill>
                  <a:srgbClr val="8D9CAF"/>
                </a:solidFill>
              </a:rPr>
              <a:t>A REAL BlueSky .scn FILE — THE DOCUMENTED FORMAT</a:t>
            </a:r>
            <a:endParaRPr lang="en-US" sz="1050" dirty="0"/>
          </a:p>
        </p:txBody>
      </p:sp>
      <p:sp>
        <p:nvSpPr>
          <p:cNvPr id="15" name="scn_text"/>
          <p:cNvSpPr txBox="1"/>
          <p:nvPr/>
        </p:nvSpPr>
        <p:spPr>
          <a:xfrm>
            <a:off x="731520" y="3995928"/>
            <a:ext cx="10728655" cy="1088136"/>
          </a:xfrm>
          <a:prstGeom prst="rect">
            <a:avLst/>
          </a:prstGeom>
          <a:noFill/>
          <a:ln/>
        </p:spPr>
        <p:txBody>
          <a:bodyPr wrap="square" lIns="0" tIns="0" rIns="0" bIns="0" rtlCol="0" anchor="t"/>
          <a:lstStyle/>
          <a:p>
            <a:pPr indent="0" marL="0">
              <a:lnSpc>
                <a:spcPts val="1584"/>
              </a:lnSpc>
              <a:buNone/>
            </a:pPr>
            <a:r>
              <a:rPr lang="en-US" sz="1200" dirty="0">
                <a:solidFill>
                  <a:srgbClr val="DCE6F2"/>
                </a:solidFill>
                <a:latin typeface="Courier New" pitchFamily="34" charset="0"/>
                <a:ea typeface="Courier New" pitchFamily="34" charset="-122"/>
                <a:cs typeface="Courier New" pitchFamily="34" charset="-120"/>
              </a:rPr>
              <a:t># SCN file to create a KL001 aircraft flying over checkpoint woody</a:t>
            </a:r>
            <a:endParaRPr lang="en-US" sz="1200" dirty="0"/>
          </a:p>
          <a:p>
            <a:pPr indent="0" marL="0">
              <a:lnSpc>
                <a:spcPts val="1584"/>
              </a:lnSpc>
              <a:buNone/>
            </a:pPr>
            <a:r>
              <a:rPr lang="en-US" sz="1200" b="1" dirty="0">
                <a:solidFill>
                  <a:srgbClr val="E8A33D"/>
                </a:solidFill>
                <a:latin typeface="Courier New" pitchFamily="34" charset="0"/>
                <a:ea typeface="Courier New" pitchFamily="34" charset="-122"/>
                <a:cs typeface="Courier New" pitchFamily="34" charset="-120"/>
              </a:rPr>
              <a:t>0:00:00.00&gt;</a:t>
            </a:r>
            <a:r>
              <a:rPr lang="en-US" sz="1200" b="1" dirty="0">
                <a:solidFill>
                  <a:srgbClr val="E8A33D"/>
                </a:solidFill>
                <a:latin typeface="Courier New" pitchFamily="34" charset="0"/>
                <a:ea typeface="Courier New" pitchFamily="34" charset="-122"/>
                <a:cs typeface="Courier New" pitchFamily="34" charset="-120"/>
              </a:rPr>
              <a:t>CRE</a:t>
            </a:r>
            <a:r>
              <a:rPr lang="en-US" sz="1200" dirty="0">
                <a:solidFill>
                  <a:srgbClr val="DCE6F2"/>
                </a:solidFill>
                <a:latin typeface="Courier New" pitchFamily="34" charset="0"/>
                <a:ea typeface="Courier New" pitchFamily="34" charset="-122"/>
                <a:cs typeface="Courier New" pitchFamily="34" charset="-120"/>
              </a:rPr>
              <a:t> KL001, B737, 51.890958,5.177844, 300, FL100, 170</a:t>
            </a:r>
            <a:endParaRPr lang="en-US" sz="1200" dirty="0"/>
          </a:p>
          <a:p>
            <a:pPr indent="0" marL="0">
              <a:lnSpc>
                <a:spcPts val="1584"/>
              </a:lnSpc>
              <a:buNone/>
            </a:pPr>
            <a:r>
              <a:rPr lang="en-US" sz="1200" b="1" dirty="0">
                <a:solidFill>
                  <a:srgbClr val="E8A33D"/>
                </a:solidFill>
                <a:latin typeface="Courier New" pitchFamily="34" charset="0"/>
                <a:ea typeface="Courier New" pitchFamily="34" charset="-122"/>
                <a:cs typeface="Courier New" pitchFamily="34" charset="-120"/>
              </a:rPr>
              <a:t>0:00:00.00&gt;</a:t>
            </a:r>
            <a:r>
              <a:rPr lang="en-US" sz="1200" b="1" dirty="0">
                <a:solidFill>
                  <a:srgbClr val="E8A33D"/>
                </a:solidFill>
                <a:latin typeface="Courier New" pitchFamily="34" charset="0"/>
                <a:ea typeface="Courier New" pitchFamily="34" charset="-122"/>
                <a:cs typeface="Courier New" pitchFamily="34" charset="-120"/>
              </a:rPr>
              <a:t>ADDWPT</a:t>
            </a:r>
            <a:r>
              <a:rPr lang="en-US" sz="1200" dirty="0">
                <a:solidFill>
                  <a:srgbClr val="DCE6F2"/>
                </a:solidFill>
                <a:latin typeface="Courier New" pitchFamily="34" charset="0"/>
                <a:ea typeface="Courier New" pitchFamily="34" charset="-122"/>
                <a:cs typeface="Courier New" pitchFamily="34" charset="-120"/>
              </a:rPr>
              <a:t> KL001 WOODY</a:t>
            </a:r>
            <a:endParaRPr lang="en-US" sz="1200" dirty="0"/>
          </a:p>
          <a:p>
            <a:pPr indent="0" marL="0">
              <a:lnSpc>
                <a:spcPts val="1584"/>
              </a:lnSpc>
              <a:buNone/>
            </a:pPr>
            <a:r>
              <a:rPr lang="en-US" sz="1200" b="1" dirty="0">
                <a:solidFill>
                  <a:srgbClr val="E8A33D"/>
                </a:solidFill>
                <a:latin typeface="Courier New" pitchFamily="34" charset="0"/>
                <a:ea typeface="Courier New" pitchFamily="34" charset="-122"/>
                <a:cs typeface="Courier New" pitchFamily="34" charset="-120"/>
              </a:rPr>
              <a:t>0:00:05.00&gt;</a:t>
            </a:r>
            <a:r>
              <a:rPr lang="en-US" sz="1200" dirty="0">
                <a:solidFill>
                  <a:srgbClr val="DCE6F2"/>
                </a:solidFill>
                <a:latin typeface="Courier New" pitchFamily="34" charset="0"/>
                <a:ea typeface="Courier New" pitchFamily="34" charset="-122"/>
                <a:cs typeface="Courier New" pitchFamily="34" charset="-120"/>
              </a:rPr>
              <a:t>FF</a:t>
            </a:r>
            <a:endParaRPr lang="en-US" sz="1200" dirty="0"/>
          </a:p>
        </p:txBody>
      </p:sp>
      <p:sp>
        <p:nvSpPr>
          <p:cNvPr id="16" name="Text 14"/>
          <p:cNvSpPr txBox="1"/>
          <p:nvPr/>
        </p:nvSpPr>
        <p:spPr>
          <a:xfrm>
            <a:off x="566928" y="5321808"/>
            <a:ext cx="11057839" cy="457200"/>
          </a:xfrm>
          <a:prstGeom prst="rect">
            <a:avLst/>
          </a:prstGeom>
          <a:noFill/>
          <a:ln/>
        </p:spPr>
        <p:txBody>
          <a:bodyPr wrap="square" lIns="0" tIns="0" rIns="0" bIns="0" rtlCol="0" anchor="ctr"/>
          <a:lstStyle/>
          <a:p>
            <a:pPr indent="0" marL="0">
              <a:buNone/>
            </a:pPr>
            <a:r>
              <a:rPr lang="en-US" sz="1100" i="1" dirty="0">
                <a:solidFill>
                  <a:srgbClr val="8D9CAF"/>
                </a:solidFill>
              </a:rPr>
              <a:t>Source: </a:t>
            </a:r>
            <a:r>
              <a:rPr lang="en-US" sz="1100" i="1" dirty="0">
                <a:solidFill>
                  <a:srgbClr val="8D9CAF"/>
                </a:solidFill>
              </a:rPr>
              <a:t>BlueSky (TU Delft) wiki, “Scenario files”. Quoted, not invented.</a:t>
            </a:r>
            <a:endParaRPr lang="en-US" sz="11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P spid="13" grpId="0"/>
      <p:bldP spid="14"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What goes wrong with that file</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Easy for a simulator to read. That is exactly why it is hard for a person to write.</a:t>
            </a:r>
            <a:endParaRPr lang="en-US" sz="1500" dirty="0"/>
          </a:p>
        </p:txBody>
      </p:sp>
      <p:sp>
        <p:nvSpPr>
          <p:cNvPr id="4" name="name1"/>
          <p:cNvSpPr/>
          <p:nvPr/>
        </p:nvSpPr>
        <p:spPr>
          <a:xfrm>
            <a:off x="566928" y="1572768"/>
            <a:ext cx="2558720" cy="1389888"/>
          </a:xfrm>
          <a:prstGeom prst="roundRect">
            <a:avLst>
              <a:gd name="adj" fmla="val 4605"/>
            </a:avLst>
          </a:prstGeom>
          <a:solidFill>
            <a:srgbClr val="16233A"/>
          </a:solidFill>
          <a:ln w="12700">
            <a:solidFill>
              <a:srgbClr val="22344F"/>
            </a:solidFill>
            <a:prstDash val="solid"/>
          </a:ln>
        </p:spPr>
      </p:sp>
      <p:sp>
        <p:nvSpPr>
          <p:cNvPr id="5" name="name1_h"/>
          <p:cNvSpPr txBox="1"/>
          <p:nvPr/>
        </p:nvSpPr>
        <p:spPr>
          <a:xfrm>
            <a:off x="749808" y="1719072"/>
            <a:ext cx="2192960" cy="274320"/>
          </a:xfrm>
          <a:prstGeom prst="rect">
            <a:avLst/>
          </a:prstGeom>
          <a:noFill/>
          <a:ln/>
        </p:spPr>
        <p:txBody>
          <a:bodyPr wrap="square" lIns="0" tIns="0" rIns="0" bIns="0" rtlCol="0" anchor="ctr"/>
          <a:lstStyle/>
          <a:p>
            <a:pPr indent="0" marL="0">
              <a:buNone/>
            </a:pPr>
            <a:r>
              <a:rPr lang="en-US" sz="1300" b="1" dirty="0">
                <a:solidFill>
                  <a:srgbClr val="E85D75"/>
                </a:solidFill>
              </a:rPr>
              <a:t>No names</a:t>
            </a:r>
            <a:endParaRPr lang="en-US" sz="1300" dirty="0"/>
          </a:p>
        </p:txBody>
      </p:sp>
      <p:sp>
        <p:nvSpPr>
          <p:cNvPr id="6" name="name1_b"/>
          <p:cNvSpPr txBox="1"/>
          <p:nvPr/>
        </p:nvSpPr>
        <p:spPr>
          <a:xfrm>
            <a:off x="749808" y="2048256"/>
            <a:ext cx="2192960" cy="768096"/>
          </a:xfrm>
          <a:prstGeom prst="rect">
            <a:avLst/>
          </a:prstGeom>
          <a:noFill/>
          <a:ln/>
        </p:spPr>
        <p:txBody>
          <a:bodyPr wrap="square" lIns="0" tIns="0" rIns="0" bIns="0" rtlCol="0" anchor="t"/>
          <a:lstStyle/>
          <a:p>
            <a:pPr indent="0" marL="0">
              <a:lnSpc>
                <a:spcPts val="1663"/>
              </a:lnSpc>
              <a:buNone/>
            </a:pPr>
            <a:r>
              <a:rPr lang="en-US" sz="1250" dirty="0">
                <a:solidFill>
                  <a:srgbClr val="DCE6F2"/>
                </a:solidFill>
              </a:rPr>
              <a:t>A level used ten times is typed ten times.</a:t>
            </a:r>
            <a:endParaRPr lang="en-US" sz="1250" dirty="0"/>
          </a:p>
        </p:txBody>
      </p:sp>
      <p:sp>
        <p:nvSpPr>
          <p:cNvPr id="7" name="name2"/>
          <p:cNvSpPr/>
          <p:nvPr/>
        </p:nvSpPr>
        <p:spPr>
          <a:xfrm>
            <a:off x="3399968" y="1572768"/>
            <a:ext cx="2558720" cy="1389888"/>
          </a:xfrm>
          <a:prstGeom prst="roundRect">
            <a:avLst>
              <a:gd name="adj" fmla="val 4605"/>
            </a:avLst>
          </a:prstGeom>
          <a:solidFill>
            <a:srgbClr val="16233A"/>
          </a:solidFill>
          <a:ln w="12700">
            <a:solidFill>
              <a:srgbClr val="22344F"/>
            </a:solidFill>
            <a:prstDash val="solid"/>
          </a:ln>
        </p:spPr>
      </p:sp>
      <p:sp>
        <p:nvSpPr>
          <p:cNvPr id="8" name="name2_h"/>
          <p:cNvSpPr txBox="1"/>
          <p:nvPr/>
        </p:nvSpPr>
        <p:spPr>
          <a:xfrm>
            <a:off x="3582848" y="1719072"/>
            <a:ext cx="2192960" cy="274320"/>
          </a:xfrm>
          <a:prstGeom prst="rect">
            <a:avLst/>
          </a:prstGeom>
          <a:noFill/>
          <a:ln/>
        </p:spPr>
        <p:txBody>
          <a:bodyPr wrap="square" lIns="0" tIns="0" rIns="0" bIns="0" rtlCol="0" anchor="ctr"/>
          <a:lstStyle/>
          <a:p>
            <a:pPr indent="0" marL="0">
              <a:buNone/>
            </a:pPr>
            <a:r>
              <a:rPr lang="en-US" sz="1300" b="1" dirty="0">
                <a:solidFill>
                  <a:srgbClr val="E85D75"/>
                </a:solidFill>
              </a:rPr>
              <a:t>No conditions</a:t>
            </a:r>
            <a:endParaRPr lang="en-US" sz="1300" dirty="0"/>
          </a:p>
        </p:txBody>
      </p:sp>
      <p:sp>
        <p:nvSpPr>
          <p:cNvPr id="9" name="name2_b"/>
          <p:cNvSpPr txBox="1"/>
          <p:nvPr/>
        </p:nvSpPr>
        <p:spPr>
          <a:xfrm>
            <a:off x="3582848" y="2048256"/>
            <a:ext cx="2192960" cy="768096"/>
          </a:xfrm>
          <a:prstGeom prst="rect">
            <a:avLst/>
          </a:prstGeom>
          <a:noFill/>
          <a:ln/>
        </p:spPr>
        <p:txBody>
          <a:bodyPr wrap="square" lIns="0" tIns="0" rIns="0" bIns="0" rtlCol="0" anchor="t"/>
          <a:lstStyle/>
          <a:p>
            <a:pPr indent="0" marL="0">
              <a:lnSpc>
                <a:spcPts val="1663"/>
              </a:lnSpc>
              <a:buNone/>
            </a:pPr>
            <a:r>
              <a:rPr lang="en-US" sz="1250" dirty="0">
                <a:solidFill>
                  <a:srgbClr val="DCE6F2"/>
                </a:solidFill>
              </a:rPr>
              <a:t>“Turn at FL300” must become a hand-computed timestamp.</a:t>
            </a:r>
            <a:endParaRPr lang="en-US" sz="1250" dirty="0"/>
          </a:p>
        </p:txBody>
      </p:sp>
      <p:sp>
        <p:nvSpPr>
          <p:cNvPr id="10" name="name3"/>
          <p:cNvSpPr/>
          <p:nvPr/>
        </p:nvSpPr>
        <p:spPr>
          <a:xfrm>
            <a:off x="6233008" y="1572768"/>
            <a:ext cx="2558720" cy="1389888"/>
          </a:xfrm>
          <a:prstGeom prst="roundRect">
            <a:avLst>
              <a:gd name="adj" fmla="val 4605"/>
            </a:avLst>
          </a:prstGeom>
          <a:solidFill>
            <a:srgbClr val="16233A"/>
          </a:solidFill>
          <a:ln w="12700">
            <a:solidFill>
              <a:srgbClr val="22344F"/>
            </a:solidFill>
            <a:prstDash val="solid"/>
          </a:ln>
        </p:spPr>
      </p:sp>
      <p:sp>
        <p:nvSpPr>
          <p:cNvPr id="11" name="name3_h"/>
          <p:cNvSpPr txBox="1"/>
          <p:nvPr/>
        </p:nvSpPr>
        <p:spPr>
          <a:xfrm>
            <a:off x="6415888" y="1719072"/>
            <a:ext cx="2192960" cy="274320"/>
          </a:xfrm>
          <a:prstGeom prst="rect">
            <a:avLst/>
          </a:prstGeom>
          <a:noFill/>
          <a:ln/>
        </p:spPr>
        <p:txBody>
          <a:bodyPr wrap="square" lIns="0" tIns="0" rIns="0" bIns="0" rtlCol="0" anchor="ctr"/>
          <a:lstStyle/>
          <a:p>
            <a:pPr indent="0" marL="0">
              <a:buNone/>
            </a:pPr>
            <a:r>
              <a:rPr lang="en-US" sz="1300" b="1" dirty="0">
                <a:solidFill>
                  <a:srgbClr val="E85D75"/>
                </a:solidFill>
              </a:rPr>
              <a:t>No checking</a:t>
            </a:r>
            <a:endParaRPr lang="en-US" sz="1300" dirty="0"/>
          </a:p>
        </p:txBody>
      </p:sp>
      <p:sp>
        <p:nvSpPr>
          <p:cNvPr id="12" name="name3_b"/>
          <p:cNvSpPr txBox="1"/>
          <p:nvPr/>
        </p:nvSpPr>
        <p:spPr>
          <a:xfrm>
            <a:off x="6415888" y="2048256"/>
            <a:ext cx="2192960" cy="768096"/>
          </a:xfrm>
          <a:prstGeom prst="rect">
            <a:avLst/>
          </a:prstGeom>
          <a:noFill/>
          <a:ln/>
        </p:spPr>
        <p:txBody>
          <a:bodyPr wrap="square" lIns="0" tIns="0" rIns="0" bIns="0" rtlCol="0" anchor="t"/>
          <a:lstStyle/>
          <a:p>
            <a:pPr indent="0" marL="0">
              <a:lnSpc>
                <a:spcPts val="1663"/>
              </a:lnSpc>
              <a:buNone/>
            </a:pPr>
            <a:r>
              <a:rPr lang="en-US" sz="1250" dirty="0">
                <a:solidFill>
                  <a:srgbClr val="DCE6F2"/>
                </a:solidFill>
              </a:rPr>
              <a:t>Heading 450°. An aircraft never created. You find out by watching.</a:t>
            </a:r>
            <a:endParaRPr lang="en-US" sz="1250" dirty="0"/>
          </a:p>
        </p:txBody>
      </p:sp>
      <p:sp>
        <p:nvSpPr>
          <p:cNvPr id="13" name="name4"/>
          <p:cNvSpPr/>
          <p:nvPr/>
        </p:nvSpPr>
        <p:spPr>
          <a:xfrm>
            <a:off x="9066047" y="1572768"/>
            <a:ext cx="2558720" cy="1389888"/>
          </a:xfrm>
          <a:prstGeom prst="roundRect">
            <a:avLst>
              <a:gd name="adj" fmla="val 4605"/>
            </a:avLst>
          </a:prstGeom>
          <a:solidFill>
            <a:srgbClr val="16233A"/>
          </a:solidFill>
          <a:ln w="12700">
            <a:solidFill>
              <a:srgbClr val="22344F"/>
            </a:solidFill>
            <a:prstDash val="solid"/>
          </a:ln>
        </p:spPr>
      </p:sp>
      <p:sp>
        <p:nvSpPr>
          <p:cNvPr id="14" name="name4_h"/>
          <p:cNvSpPr txBox="1"/>
          <p:nvPr/>
        </p:nvSpPr>
        <p:spPr>
          <a:xfrm>
            <a:off x="9248927" y="1719072"/>
            <a:ext cx="2192960" cy="274320"/>
          </a:xfrm>
          <a:prstGeom prst="rect">
            <a:avLst/>
          </a:prstGeom>
          <a:noFill/>
          <a:ln/>
        </p:spPr>
        <p:txBody>
          <a:bodyPr wrap="square" lIns="0" tIns="0" rIns="0" bIns="0" rtlCol="0" anchor="ctr"/>
          <a:lstStyle/>
          <a:p>
            <a:pPr indent="0" marL="0">
              <a:buNone/>
            </a:pPr>
            <a:r>
              <a:rPr lang="en-US" sz="1300" b="1" dirty="0">
                <a:solidFill>
                  <a:srgbClr val="E85D75"/>
                </a:solidFill>
              </a:rPr>
              <a:t>No intent</a:t>
            </a:r>
            <a:endParaRPr lang="en-US" sz="1300" dirty="0"/>
          </a:p>
        </p:txBody>
      </p:sp>
      <p:sp>
        <p:nvSpPr>
          <p:cNvPr id="15" name="name4_b"/>
          <p:cNvSpPr txBox="1"/>
          <p:nvPr/>
        </p:nvSpPr>
        <p:spPr>
          <a:xfrm>
            <a:off x="9248927" y="2048256"/>
            <a:ext cx="2192960" cy="768096"/>
          </a:xfrm>
          <a:prstGeom prst="rect">
            <a:avLst/>
          </a:prstGeom>
          <a:noFill/>
          <a:ln/>
        </p:spPr>
        <p:txBody>
          <a:bodyPr wrap="square" lIns="0" tIns="0" rIns="0" bIns="0" rtlCol="0" anchor="t"/>
          <a:lstStyle/>
          <a:p>
            <a:pPr indent="0" marL="0">
              <a:lnSpc>
                <a:spcPts val="1663"/>
              </a:lnSpc>
              <a:buNone/>
            </a:pPr>
            <a:r>
              <a:rPr lang="en-US" sz="1250" dirty="0">
                <a:solidFill>
                  <a:srgbClr val="DCE6F2"/>
                </a:solidFill>
              </a:rPr>
              <a:t>Why the scenario exists is written nowhere in it.</a:t>
            </a:r>
            <a:endParaRPr lang="en-US" sz="1250" dirty="0"/>
          </a:p>
        </p:txBody>
      </p:sp>
      <p:sp>
        <p:nvSpPr>
          <p:cNvPr id="16" name="edit"/>
          <p:cNvSpPr/>
          <p:nvPr/>
        </p:nvSpPr>
        <p:spPr>
          <a:xfrm>
            <a:off x="566928" y="3346704"/>
            <a:ext cx="11057839" cy="1627632"/>
          </a:xfrm>
          <a:prstGeom prst="roundRect">
            <a:avLst>
              <a:gd name="adj" fmla="val 3371"/>
            </a:avLst>
          </a:prstGeom>
          <a:solidFill>
            <a:srgbClr val="16233A"/>
          </a:solidFill>
          <a:ln w="12700">
            <a:solidFill>
              <a:srgbClr val="22344F"/>
            </a:solidFill>
            <a:prstDash val="solid"/>
          </a:ln>
        </p:spPr>
      </p:sp>
      <p:sp>
        <p:nvSpPr>
          <p:cNvPr id="17" name="edit_label"/>
          <p:cNvSpPr txBox="1"/>
          <p:nvPr/>
        </p:nvSpPr>
        <p:spPr>
          <a:xfrm>
            <a:off x="731520" y="3465576"/>
            <a:ext cx="10728655" cy="237744"/>
          </a:xfrm>
          <a:prstGeom prst="rect">
            <a:avLst/>
          </a:prstGeom>
          <a:noFill/>
          <a:ln/>
        </p:spPr>
        <p:txBody>
          <a:bodyPr wrap="square" lIns="0" tIns="0" rIns="0" bIns="0" rtlCol="0" anchor="ctr"/>
          <a:lstStyle/>
          <a:p>
            <a:pPr indent="0" marL="0">
              <a:buNone/>
            </a:pPr>
            <a:r>
              <a:rPr lang="en-US" sz="1050" b="1" spc="120" kern="0" dirty="0">
                <a:solidFill>
                  <a:srgbClr val="8D9CAF"/>
                </a:solidFill>
              </a:rPr>
              <a:t>ONE EDIT, BROKEN SILENTLY</a:t>
            </a:r>
            <a:endParaRPr lang="en-US" sz="1050" dirty="0"/>
          </a:p>
        </p:txBody>
      </p:sp>
      <p:sp>
        <p:nvSpPr>
          <p:cNvPr id="18" name="edit_text"/>
          <p:cNvSpPr txBox="1"/>
          <p:nvPr/>
        </p:nvSpPr>
        <p:spPr>
          <a:xfrm>
            <a:off x="731520" y="3776472"/>
            <a:ext cx="10728655" cy="1088136"/>
          </a:xfrm>
          <a:prstGeom prst="rect">
            <a:avLst/>
          </a:prstGeom>
          <a:noFill/>
          <a:ln/>
        </p:spPr>
        <p:txBody>
          <a:bodyPr wrap="square" lIns="0" tIns="0" rIns="0" bIns="0" rtlCol="0" anchor="t"/>
          <a:lstStyle/>
          <a:p>
            <a:pPr indent="0" marL="0">
              <a:lnSpc>
                <a:spcPts val="1584"/>
              </a:lnSpc>
              <a:buNone/>
            </a:pPr>
            <a:r>
              <a:rPr lang="en-US" sz="1200" dirty="0">
                <a:solidFill>
                  <a:srgbClr val="DCE6F2"/>
                </a:solidFill>
                <a:latin typeface="Courier New" pitchFamily="34" charset="0"/>
                <a:ea typeface="Courier New" pitchFamily="34" charset="-122"/>
                <a:cs typeface="Courier New" pitchFamily="34" charset="-120"/>
              </a:rPr>
              <a:t>0:00:00.00&gt;CRE KL001, B737, 51.890958,5.177844, 300, </a:t>
            </a:r>
            <a:r>
              <a:rPr lang="en-US" sz="1200" b="1" dirty="0">
                <a:solidFill>
                  <a:srgbClr val="E8A33D"/>
                </a:solidFill>
                <a:latin typeface="Courier New" pitchFamily="34" charset="0"/>
                <a:ea typeface="Courier New" pitchFamily="34" charset="-122"/>
                <a:cs typeface="Courier New" pitchFamily="34" charset="-120"/>
              </a:rPr>
              <a:t>FL100</a:t>
            </a:r>
            <a:r>
              <a:rPr lang="en-US" sz="1200" dirty="0">
                <a:solidFill>
                  <a:srgbClr val="DCE6F2"/>
                </a:solidFill>
                <a:latin typeface="Courier New" pitchFamily="34" charset="0"/>
                <a:ea typeface="Courier New" pitchFamily="34" charset="-122"/>
                <a:cs typeface="Courier New" pitchFamily="34" charset="-120"/>
              </a:rPr>
              <a:t>, 170   &lt;- start level edited to </a:t>
            </a:r>
            <a:r>
              <a:rPr lang="en-US" sz="1200" b="1" dirty="0">
                <a:solidFill>
                  <a:srgbClr val="E8A33D"/>
                </a:solidFill>
                <a:latin typeface="Courier New" pitchFamily="34" charset="0"/>
                <a:ea typeface="Courier New" pitchFamily="34" charset="-122"/>
                <a:cs typeface="Courier New" pitchFamily="34" charset="-120"/>
              </a:rPr>
              <a:t>FL200</a:t>
            </a:r>
            <a:endParaRPr lang="en-US" sz="1200" dirty="0"/>
          </a:p>
          <a:p>
            <a:pPr indent="0" marL="0">
              <a:lnSpc>
                <a:spcPts val="1584"/>
              </a:lnSpc>
              <a:buNone/>
            </a:pPr>
            <a:r>
              <a:rPr lang="en-US" sz="1200" b="1" dirty="0">
                <a:solidFill>
                  <a:srgbClr val="E8A33D"/>
                </a:solidFill>
                <a:latin typeface="Courier New" pitchFamily="34" charset="0"/>
                <a:ea typeface="Courier New" pitchFamily="34" charset="-122"/>
                <a:cs typeface="Courier New" pitchFamily="34" charset="-120"/>
              </a:rPr>
              <a:t>0:03:20.00&gt;</a:t>
            </a:r>
            <a:r>
              <a:rPr lang="en-US" sz="1200" dirty="0">
                <a:solidFill>
                  <a:srgbClr val="DCE6F2"/>
                </a:solidFill>
                <a:latin typeface="Courier New" pitchFamily="34" charset="0"/>
                <a:ea typeface="Courier New" pitchFamily="34" charset="-122"/>
                <a:cs typeface="Courier New" pitchFamily="34" charset="-120"/>
              </a:rPr>
              <a:t>HDG KL001, 270                                          &lt;- timestamp computed from </a:t>
            </a:r>
            <a:r>
              <a:rPr lang="en-US" sz="1200" b="1" dirty="0">
                <a:solidFill>
                  <a:srgbClr val="E8A33D"/>
                </a:solidFill>
                <a:latin typeface="Courier New" pitchFamily="34" charset="0"/>
                <a:ea typeface="Courier New" pitchFamily="34" charset="-122"/>
                <a:cs typeface="Courier New" pitchFamily="34" charset="-120"/>
              </a:rPr>
              <a:t>FL100</a:t>
            </a:r>
            <a:endParaRPr lang="en-US" sz="1200" dirty="0"/>
          </a:p>
          <a:p>
            <a:pPr indent="0" marL="0">
              <a:lnSpc>
                <a:spcPts val="1584"/>
              </a:lnSpc>
              <a:buNone/>
            </a:pPr>
            <a:r>
              <a:rPr lang="en-US" sz="1200" dirty="0">
                <a:solidFill>
                  <a:srgbClr val="DCE6F2"/>
                </a:solidFill>
                <a:latin typeface="Courier New" pitchFamily="34" charset="0"/>
                <a:ea typeface="Courier New" pitchFamily="34" charset="-122"/>
                <a:cs typeface="Courier New" pitchFamily="34" charset="-120"/>
              </a:rPr>
              <a:t> </a:t>
            </a:r>
            <a:endParaRPr lang="en-US" sz="1200" dirty="0"/>
          </a:p>
          <a:p>
            <a:pPr indent="0" marL="0">
              <a:lnSpc>
                <a:spcPts val="1584"/>
              </a:lnSpc>
              <a:buNone/>
            </a:pPr>
            <a:r>
              <a:rPr lang="en-US" sz="1200" dirty="0">
                <a:solidFill>
                  <a:srgbClr val="DCE6F2"/>
                </a:solidFill>
                <a:latin typeface="Courier New" pitchFamily="34" charset="0"/>
                <a:ea typeface="Courier New" pitchFamily="34" charset="-122"/>
                <a:cs typeface="Courier New" pitchFamily="34" charset="-120"/>
              </a:rPr>
              <a:t>The turn now fires at the wrong moment. The file is still valid. Nothing reports it.</a:t>
            </a:r>
            <a:endParaRPr lang="en-US" sz="1200" dirty="0"/>
          </a:p>
        </p:txBody>
      </p:sp>
      <p:sp>
        <p:nvSpPr>
          <p:cNvPr id="19" name="take3"/>
          <p:cNvSpPr/>
          <p:nvPr/>
        </p:nvSpPr>
        <p:spPr>
          <a:xfrm>
            <a:off x="566928" y="5248656"/>
            <a:ext cx="11057839" cy="786384"/>
          </a:xfrm>
          <a:prstGeom prst="roundRect">
            <a:avLst>
              <a:gd name="adj" fmla="val 8140"/>
            </a:avLst>
          </a:prstGeom>
          <a:solidFill>
            <a:srgbClr val="2A1620"/>
          </a:solidFill>
          <a:ln w="15875">
            <a:solidFill>
              <a:srgbClr val="E85D75"/>
            </a:solidFill>
            <a:prstDash val="solid"/>
          </a:ln>
        </p:spPr>
      </p:sp>
      <p:sp>
        <p:nvSpPr>
          <p:cNvPr id="20" name="take3_t"/>
          <p:cNvSpPr txBox="1"/>
          <p:nvPr/>
        </p:nvSpPr>
        <p:spPr>
          <a:xfrm>
            <a:off x="804672" y="5248656"/>
            <a:ext cx="10582351" cy="786384"/>
          </a:xfrm>
          <a:prstGeom prst="rect">
            <a:avLst/>
          </a:prstGeom>
          <a:noFill/>
          <a:ln/>
        </p:spPr>
        <p:txBody>
          <a:bodyPr wrap="square" lIns="0" tIns="0" rIns="0" bIns="0" rtlCol="0" anchor="ctr"/>
          <a:lstStyle/>
          <a:p>
            <a:pPr indent="0" marL="0">
              <a:buNone/>
            </a:pPr>
            <a:r>
              <a:rPr lang="en-US" sz="1400" dirty="0">
                <a:solidFill>
                  <a:srgbClr val="FFFFFF"/>
                </a:solidFill>
              </a:rPr>
              <a:t>Every one of these is a property of the format, not a mistake by the author. That is what makes it worth fixing with a language.</a:t>
            </a:r>
            <a:endParaRPr lang="en-US" sz="14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P spid="13" grpId="0"/>
      <p:bldP spid="16" grpId="0"/>
      <p:bldP spid="17" grpId="0"/>
      <p:bldP spid="18" grpId="0"/>
      <p:bldP spid="19" grpId="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Is this a real problem? What is already out there?</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Three evidence tiers, kept apart on purpose: verified, published, assumed.</a:t>
            </a:r>
            <a:endParaRPr lang="en-US" sz="1500" dirty="0"/>
          </a:p>
        </p:txBody>
      </p:sp>
      <p:sp>
        <p:nvSpPr>
          <p:cNvPr id="4" name="p0"/>
          <p:cNvSpPr/>
          <p:nvPr/>
        </p:nvSpPr>
        <p:spPr>
          <a:xfrm>
            <a:off x="566928" y="1636776"/>
            <a:ext cx="1170432" cy="274320"/>
          </a:xfrm>
          <a:prstGeom prst="roundRect">
            <a:avLst>
              <a:gd name="adj" fmla="val 50000"/>
            </a:avLst>
          </a:prstGeom>
          <a:solidFill>
            <a:srgbClr val="35C6A8"/>
          </a:solidFill>
          <a:ln w="12700">
            <a:solidFill>
              <a:srgbClr val="333333"/>
            </a:solidFill>
            <a:prstDash val="solid"/>
          </a:ln>
        </p:spPr>
      </p:sp>
      <p:sp>
        <p:nvSpPr>
          <p:cNvPr id="5" name="p0_t"/>
          <p:cNvSpPr txBox="1"/>
          <p:nvPr/>
        </p:nvSpPr>
        <p:spPr>
          <a:xfrm>
            <a:off x="566928" y="1636776"/>
            <a:ext cx="1170432"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VERIFIED</a:t>
            </a:r>
            <a:endParaRPr lang="en-US" sz="950" dirty="0"/>
          </a:p>
        </p:txBody>
      </p:sp>
      <p:sp>
        <p:nvSpPr>
          <p:cNvPr id="6" name="c0"/>
          <p:cNvSpPr txBox="1"/>
          <p:nvPr/>
        </p:nvSpPr>
        <p:spPr>
          <a:xfrm>
            <a:off x="1938528" y="1572768"/>
            <a:ext cx="5943600" cy="475488"/>
          </a:xfrm>
          <a:prstGeom prst="rect">
            <a:avLst/>
          </a:prstGeom>
          <a:noFill/>
          <a:ln/>
        </p:spPr>
        <p:txBody>
          <a:bodyPr wrap="square" lIns="0" tIns="0" rIns="0" bIns="0" rtlCol="0" anchor="ctr"/>
          <a:lstStyle/>
          <a:p>
            <a:pPr indent="0" marL="0">
              <a:buNone/>
            </a:pPr>
            <a:r>
              <a:rPr lang="en-US" sz="1250" dirty="0">
                <a:solidFill>
                  <a:srgbClr val="FFFFFF"/>
                </a:solidFill>
              </a:rPr>
              <a:t>The format has no variables, no conditionals, and no validation.</a:t>
            </a:r>
            <a:endParaRPr lang="en-US" sz="1250" dirty="0"/>
          </a:p>
        </p:txBody>
      </p:sp>
      <p:sp>
        <p:nvSpPr>
          <p:cNvPr id="7" name="s0"/>
          <p:cNvSpPr txBox="1"/>
          <p:nvPr/>
        </p:nvSpPr>
        <p:spPr>
          <a:xfrm>
            <a:off x="8019288" y="1572768"/>
            <a:ext cx="3602736" cy="475488"/>
          </a:xfrm>
          <a:prstGeom prst="rect">
            <a:avLst/>
          </a:prstGeom>
          <a:noFill/>
          <a:ln/>
        </p:spPr>
        <p:txBody>
          <a:bodyPr wrap="square" lIns="0" tIns="0" rIns="0" bIns="0" rtlCol="0" anchor="ctr"/>
          <a:lstStyle/>
          <a:p>
            <a:pPr indent="0" marL="0">
              <a:buNone/>
            </a:pPr>
            <a:r>
              <a:rPr lang="en-US" sz="1050" dirty="0">
                <a:solidFill>
                  <a:srgbClr val="8D9CAF"/>
                </a:solidFill>
              </a:rPr>
              <a:t>Read from the BlueSky documentation and my own output.</a:t>
            </a:r>
            <a:endParaRPr lang="en-US" sz="1050" dirty="0"/>
          </a:p>
        </p:txBody>
      </p:sp>
      <p:sp>
        <p:nvSpPr>
          <p:cNvPr id="8" name="p1"/>
          <p:cNvSpPr/>
          <p:nvPr/>
        </p:nvSpPr>
        <p:spPr>
          <a:xfrm>
            <a:off x="566928" y="2313432"/>
            <a:ext cx="1170432" cy="274320"/>
          </a:xfrm>
          <a:prstGeom prst="roundRect">
            <a:avLst>
              <a:gd name="adj" fmla="val 50000"/>
            </a:avLst>
          </a:prstGeom>
          <a:solidFill>
            <a:srgbClr val="7FA3DB"/>
          </a:solidFill>
          <a:ln w="12700">
            <a:solidFill>
              <a:srgbClr val="333333"/>
            </a:solidFill>
            <a:prstDash val="solid"/>
          </a:ln>
        </p:spPr>
      </p:sp>
      <p:sp>
        <p:nvSpPr>
          <p:cNvPr id="9" name="p1_t"/>
          <p:cNvSpPr txBox="1"/>
          <p:nvPr/>
        </p:nvSpPr>
        <p:spPr>
          <a:xfrm>
            <a:off x="566928" y="2313432"/>
            <a:ext cx="1170432"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LITERATURE</a:t>
            </a:r>
            <a:endParaRPr lang="en-US" sz="950" dirty="0"/>
          </a:p>
        </p:txBody>
      </p:sp>
      <p:sp>
        <p:nvSpPr>
          <p:cNvPr id="10" name="c1"/>
          <p:cNvSpPr txBox="1"/>
          <p:nvPr/>
        </p:nvSpPr>
        <p:spPr>
          <a:xfrm>
            <a:off x="1938528" y="2249424"/>
            <a:ext cx="5943600" cy="475488"/>
          </a:xfrm>
          <a:prstGeom prst="rect">
            <a:avLst/>
          </a:prstGeom>
          <a:noFill/>
          <a:ln/>
        </p:spPr>
        <p:txBody>
          <a:bodyPr wrap="square" lIns="0" tIns="0" rIns="0" bIns="0" rtlCol="0" anchor="ctr"/>
          <a:lstStyle/>
          <a:p>
            <a:pPr indent="0" marL="0">
              <a:buNone/>
            </a:pPr>
            <a:r>
              <a:rPr lang="en-US" sz="1250" dirty="0">
                <a:solidFill>
                  <a:srgbClr val="FFFFFF"/>
                </a:solidFill>
              </a:rPr>
              <a:t>ATC scenario development has no standardised practice.</a:t>
            </a:r>
            <a:endParaRPr lang="en-US" sz="1250" dirty="0"/>
          </a:p>
        </p:txBody>
      </p:sp>
      <p:sp>
        <p:nvSpPr>
          <p:cNvPr id="11" name="s1"/>
          <p:cNvSpPr txBox="1"/>
          <p:nvPr/>
        </p:nvSpPr>
        <p:spPr>
          <a:xfrm>
            <a:off x="8019288" y="2249424"/>
            <a:ext cx="3602736" cy="475488"/>
          </a:xfrm>
          <a:prstGeom prst="rect">
            <a:avLst/>
          </a:prstGeom>
          <a:noFill/>
          <a:ln/>
        </p:spPr>
        <p:txBody>
          <a:bodyPr wrap="square" lIns="0" tIns="0" rIns="0" bIns="0" rtlCol="0" anchor="ctr"/>
          <a:lstStyle/>
          <a:p>
            <a:pPr indent="0" marL="0">
              <a:buNone/>
            </a:pPr>
            <a:r>
              <a:rPr lang="en-US" sz="1050" dirty="0">
                <a:solidFill>
                  <a:srgbClr val="8D9CAF"/>
                </a:solidFill>
              </a:rPr>
              <a:t>Jafer, Updegrove &amp; Chhaya, 2017 — they propose a scenario language too.</a:t>
            </a:r>
            <a:endParaRPr lang="en-US" sz="1050" dirty="0"/>
          </a:p>
        </p:txBody>
      </p:sp>
      <p:sp>
        <p:nvSpPr>
          <p:cNvPr id="12" name="p2"/>
          <p:cNvSpPr/>
          <p:nvPr/>
        </p:nvSpPr>
        <p:spPr>
          <a:xfrm>
            <a:off x="566928" y="2990088"/>
            <a:ext cx="1170432" cy="274320"/>
          </a:xfrm>
          <a:prstGeom prst="roundRect">
            <a:avLst>
              <a:gd name="adj" fmla="val 50000"/>
            </a:avLst>
          </a:prstGeom>
          <a:solidFill>
            <a:srgbClr val="7FA3DB"/>
          </a:solidFill>
          <a:ln w="12700">
            <a:solidFill>
              <a:srgbClr val="333333"/>
            </a:solidFill>
            <a:prstDash val="solid"/>
          </a:ln>
        </p:spPr>
      </p:sp>
      <p:sp>
        <p:nvSpPr>
          <p:cNvPr id="13" name="p2_t"/>
          <p:cNvSpPr txBox="1"/>
          <p:nvPr/>
        </p:nvSpPr>
        <p:spPr>
          <a:xfrm>
            <a:off x="566928" y="2990088"/>
            <a:ext cx="1170432"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LITERATURE</a:t>
            </a:r>
            <a:endParaRPr lang="en-US" sz="950" dirty="0"/>
          </a:p>
        </p:txBody>
      </p:sp>
      <p:sp>
        <p:nvSpPr>
          <p:cNvPr id="14" name="c2"/>
          <p:cNvSpPr txBox="1"/>
          <p:nvPr/>
        </p:nvSpPr>
        <p:spPr>
          <a:xfrm>
            <a:off x="1938528" y="2926080"/>
            <a:ext cx="5943600" cy="475488"/>
          </a:xfrm>
          <a:prstGeom prst="rect">
            <a:avLst/>
          </a:prstGeom>
          <a:noFill/>
          <a:ln/>
        </p:spPr>
        <p:txBody>
          <a:bodyPr wrap="square" lIns="0" tIns="0" rIns="0" bIns="0" rtlCol="0" anchor="ctr"/>
          <a:lstStyle/>
          <a:p>
            <a:pPr indent="0" marL="0">
              <a:buNone/>
            </a:pPr>
            <a:r>
              <a:rPr lang="en-US" sz="1250" dirty="0">
                <a:solidFill>
                  <a:srgbClr val="FFFFFF"/>
                </a:solidFill>
              </a:rPr>
              <a:t>Manual scenario design is “a demanding and time-consuming bottleneck”.</a:t>
            </a:r>
            <a:endParaRPr lang="en-US" sz="1250" dirty="0"/>
          </a:p>
        </p:txBody>
      </p:sp>
      <p:sp>
        <p:nvSpPr>
          <p:cNvPr id="15" name="s2"/>
          <p:cNvSpPr txBox="1"/>
          <p:nvPr/>
        </p:nvSpPr>
        <p:spPr>
          <a:xfrm>
            <a:off x="8019288" y="2926080"/>
            <a:ext cx="3602736" cy="475488"/>
          </a:xfrm>
          <a:prstGeom prst="rect">
            <a:avLst/>
          </a:prstGeom>
          <a:noFill/>
          <a:ln/>
        </p:spPr>
        <p:txBody>
          <a:bodyPr wrap="square" lIns="0" tIns="0" rIns="0" bIns="0" rtlCol="0" anchor="ctr"/>
          <a:lstStyle/>
          <a:p>
            <a:pPr indent="0" marL="0">
              <a:buNone/>
            </a:pPr>
            <a:r>
              <a:rPr lang="en-US" sz="1050" dirty="0">
                <a:solidFill>
                  <a:srgbClr val="8D9CAF"/>
                </a:solidFill>
              </a:rPr>
              <a:t>Gould et al., AirTrafficGen, arXiv:2508.02269, 2025.</a:t>
            </a:r>
            <a:endParaRPr lang="en-US" sz="1050" dirty="0"/>
          </a:p>
        </p:txBody>
      </p:sp>
      <p:sp>
        <p:nvSpPr>
          <p:cNvPr id="16" name="p3"/>
          <p:cNvSpPr/>
          <p:nvPr/>
        </p:nvSpPr>
        <p:spPr>
          <a:xfrm>
            <a:off x="566928" y="3666744"/>
            <a:ext cx="1170432" cy="274320"/>
          </a:xfrm>
          <a:prstGeom prst="roundRect">
            <a:avLst>
              <a:gd name="adj" fmla="val 50000"/>
            </a:avLst>
          </a:prstGeom>
          <a:solidFill>
            <a:srgbClr val="E8A33D"/>
          </a:solidFill>
          <a:ln w="12700">
            <a:solidFill>
              <a:srgbClr val="333333"/>
            </a:solidFill>
            <a:prstDash val="solid"/>
          </a:ln>
        </p:spPr>
      </p:sp>
      <p:sp>
        <p:nvSpPr>
          <p:cNvPr id="17" name="p3_t"/>
          <p:cNvSpPr txBox="1"/>
          <p:nvPr/>
        </p:nvSpPr>
        <p:spPr>
          <a:xfrm>
            <a:off x="566928" y="3666744"/>
            <a:ext cx="1170432"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ASSUMPTION</a:t>
            </a:r>
            <a:endParaRPr lang="en-US" sz="950" dirty="0"/>
          </a:p>
        </p:txBody>
      </p:sp>
      <p:sp>
        <p:nvSpPr>
          <p:cNvPr id="18" name="c3"/>
          <p:cNvSpPr txBox="1"/>
          <p:nvPr/>
        </p:nvSpPr>
        <p:spPr>
          <a:xfrm>
            <a:off x="1938528" y="3602736"/>
            <a:ext cx="5943600" cy="475488"/>
          </a:xfrm>
          <a:prstGeom prst="rect">
            <a:avLst/>
          </a:prstGeom>
          <a:noFill/>
          <a:ln/>
        </p:spPr>
        <p:txBody>
          <a:bodyPr wrap="square" lIns="0" tIns="0" rIns="0" bIns="0" rtlCol="0" anchor="ctr"/>
          <a:lstStyle/>
          <a:p>
            <a:pPr indent="0" marL="0">
              <a:buNone/>
            </a:pPr>
            <a:r>
              <a:rPr lang="en-US" sz="1250" dirty="0">
                <a:solidFill>
                  <a:srgbClr val="FFFFFF"/>
                </a:solidFill>
              </a:rPr>
              <a:t>That a compiler-checked language is the right answer for an instructor.</a:t>
            </a:r>
            <a:endParaRPr lang="en-US" sz="1250" dirty="0"/>
          </a:p>
        </p:txBody>
      </p:sp>
      <p:sp>
        <p:nvSpPr>
          <p:cNvPr id="19" name="s3"/>
          <p:cNvSpPr txBox="1"/>
          <p:nvPr/>
        </p:nvSpPr>
        <p:spPr>
          <a:xfrm>
            <a:off x="8019288" y="3602736"/>
            <a:ext cx="3602736" cy="475488"/>
          </a:xfrm>
          <a:prstGeom prst="rect">
            <a:avLst/>
          </a:prstGeom>
          <a:noFill/>
          <a:ln/>
        </p:spPr>
        <p:txBody>
          <a:bodyPr wrap="square" lIns="0" tIns="0" rIns="0" bIns="0" rtlCol="0" anchor="ctr"/>
          <a:lstStyle/>
          <a:p>
            <a:pPr indent="0" marL="0">
              <a:buNone/>
            </a:pPr>
            <a:r>
              <a:rPr lang="en-US" sz="1050" dirty="0">
                <a:solidFill>
                  <a:srgbClr val="8D9CAF"/>
                </a:solidFill>
              </a:rPr>
              <a:t>I interviewed nobody. A hypothesis, not a finding.</a:t>
            </a:r>
            <a:endParaRPr lang="en-US" sz="1050" dirty="0"/>
          </a:p>
        </p:txBody>
      </p:sp>
      <p:sp>
        <p:nvSpPr>
          <p:cNvPr id="20" name="priorart"/>
          <p:cNvSpPr/>
          <p:nvPr/>
        </p:nvSpPr>
        <p:spPr>
          <a:xfrm>
            <a:off x="566928" y="4315968"/>
            <a:ext cx="11057839" cy="1536192"/>
          </a:xfrm>
          <a:prstGeom prst="roundRect">
            <a:avLst>
              <a:gd name="adj" fmla="val 4167"/>
            </a:avLst>
          </a:prstGeom>
          <a:solidFill>
            <a:srgbClr val="16233A"/>
          </a:solidFill>
          <a:ln w="12700">
            <a:solidFill>
              <a:srgbClr val="22344F"/>
            </a:solidFill>
            <a:prstDash val="solid"/>
          </a:ln>
        </p:spPr>
      </p:sp>
      <p:sp>
        <p:nvSpPr>
          <p:cNvPr id="21" name="priorart_h"/>
          <p:cNvSpPr txBox="1"/>
          <p:nvPr/>
        </p:nvSpPr>
        <p:spPr>
          <a:xfrm>
            <a:off x="749808" y="4462272"/>
            <a:ext cx="10692079" cy="274320"/>
          </a:xfrm>
          <a:prstGeom prst="rect">
            <a:avLst/>
          </a:prstGeom>
          <a:noFill/>
          <a:ln/>
        </p:spPr>
        <p:txBody>
          <a:bodyPr wrap="square" lIns="0" tIns="0" rIns="0" bIns="0" rtlCol="0" anchor="ctr"/>
          <a:lstStyle/>
          <a:p>
            <a:pPr indent="0" marL="0">
              <a:buNone/>
            </a:pPr>
            <a:r>
              <a:rPr lang="en-US" sz="1300" b="1" dirty="0">
                <a:solidFill>
                  <a:srgbClr val="E8A33D"/>
                </a:solidFill>
              </a:rPr>
              <a:t>AeroDSL is not the first language proposed for this, and this deck never says it is</a:t>
            </a:r>
            <a:endParaRPr lang="en-US" sz="1300" dirty="0"/>
          </a:p>
        </p:txBody>
      </p:sp>
      <p:sp>
        <p:nvSpPr>
          <p:cNvPr id="22" name="priorart_b"/>
          <p:cNvSpPr txBox="1"/>
          <p:nvPr/>
        </p:nvSpPr>
        <p:spPr>
          <a:xfrm>
            <a:off x="749808" y="4791456"/>
            <a:ext cx="10692079" cy="914400"/>
          </a:xfrm>
          <a:prstGeom prst="rect">
            <a:avLst/>
          </a:prstGeom>
          <a:noFill/>
          <a:ln/>
        </p:spPr>
        <p:txBody>
          <a:bodyPr wrap="square" lIns="0" tIns="0" rIns="0" bIns="0" rtlCol="0" anchor="t"/>
          <a:lstStyle/>
          <a:p>
            <a:pPr indent="0" marL="0">
              <a:lnSpc>
                <a:spcPts val="1729"/>
              </a:lnSpc>
              <a:buNone/>
            </a:pPr>
            <a:r>
              <a:rPr lang="en-US" sz="1300" dirty="0">
                <a:solidFill>
                  <a:srgbClr val="DCE6F2"/>
                </a:solidFill>
              </a:rPr>
              <a:t>ASDL and the ATC Scenario Language came first. AirTrafficGen attacks the same problem with an LLM.</a:t>
            </a:r>
            <a:endParaRPr lang="en-US" sz="1300" dirty="0"/>
          </a:p>
          <a:p>
            <a:pPr indent="0" marL="0">
              <a:lnSpc>
                <a:spcPts val="1729"/>
              </a:lnSpc>
              <a:buNone/>
            </a:pPr>
            <a:endParaRPr lang="en-US" sz="1300" dirty="0"/>
          </a:p>
          <a:p>
            <a:pPr indent="0" marL="0">
              <a:lnSpc>
                <a:spcPts val="1729"/>
              </a:lnSpc>
              <a:buNone/>
            </a:pPr>
            <a:r>
              <a:rPr lang="en-US" sz="1300" dirty="0">
                <a:solidFill>
                  <a:srgbClr val="DCE6F2"/>
                </a:solidFill>
              </a:rPr>
              <a:t>The contribution is not the idea. It is a complete, small, readable compiler for it — built from scratch, with domain-aware static checking the cited work does not describe.</a:t>
            </a:r>
            <a:endParaRPr lang="en-US" sz="13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The same scenario, written as a program</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AeroDSL does not replace the flat file. It generates it.</a:t>
            </a:r>
            <a:endParaRPr lang="en-US" sz="1500" dirty="0"/>
          </a:p>
        </p:txBody>
      </p:sp>
      <p:sp>
        <p:nvSpPr>
          <p:cNvPr id="4" name="src"/>
          <p:cNvSpPr/>
          <p:nvPr/>
        </p:nvSpPr>
        <p:spPr>
          <a:xfrm>
            <a:off x="566928" y="1572768"/>
            <a:ext cx="5300320" cy="3200400"/>
          </a:xfrm>
          <a:prstGeom prst="roundRect">
            <a:avLst>
              <a:gd name="adj" fmla="val 1714"/>
            </a:avLst>
          </a:prstGeom>
          <a:solidFill>
            <a:srgbClr val="16233A"/>
          </a:solidFill>
          <a:ln w="12700">
            <a:solidFill>
              <a:srgbClr val="22344F"/>
            </a:solidFill>
            <a:prstDash val="solid"/>
          </a:ln>
        </p:spPr>
      </p:sp>
      <p:sp>
        <p:nvSpPr>
          <p:cNvPr id="5" name="src_label"/>
          <p:cNvSpPr txBox="1"/>
          <p:nvPr/>
        </p:nvSpPr>
        <p:spPr>
          <a:xfrm>
            <a:off x="731520" y="1691640"/>
            <a:ext cx="4971136" cy="237744"/>
          </a:xfrm>
          <a:prstGeom prst="rect">
            <a:avLst/>
          </a:prstGeom>
          <a:noFill/>
          <a:ln/>
        </p:spPr>
        <p:txBody>
          <a:bodyPr wrap="square" lIns="0" tIns="0" rIns="0" bIns="0" rtlCol="0" anchor="ctr"/>
          <a:lstStyle/>
          <a:p>
            <a:pPr indent="0" marL="0">
              <a:buNone/>
            </a:pPr>
            <a:r>
              <a:rPr lang="en-US" sz="1050" b="1" spc="120" kern="0" dirty="0">
                <a:solidFill>
                  <a:srgbClr val="35C6A8"/>
                </a:solidFill>
              </a:rPr>
              <a:t>WHAT THE AUTHOR WRITES   ·   scenario.aero</a:t>
            </a:r>
            <a:endParaRPr lang="en-US" sz="1050" dirty="0"/>
          </a:p>
        </p:txBody>
      </p:sp>
      <p:sp>
        <p:nvSpPr>
          <p:cNvPr id="6" name="src_text"/>
          <p:cNvSpPr txBox="1"/>
          <p:nvPr/>
        </p:nvSpPr>
        <p:spPr>
          <a:xfrm>
            <a:off x="731520" y="2002536"/>
            <a:ext cx="4971136" cy="2660904"/>
          </a:xfrm>
          <a:prstGeom prst="rect">
            <a:avLst/>
          </a:prstGeom>
          <a:noFill/>
          <a:ln/>
        </p:spPr>
        <p:txBody>
          <a:bodyPr wrap="square" lIns="0" tIns="0" rIns="0" bIns="0" rtlCol="0" anchor="t"/>
          <a:lstStyle/>
          <a:p>
            <a:pPr indent="0" marL="0">
              <a:lnSpc>
                <a:spcPts val="1518"/>
              </a:lnSpc>
              <a:buNone/>
            </a:pPr>
            <a:r>
              <a:rPr lang="en-US" sz="1150" b="1" dirty="0">
                <a:solidFill>
                  <a:srgbClr val="35C6A8"/>
                </a:solidFill>
                <a:latin typeface="Courier New" pitchFamily="34" charset="0"/>
                <a:ea typeface="Courier New" pitchFamily="34" charset="-122"/>
                <a:cs typeface="Courier New" pitchFamily="34" charset="-120"/>
              </a:rPr>
              <a:t>scenario</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7FA3DB"/>
                </a:solidFill>
                <a:latin typeface="Courier New" pitchFamily="34" charset="0"/>
                <a:ea typeface="Courier New" pitchFamily="34" charset="-122"/>
                <a:cs typeface="Courier New" pitchFamily="34" charset="-120"/>
              </a:rPr>
              <a:t>"Climb to cruise"</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a:t>
            </a:r>
            <a:endParaRPr lang="en-US" sz="1150" dirty="0"/>
          </a:p>
          <a:p>
            <a:pPr indent="0" marL="0">
              <a:lnSpc>
                <a:spcPts val="1518"/>
              </a:lnSpc>
              <a:buNone/>
            </a:pPr>
            <a:r>
              <a:rPr lang="en-US" sz="1150" b="1" dirty="0">
                <a:solidFill>
                  <a:srgbClr val="35C6A8"/>
                </a:solidFill>
                <a:latin typeface="Courier New" pitchFamily="34" charset="0"/>
                <a:ea typeface="Courier New" pitchFamily="34" charset="-122"/>
                <a:cs typeface="Courier New" pitchFamily="34" charset="-120"/>
              </a:rPr>
              <a:t>fix</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E8A33D"/>
                </a:solidFill>
                <a:latin typeface="Courier New" pitchFamily="34" charset="0"/>
                <a:ea typeface="Courier New" pitchFamily="34" charset="-122"/>
                <a:cs typeface="Courier New" pitchFamily="34" charset="-120"/>
              </a:rPr>
              <a:t>VOMAN</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12.95</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77.67</a:t>
            </a:r>
            <a:endParaRPr lang="en-US" sz="1150" dirty="0"/>
          </a:p>
          <a:p>
            <a:pPr indent="0" marL="0">
              <a:lnSpc>
                <a:spcPts val="1518"/>
              </a:lnSpc>
              <a:buNone/>
            </a:pPr>
            <a:r>
              <a:rPr lang="en-US" sz="1150" b="1" dirty="0">
                <a:solidFill>
                  <a:srgbClr val="35C6A8"/>
                </a:solidFill>
                <a:latin typeface="Courier New" pitchFamily="34" charset="0"/>
                <a:ea typeface="Courier New" pitchFamily="34" charset="-122"/>
                <a:cs typeface="Courier New" pitchFamily="34" charset="-120"/>
              </a:rPr>
              <a:t>flight</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E8A33D"/>
                </a:solidFill>
                <a:latin typeface="Courier New" pitchFamily="34" charset="0"/>
                <a:ea typeface="Courier New" pitchFamily="34" charset="-122"/>
                <a:cs typeface="Courier New" pitchFamily="34" charset="-120"/>
              </a:rPr>
              <a:t>AI202</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type</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E8A33D"/>
                </a:solidFill>
                <a:latin typeface="Courier New" pitchFamily="34" charset="0"/>
                <a:ea typeface="Courier New" pitchFamily="34" charset="-122"/>
                <a:cs typeface="Courier New" pitchFamily="34" charset="-120"/>
              </a:rPr>
              <a:t>A320</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enter</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E8A33D"/>
                </a:solidFill>
                <a:latin typeface="Courier New" pitchFamily="34" charset="0"/>
                <a:ea typeface="Courier New" pitchFamily="34" charset="-122"/>
                <a:cs typeface="Courier New" pitchFamily="34" charset="-120"/>
              </a:rPr>
              <a:t>VOMAN</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alt</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FL240</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hdg</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090</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spd</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280</a:t>
            </a:r>
            <a:r>
              <a:rPr lang="en-US" sz="1150" dirty="0">
                <a:solidFill>
                  <a:srgbClr val="E8A33D"/>
                </a:solidFill>
                <a:latin typeface="Courier New" pitchFamily="34" charset="0"/>
                <a:ea typeface="Courier New" pitchFamily="34" charset="-122"/>
                <a:cs typeface="Courier New" pitchFamily="34" charset="-120"/>
              </a:rPr>
              <a:t>KT</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a:t>
            </a:r>
            <a:endParaRPr lang="en-US" sz="1150" dirty="0"/>
          </a:p>
          <a:p>
            <a:pPr indent="0" marL="0">
              <a:lnSpc>
                <a:spcPts val="1518"/>
              </a:lnSpc>
              <a:buNone/>
            </a:pPr>
            <a:r>
              <a:rPr lang="en-US" sz="1150" b="1" dirty="0">
                <a:solidFill>
                  <a:srgbClr val="35C6A8"/>
                </a:solidFill>
                <a:latin typeface="Courier New" pitchFamily="34" charset="0"/>
                <a:ea typeface="Courier New" pitchFamily="34" charset="-122"/>
                <a:cs typeface="Courier New" pitchFamily="34" charset="-120"/>
              </a:rPr>
              <a:t>let</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DCE6F2"/>
                </a:solidFill>
                <a:latin typeface="Courier New" pitchFamily="34" charset="0"/>
                <a:ea typeface="Courier New" pitchFamily="34" charset="-122"/>
                <a:cs typeface="Courier New" pitchFamily="34" charset="-120"/>
              </a:rPr>
              <a:t>cruise</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8D9CAF"/>
                </a:solidFill>
                <a:latin typeface="Courier New" pitchFamily="34" charset="0"/>
                <a:ea typeface="Courier New" pitchFamily="34" charset="-122"/>
                <a:cs typeface="Courier New" pitchFamily="34" charset="-120"/>
              </a:rPr>
              <a:t>=</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FL320</a:t>
            </a:r>
            <a:endParaRPr lang="en-US" sz="1150" dirty="0"/>
          </a:p>
          <a:p>
            <a:pPr indent="0" marL="0">
              <a:lnSpc>
                <a:spcPts val="1518"/>
              </a:lnSpc>
              <a:buNone/>
            </a:pPr>
            <a:r>
              <a:rPr lang="en-US" sz="1150" b="1" dirty="0">
                <a:solidFill>
                  <a:srgbClr val="35C6A8"/>
                </a:solidFill>
                <a:latin typeface="Courier New" pitchFamily="34" charset="0"/>
                <a:ea typeface="Courier New" pitchFamily="34" charset="-122"/>
                <a:cs typeface="Courier New" pitchFamily="34" charset="-120"/>
              </a:rPr>
              <a:t>clear</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E8A33D"/>
                </a:solidFill>
                <a:latin typeface="Courier New" pitchFamily="34" charset="0"/>
                <a:ea typeface="Courier New" pitchFamily="34" charset="-122"/>
                <a:cs typeface="Courier New" pitchFamily="34" charset="-120"/>
              </a:rPr>
              <a:t>AI202</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climb</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DCE6F2"/>
                </a:solidFill>
                <a:latin typeface="Courier New" pitchFamily="34" charset="0"/>
                <a:ea typeface="Courier New" pitchFamily="34" charset="-122"/>
                <a:cs typeface="Courier New" pitchFamily="34" charset="-120"/>
              </a:rPr>
              <a:t>cruise</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8D9CAF"/>
                </a:solidFill>
                <a:latin typeface="Courier New" pitchFamily="34" charset="0"/>
                <a:ea typeface="Courier New" pitchFamily="34" charset="-122"/>
                <a:cs typeface="Courier New" pitchFamily="34" charset="-120"/>
              </a:rPr>
              <a:t>-</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2000</a:t>
            </a:r>
            <a:endParaRPr lang="en-US" sz="1150" dirty="0"/>
          </a:p>
          <a:p>
            <a:pPr indent="0" marL="0">
              <a:lnSpc>
                <a:spcPts val="1518"/>
              </a:lnSpc>
              <a:buNone/>
            </a:pPr>
            <a:r>
              <a:rPr lang="en-US" sz="1150" b="1" dirty="0">
                <a:solidFill>
                  <a:srgbClr val="35C6A8"/>
                </a:solidFill>
                <a:latin typeface="Courier New" pitchFamily="34" charset="0"/>
                <a:ea typeface="Courier New" pitchFamily="34" charset="-122"/>
                <a:cs typeface="Courier New" pitchFamily="34" charset="-120"/>
              </a:rPr>
              <a:t>advance</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120</a:t>
            </a:r>
            <a:endParaRPr lang="en-US" sz="1150" dirty="0"/>
          </a:p>
        </p:txBody>
      </p:sp>
      <p:sp>
        <p:nvSpPr>
          <p:cNvPr id="7" name="out"/>
          <p:cNvSpPr/>
          <p:nvPr/>
        </p:nvSpPr>
        <p:spPr>
          <a:xfrm>
            <a:off x="6324448" y="1572768"/>
            <a:ext cx="5300320" cy="3200400"/>
          </a:xfrm>
          <a:prstGeom prst="roundRect">
            <a:avLst>
              <a:gd name="adj" fmla="val 1714"/>
            </a:avLst>
          </a:prstGeom>
          <a:solidFill>
            <a:srgbClr val="16233A"/>
          </a:solidFill>
          <a:ln w="12700">
            <a:solidFill>
              <a:srgbClr val="22344F"/>
            </a:solidFill>
            <a:prstDash val="solid"/>
          </a:ln>
        </p:spPr>
      </p:sp>
      <p:sp>
        <p:nvSpPr>
          <p:cNvPr id="8" name="out_label"/>
          <p:cNvSpPr txBox="1"/>
          <p:nvPr/>
        </p:nvSpPr>
        <p:spPr>
          <a:xfrm>
            <a:off x="6489040" y="1691640"/>
            <a:ext cx="4971136" cy="237744"/>
          </a:xfrm>
          <a:prstGeom prst="rect">
            <a:avLst/>
          </a:prstGeom>
          <a:noFill/>
          <a:ln/>
        </p:spPr>
        <p:txBody>
          <a:bodyPr wrap="square" lIns="0" tIns="0" rIns="0" bIns="0" rtlCol="0" anchor="ctr"/>
          <a:lstStyle/>
          <a:p>
            <a:pPr indent="0" marL="0">
              <a:buNone/>
            </a:pPr>
            <a:r>
              <a:rPr lang="en-US" sz="1050" b="1" spc="120" kern="0" dirty="0">
                <a:solidFill>
                  <a:srgbClr val="E8A33D"/>
                </a:solidFill>
              </a:rPr>
              <a:t>WHAT THE COMPILER PRODUCES   ·   scenario.scn</a:t>
            </a:r>
            <a:endParaRPr lang="en-US" sz="1050" dirty="0"/>
          </a:p>
        </p:txBody>
      </p:sp>
      <p:sp>
        <p:nvSpPr>
          <p:cNvPr id="9" name="out_text"/>
          <p:cNvSpPr txBox="1"/>
          <p:nvPr/>
        </p:nvSpPr>
        <p:spPr>
          <a:xfrm>
            <a:off x="6489040" y="2002536"/>
            <a:ext cx="4971136" cy="2660904"/>
          </a:xfrm>
          <a:prstGeom prst="rect">
            <a:avLst/>
          </a:prstGeom>
          <a:noFill/>
          <a:ln/>
        </p:spPr>
        <p:txBody>
          <a:bodyPr wrap="square" lIns="0" tIns="0" rIns="0" bIns="0" rtlCol="0" anchor="t"/>
          <a:lstStyle/>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Scenario generated by the AeroDSL compiler</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Source scenario: "Climb to cruise"</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120 s of simulated time, 1 aircraft,</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1 clearance, 0 losses of separation.</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00:00:00.00&gt;</a:t>
            </a:r>
            <a:r>
              <a:rPr lang="en-US" sz="1150" b="1" dirty="0">
                <a:solidFill>
                  <a:srgbClr val="E8A33D"/>
                </a:solidFill>
                <a:latin typeface="Courier New" pitchFamily="34" charset="0"/>
                <a:ea typeface="Courier New" pitchFamily="34" charset="-122"/>
                <a:cs typeface="Courier New" pitchFamily="34" charset="-120"/>
              </a:rPr>
              <a:t>DEFWPT</a:t>
            </a:r>
            <a:r>
              <a:rPr lang="en-US" sz="1150" dirty="0">
                <a:solidFill>
                  <a:srgbClr val="DCE6F2"/>
                </a:solidFill>
                <a:latin typeface="Courier New" pitchFamily="34" charset="0"/>
                <a:ea typeface="Courier New" pitchFamily="34" charset="-122"/>
                <a:cs typeface="Courier New" pitchFamily="34" charset="-120"/>
              </a:rPr>
              <a:t> VOMAN,12.950000,77.670000</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00:00:00.00&gt;</a:t>
            </a:r>
            <a:r>
              <a:rPr lang="en-US" sz="1150" b="1" dirty="0">
                <a:solidFill>
                  <a:srgbClr val="E8A33D"/>
                </a:solidFill>
                <a:latin typeface="Courier New" pitchFamily="34" charset="0"/>
                <a:ea typeface="Courier New" pitchFamily="34" charset="-122"/>
                <a:cs typeface="Courier New" pitchFamily="34" charset="-120"/>
              </a:rPr>
              <a:t>CRE</a:t>
            </a:r>
            <a:r>
              <a:rPr lang="en-US" sz="1150" dirty="0">
                <a:solidFill>
                  <a:srgbClr val="DCE6F2"/>
                </a:solidFill>
                <a:latin typeface="Courier New" pitchFamily="34" charset="0"/>
                <a:ea typeface="Courier New" pitchFamily="34" charset="-122"/>
                <a:cs typeface="Courier New" pitchFamily="34" charset="-120"/>
              </a:rPr>
              <a:t> AI202,A320,12.950000,</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77.670000,90,FL240,280</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00:00:00.00&gt;</a:t>
            </a:r>
            <a:r>
              <a:rPr lang="en-US" sz="1150" b="1" dirty="0">
                <a:solidFill>
                  <a:srgbClr val="E8A33D"/>
                </a:solidFill>
                <a:latin typeface="Courier New" pitchFamily="34" charset="0"/>
                <a:ea typeface="Courier New" pitchFamily="34" charset="-122"/>
                <a:cs typeface="Courier New" pitchFamily="34" charset="-120"/>
              </a:rPr>
              <a:t>ALT</a:t>
            </a:r>
            <a:r>
              <a:rPr lang="en-US" sz="1150" dirty="0">
                <a:solidFill>
                  <a:srgbClr val="DCE6F2"/>
                </a:solidFill>
                <a:latin typeface="Courier New" pitchFamily="34" charset="0"/>
                <a:ea typeface="Courier New" pitchFamily="34" charset="-122"/>
                <a:cs typeface="Courier New" pitchFamily="34" charset="-120"/>
              </a:rPr>
              <a:t> AI202,</a:t>
            </a:r>
            <a:r>
              <a:rPr lang="en-US" sz="1150" b="1" dirty="0">
                <a:solidFill>
                  <a:srgbClr val="E8A33D"/>
                </a:solidFill>
                <a:latin typeface="Courier New" pitchFamily="34" charset="0"/>
                <a:ea typeface="Courier New" pitchFamily="34" charset="-122"/>
                <a:cs typeface="Courier New" pitchFamily="34" charset="-120"/>
              </a:rPr>
              <a:t>FL300</a:t>
            </a:r>
            <a:endParaRPr lang="en-US" sz="1150" dirty="0"/>
          </a:p>
        </p:txBody>
      </p:sp>
      <p:sp>
        <p:nvSpPr>
          <p:cNvPr id="10" name="arrow1"/>
          <p:cNvSpPr/>
          <p:nvPr/>
        </p:nvSpPr>
        <p:spPr>
          <a:xfrm>
            <a:off x="5940400" y="3035808"/>
            <a:ext cx="310896" cy="155448"/>
          </a:xfrm>
          <a:prstGeom prst="rightArrow">
            <a:avLst/>
          </a:prstGeom>
          <a:solidFill>
            <a:srgbClr val="35C6A8"/>
          </a:solidFill>
          <a:ln w="12700">
            <a:solidFill>
              <a:srgbClr val="333333"/>
            </a:solidFill>
            <a:prstDash val="solid"/>
          </a:ln>
        </p:spPr>
      </p:sp>
      <p:sp>
        <p:nvSpPr>
          <p:cNvPr id="11" name="gain"/>
          <p:cNvSpPr/>
          <p:nvPr/>
        </p:nvSpPr>
        <p:spPr>
          <a:xfrm>
            <a:off x="566928" y="4919472"/>
            <a:ext cx="11057839" cy="1042416"/>
          </a:xfrm>
          <a:prstGeom prst="roundRect">
            <a:avLst>
              <a:gd name="adj" fmla="val 6140"/>
            </a:avLst>
          </a:prstGeom>
          <a:solidFill>
            <a:srgbClr val="16233A"/>
          </a:solidFill>
          <a:ln w="12700">
            <a:solidFill>
              <a:srgbClr val="22344F"/>
            </a:solidFill>
            <a:prstDash val="solid"/>
          </a:ln>
        </p:spPr>
      </p:sp>
      <p:sp>
        <p:nvSpPr>
          <p:cNvPr id="12" name="gain_h"/>
          <p:cNvSpPr txBox="1"/>
          <p:nvPr/>
        </p:nvSpPr>
        <p:spPr>
          <a:xfrm>
            <a:off x="749808" y="5065776"/>
            <a:ext cx="10692079" cy="274320"/>
          </a:xfrm>
          <a:prstGeom prst="rect">
            <a:avLst/>
          </a:prstGeom>
          <a:noFill/>
          <a:ln/>
        </p:spPr>
        <p:txBody>
          <a:bodyPr wrap="square" lIns="0" tIns="0" rIns="0" bIns="0" rtlCol="0" anchor="ctr"/>
          <a:lstStyle/>
          <a:p>
            <a:pPr indent="0" marL="0">
              <a:buNone/>
            </a:pPr>
            <a:r>
              <a:rPr lang="en-US" sz="1300" b="1" dirty="0">
                <a:solidFill>
                  <a:srgbClr val="35C6A8"/>
                </a:solidFill>
              </a:rPr>
              <a:t>FL320 appears once, and FL300 was computed by the compiler</a:t>
            </a:r>
            <a:endParaRPr lang="en-US" sz="1300" dirty="0"/>
          </a:p>
        </p:txBody>
      </p:sp>
      <p:sp>
        <p:nvSpPr>
          <p:cNvPr id="13" name="gain_b"/>
          <p:cNvSpPr txBox="1"/>
          <p:nvPr/>
        </p:nvSpPr>
        <p:spPr>
          <a:xfrm>
            <a:off x="749808" y="5394960"/>
            <a:ext cx="10692079" cy="420624"/>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The author wrote the intent — cruise, less two thousand feet. Constant folding worked out 30000 ft, and the simulation worked out the timestamp. Neither was typed by hand, so neither can go stale when the scenario is edited.</a:t>
            </a:r>
            <a:endParaRPr lang="en-US" sz="12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0" grpId="0"/>
      <p:bldP spid="7" grpId="0"/>
      <p:bldP spid="8" grpId="0"/>
      <p:bldP spid="9" grpId="0"/>
      <p:bldP spid="11" grpId="0"/>
      <p:bldP spid="12"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The language in one slide</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examples/02_converging.aero — a controller-training exercise, complete and runnable</a:t>
            </a:r>
            <a:endParaRPr lang="en-US" sz="1500" dirty="0"/>
          </a:p>
        </p:txBody>
      </p:sp>
      <p:sp>
        <p:nvSpPr>
          <p:cNvPr id="4" name="lang"/>
          <p:cNvSpPr/>
          <p:nvPr/>
        </p:nvSpPr>
        <p:spPr>
          <a:xfrm>
            <a:off x="566928" y="1572768"/>
            <a:ext cx="6858000" cy="4526280"/>
          </a:xfrm>
          <a:prstGeom prst="roundRect">
            <a:avLst>
              <a:gd name="adj" fmla="val 1212"/>
            </a:avLst>
          </a:prstGeom>
          <a:solidFill>
            <a:srgbClr val="16233A"/>
          </a:solidFill>
          <a:ln w="12700">
            <a:solidFill>
              <a:srgbClr val="22344F"/>
            </a:solidFill>
            <a:prstDash val="solid"/>
          </a:ln>
        </p:spPr>
      </p:sp>
      <p:sp>
        <p:nvSpPr>
          <p:cNvPr id="5" name="lang_text"/>
          <p:cNvSpPr txBox="1"/>
          <p:nvPr/>
        </p:nvSpPr>
        <p:spPr>
          <a:xfrm>
            <a:off x="731520" y="1691640"/>
            <a:ext cx="6528816" cy="4297680"/>
          </a:xfrm>
          <a:prstGeom prst="rect">
            <a:avLst/>
          </a:prstGeom>
          <a:noFill/>
          <a:ln/>
        </p:spPr>
        <p:txBody>
          <a:bodyPr wrap="square" lIns="0" tIns="0" rIns="0" bIns="0" rtlCol="0" anchor="t"/>
          <a:lstStyle/>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scenario</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7FA3DB"/>
                </a:solidFill>
                <a:latin typeface="Courier New" pitchFamily="34" charset="0"/>
                <a:ea typeface="Courier New" pitchFamily="34" charset="-122"/>
                <a:cs typeface="Courier New" pitchFamily="34" charset="-120"/>
              </a:rPr>
              <a:t>"Converging pair at FL320"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fix</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VOMAN</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12.95</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77.67</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fix</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AKTIV</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13.20</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77.90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let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DCE6F2"/>
                </a:solidFill>
                <a:latin typeface="Courier New" pitchFamily="34" charset="0"/>
                <a:ea typeface="Courier New" pitchFamily="34" charset="-122"/>
                <a:cs typeface="Courier New" pitchFamily="34" charset="-120"/>
              </a:rPr>
              <a:t>level</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FL320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flight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AI202</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type</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A320</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enter</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VOMAN</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alt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DCE6F2"/>
                </a:solidFill>
                <a:latin typeface="Courier New" pitchFamily="34" charset="0"/>
                <a:ea typeface="Courier New" pitchFamily="34" charset="-122"/>
                <a:cs typeface="Courier New" pitchFamily="34" charset="-120"/>
              </a:rPr>
              <a:t>level</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hdg</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045</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spd</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280</a:t>
            </a:r>
            <a:r>
              <a:rPr lang="en-US" sz="1100" dirty="0">
                <a:solidFill>
                  <a:srgbClr val="E8A33D"/>
                </a:solidFill>
                <a:latin typeface="Courier New" pitchFamily="34" charset="0"/>
                <a:ea typeface="Courier New" pitchFamily="34" charset="-122"/>
                <a:cs typeface="Courier New" pitchFamily="34" charset="-120"/>
              </a:rPr>
              <a:t>KT</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flight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BA117</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type</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B777</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enter</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AKTIV</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alt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DCE6F2"/>
                </a:solidFill>
                <a:latin typeface="Courier New" pitchFamily="34" charset="0"/>
                <a:ea typeface="Courier New" pitchFamily="34" charset="-122"/>
                <a:cs typeface="Courier New" pitchFamily="34" charset="-120"/>
              </a:rPr>
              <a:t>level</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hdg</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225</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spd</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300</a:t>
            </a:r>
            <a:r>
              <a:rPr lang="en-US" sz="1100" dirty="0">
                <a:solidFill>
                  <a:srgbClr val="E8A33D"/>
                </a:solidFill>
                <a:latin typeface="Courier New" pitchFamily="34" charset="0"/>
                <a:ea typeface="Courier New" pitchFamily="34" charset="-122"/>
                <a:cs typeface="Courier New" pitchFamily="34" charset="-120"/>
              </a:rPr>
              <a:t>KT</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let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DCE6F2"/>
                </a:solidFill>
                <a:latin typeface="Courier New" pitchFamily="34" charset="0"/>
                <a:ea typeface="Courier New" pitchFamily="34" charset="-122"/>
                <a:cs typeface="Courier New" pitchFamily="34" charset="-120"/>
              </a:rPr>
              <a:t>closest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500</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let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DCE6F2"/>
                </a:solidFill>
                <a:latin typeface="Courier New" pitchFamily="34" charset="0"/>
                <a:ea typeface="Courier New" pitchFamily="34" charset="-122"/>
                <a:cs typeface="Courier New" pitchFamily="34" charset="-120"/>
              </a:rPr>
              <a:t>elapsed</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0</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while</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DCE6F2"/>
                </a:solidFill>
                <a:latin typeface="Courier New" pitchFamily="34" charset="0"/>
                <a:ea typeface="Courier New" pitchFamily="34" charset="-122"/>
                <a:cs typeface="Courier New" pitchFamily="34" charset="-120"/>
              </a:rPr>
              <a:t>elapsed</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8D9CAF"/>
                </a:solidFill>
                <a:latin typeface="Courier New" pitchFamily="34" charset="0"/>
                <a:ea typeface="Courier New" pitchFamily="34" charset="-122"/>
                <a:cs typeface="Courier New" pitchFamily="34" charset="-120"/>
              </a:rPr>
              <a:t>&lt;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600</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do</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advance</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10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DCE6F2"/>
                </a:solidFill>
                <a:latin typeface="Courier New" pitchFamily="34" charset="0"/>
                <a:ea typeface="Courier New" pitchFamily="34" charset="-122"/>
                <a:cs typeface="Courier New" pitchFamily="34" charset="-120"/>
              </a:rPr>
              <a:t>closest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35C6A8"/>
                </a:solidFill>
                <a:latin typeface="Courier New" pitchFamily="34" charset="0"/>
                <a:ea typeface="Courier New" pitchFamily="34" charset="-122"/>
                <a:cs typeface="Courier New" pitchFamily="34" charset="-120"/>
              </a:rPr>
              <a:t>min</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DCE6F2"/>
                </a:solidFill>
                <a:latin typeface="Courier New" pitchFamily="34" charset="0"/>
                <a:ea typeface="Courier New" pitchFamily="34" charset="-122"/>
                <a:cs typeface="Courier New" pitchFamily="34" charset="-120"/>
              </a:rPr>
              <a:t>closest</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35C6A8"/>
                </a:solidFill>
                <a:latin typeface="Courier New" pitchFamily="34" charset="0"/>
                <a:ea typeface="Courier New" pitchFamily="34" charset="-122"/>
                <a:cs typeface="Courier New" pitchFamily="34" charset="-120"/>
              </a:rPr>
              <a:t>hsep</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E8A33D"/>
                </a:solidFill>
                <a:latin typeface="Courier New" pitchFamily="34" charset="0"/>
                <a:ea typeface="Courier New" pitchFamily="34" charset="-122"/>
                <a:cs typeface="Courier New" pitchFamily="34" charset="-120"/>
              </a:rPr>
              <a:t>AI202</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BA117</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8D9CAF"/>
                </a:solidFill>
                <a:latin typeface="Courier New" pitchFamily="34" charset="0"/>
                <a:ea typeface="Courier New" pitchFamily="34" charset="-122"/>
                <a:cs typeface="Courier New" pitchFamily="34" charset="-120"/>
              </a:rPr>
              <a:t>)</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DCE6F2"/>
                </a:solidFill>
                <a:latin typeface="Courier New" pitchFamily="34" charset="0"/>
                <a:ea typeface="Courier New" pitchFamily="34" charset="-122"/>
                <a:cs typeface="Courier New" pitchFamily="34" charset="-120"/>
              </a:rPr>
              <a:t>elapsed</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DCE6F2"/>
                </a:solidFill>
                <a:latin typeface="Courier New" pitchFamily="34" charset="0"/>
                <a:ea typeface="Courier New" pitchFamily="34" charset="-122"/>
                <a:cs typeface="Courier New" pitchFamily="34" charset="-120"/>
              </a:rPr>
              <a:t>elapsed</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10</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end</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assert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DCE6F2"/>
                </a:solidFill>
                <a:latin typeface="Courier New" pitchFamily="34" charset="0"/>
                <a:ea typeface="Courier New" pitchFamily="34" charset="-122"/>
                <a:cs typeface="Courier New" pitchFamily="34" charset="-120"/>
              </a:rPr>
              <a:t>closest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8D9CAF"/>
                </a:solidFill>
                <a:latin typeface="Courier New" pitchFamily="34" charset="0"/>
                <a:ea typeface="Courier New" pitchFamily="34" charset="-122"/>
                <a:cs typeface="Courier New" pitchFamily="34" charset="-120"/>
              </a:rPr>
              <a:t>&lt;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5</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7FA3DB"/>
                </a:solidFill>
                <a:latin typeface="Courier New" pitchFamily="34" charset="0"/>
                <a:ea typeface="Courier New" pitchFamily="34" charset="-122"/>
                <a:cs typeface="Courier New" pitchFamily="34" charset="-120"/>
              </a:rPr>
              <a:t>"the pair must converge"</a:t>
            </a:r>
            <a:endParaRPr lang="en-US" sz="1100" dirty="0"/>
          </a:p>
        </p:txBody>
      </p:sp>
      <p:sp>
        <p:nvSpPr>
          <p:cNvPr id="6" name="n1"/>
          <p:cNvSpPr/>
          <p:nvPr/>
        </p:nvSpPr>
        <p:spPr>
          <a:xfrm>
            <a:off x="7699248" y="1572768"/>
            <a:ext cx="3925519" cy="1005840"/>
          </a:xfrm>
          <a:prstGeom prst="roundRect">
            <a:avLst>
              <a:gd name="adj" fmla="val 6364"/>
            </a:avLst>
          </a:prstGeom>
          <a:solidFill>
            <a:srgbClr val="16233A"/>
          </a:solidFill>
          <a:ln w="12700">
            <a:solidFill>
              <a:srgbClr val="22344F"/>
            </a:solidFill>
            <a:prstDash val="solid"/>
          </a:ln>
        </p:spPr>
      </p:sp>
      <p:sp>
        <p:nvSpPr>
          <p:cNvPr id="7" name="n1_h"/>
          <p:cNvSpPr txBox="1"/>
          <p:nvPr/>
        </p:nvSpPr>
        <p:spPr>
          <a:xfrm>
            <a:off x="7882128" y="1719072"/>
            <a:ext cx="3559759" cy="274320"/>
          </a:xfrm>
          <a:prstGeom prst="rect">
            <a:avLst/>
          </a:prstGeom>
          <a:noFill/>
          <a:ln/>
        </p:spPr>
        <p:txBody>
          <a:bodyPr wrap="square" lIns="0" tIns="0" rIns="0" bIns="0" rtlCol="0" anchor="ctr"/>
          <a:lstStyle/>
          <a:p>
            <a:pPr indent="0" marL="0">
              <a:buNone/>
            </a:pPr>
            <a:r>
              <a:rPr lang="en-US" sz="1300" b="1" dirty="0">
                <a:solidFill>
                  <a:srgbClr val="35C6A8"/>
                </a:solidFill>
              </a:rPr>
              <a:t>Declarations</a:t>
            </a:r>
            <a:endParaRPr lang="en-US" sz="1300" dirty="0"/>
          </a:p>
        </p:txBody>
      </p:sp>
      <p:sp>
        <p:nvSpPr>
          <p:cNvPr id="8" name="n1_b"/>
          <p:cNvSpPr txBox="1"/>
          <p:nvPr/>
        </p:nvSpPr>
        <p:spPr>
          <a:xfrm>
            <a:off x="7882128" y="2048256"/>
            <a:ext cx="3559759" cy="384048"/>
          </a:xfrm>
          <a:prstGeom prst="rect">
            <a:avLst/>
          </a:prstGeom>
          <a:noFill/>
          <a:ln/>
        </p:spPr>
        <p:txBody>
          <a:bodyPr wrap="square" lIns="0" tIns="0" rIns="0" bIns="0" rtlCol="0" anchor="t"/>
          <a:lstStyle/>
          <a:p>
            <a:pPr indent="0" marL="0">
              <a:lnSpc>
                <a:spcPts val="1530"/>
              </a:lnSpc>
              <a:buNone/>
            </a:pPr>
            <a:r>
              <a:rPr lang="en-US" sz="1150" dirty="0">
                <a:solidFill>
                  <a:srgbClr val="DCE6F2"/>
                </a:solidFill>
              </a:rPr>
              <a:t>Waypoints and aircraft are first-class. An aircraft enters where its declaration appears.</a:t>
            </a:r>
            <a:endParaRPr lang="en-US" sz="1150" dirty="0"/>
          </a:p>
        </p:txBody>
      </p:sp>
      <p:sp>
        <p:nvSpPr>
          <p:cNvPr id="9" name="n2"/>
          <p:cNvSpPr/>
          <p:nvPr/>
        </p:nvSpPr>
        <p:spPr>
          <a:xfrm>
            <a:off x="7699248" y="2706624"/>
            <a:ext cx="3925519" cy="1005840"/>
          </a:xfrm>
          <a:prstGeom prst="roundRect">
            <a:avLst>
              <a:gd name="adj" fmla="val 6364"/>
            </a:avLst>
          </a:prstGeom>
          <a:solidFill>
            <a:srgbClr val="16233A"/>
          </a:solidFill>
          <a:ln w="12700">
            <a:solidFill>
              <a:srgbClr val="22344F"/>
            </a:solidFill>
            <a:prstDash val="solid"/>
          </a:ln>
        </p:spPr>
      </p:sp>
      <p:sp>
        <p:nvSpPr>
          <p:cNvPr id="10" name="n2_h"/>
          <p:cNvSpPr txBox="1"/>
          <p:nvPr/>
        </p:nvSpPr>
        <p:spPr>
          <a:xfrm>
            <a:off x="7882128" y="2852928"/>
            <a:ext cx="3559759" cy="274320"/>
          </a:xfrm>
          <a:prstGeom prst="rect">
            <a:avLst/>
          </a:prstGeom>
          <a:noFill/>
          <a:ln/>
        </p:spPr>
        <p:txBody>
          <a:bodyPr wrap="square" lIns="0" tIns="0" rIns="0" bIns="0" rtlCol="0" anchor="ctr"/>
          <a:lstStyle/>
          <a:p>
            <a:pPr indent="0" marL="0">
              <a:buNone/>
            </a:pPr>
            <a:r>
              <a:rPr lang="en-US" sz="1300" b="1" dirty="0">
                <a:solidFill>
                  <a:srgbClr val="35C6A8"/>
                </a:solidFill>
              </a:rPr>
              <a:t>Abstraction</a:t>
            </a:r>
            <a:endParaRPr lang="en-US" sz="1300" dirty="0"/>
          </a:p>
        </p:txBody>
      </p:sp>
      <p:sp>
        <p:nvSpPr>
          <p:cNvPr id="11" name="n2_b"/>
          <p:cNvSpPr txBox="1"/>
          <p:nvPr/>
        </p:nvSpPr>
        <p:spPr>
          <a:xfrm>
            <a:off x="7882128" y="3182112"/>
            <a:ext cx="3559759" cy="384048"/>
          </a:xfrm>
          <a:prstGeom prst="rect">
            <a:avLst/>
          </a:prstGeom>
          <a:noFill/>
          <a:ln/>
        </p:spPr>
        <p:txBody>
          <a:bodyPr wrap="square" lIns="0" tIns="0" rIns="0" bIns="0" rtlCol="0" anchor="t"/>
          <a:lstStyle/>
          <a:p>
            <a:pPr indent="0" marL="0">
              <a:lnSpc>
                <a:spcPts val="1530"/>
              </a:lnSpc>
              <a:buNone/>
            </a:pPr>
            <a:r>
              <a:rPr lang="en-US" sz="1150" dirty="0">
                <a:solidFill>
                  <a:srgbClr val="DCE6F2"/>
                </a:solidFill>
              </a:rPr>
              <a:t>FL320 is written once, as level, and used by both aircraft.</a:t>
            </a:r>
            <a:endParaRPr lang="en-US" sz="1150" dirty="0"/>
          </a:p>
        </p:txBody>
      </p:sp>
      <p:sp>
        <p:nvSpPr>
          <p:cNvPr id="12" name="n3"/>
          <p:cNvSpPr/>
          <p:nvPr/>
        </p:nvSpPr>
        <p:spPr>
          <a:xfrm>
            <a:off x="7699248" y="3840480"/>
            <a:ext cx="3925519" cy="1005840"/>
          </a:xfrm>
          <a:prstGeom prst="roundRect">
            <a:avLst>
              <a:gd name="adj" fmla="val 6364"/>
            </a:avLst>
          </a:prstGeom>
          <a:solidFill>
            <a:srgbClr val="16233A"/>
          </a:solidFill>
          <a:ln w="12700">
            <a:solidFill>
              <a:srgbClr val="22344F"/>
            </a:solidFill>
            <a:prstDash val="solid"/>
          </a:ln>
        </p:spPr>
      </p:sp>
      <p:sp>
        <p:nvSpPr>
          <p:cNvPr id="13" name="n3_h"/>
          <p:cNvSpPr txBox="1"/>
          <p:nvPr/>
        </p:nvSpPr>
        <p:spPr>
          <a:xfrm>
            <a:off x="7882128" y="3986784"/>
            <a:ext cx="3559759" cy="274320"/>
          </a:xfrm>
          <a:prstGeom prst="rect">
            <a:avLst/>
          </a:prstGeom>
          <a:noFill/>
          <a:ln/>
        </p:spPr>
        <p:txBody>
          <a:bodyPr wrap="square" lIns="0" tIns="0" rIns="0" bIns="0" rtlCol="0" anchor="ctr"/>
          <a:lstStyle/>
          <a:p>
            <a:pPr indent="0" marL="0">
              <a:buNone/>
            </a:pPr>
            <a:r>
              <a:rPr lang="en-US" sz="1300" b="1" dirty="0">
                <a:solidFill>
                  <a:srgbClr val="35C6A8"/>
                </a:solidFill>
              </a:rPr>
              <a:t>Simulated state</a:t>
            </a:r>
            <a:endParaRPr lang="en-US" sz="1300" dirty="0"/>
          </a:p>
        </p:txBody>
      </p:sp>
      <p:sp>
        <p:nvSpPr>
          <p:cNvPr id="14" name="n3_b"/>
          <p:cNvSpPr txBox="1"/>
          <p:nvPr/>
        </p:nvSpPr>
        <p:spPr>
          <a:xfrm>
            <a:off x="7882128" y="4315968"/>
            <a:ext cx="3559759" cy="384048"/>
          </a:xfrm>
          <a:prstGeom prst="rect">
            <a:avLst/>
          </a:prstGeom>
          <a:noFill/>
          <a:ln/>
        </p:spPr>
        <p:txBody>
          <a:bodyPr wrap="square" lIns="0" tIns="0" rIns="0" bIns="0" rtlCol="0" anchor="t"/>
          <a:lstStyle/>
          <a:p>
            <a:pPr indent="0" marL="0">
              <a:lnSpc>
                <a:spcPts val="1530"/>
              </a:lnSpc>
              <a:buNone/>
            </a:pPr>
            <a:r>
              <a:rPr lang="en-US" sz="1150" dirty="0">
                <a:solidFill>
                  <a:srgbClr val="DCE6F2"/>
                </a:solidFill>
              </a:rPr>
              <a:t>hsep is the separation between two aircraft right now. advance moves time forward.</a:t>
            </a:r>
            <a:endParaRPr lang="en-US" sz="1150" dirty="0"/>
          </a:p>
        </p:txBody>
      </p:sp>
      <p:sp>
        <p:nvSpPr>
          <p:cNvPr id="15" name="n4"/>
          <p:cNvSpPr/>
          <p:nvPr/>
        </p:nvSpPr>
        <p:spPr>
          <a:xfrm>
            <a:off x="7699248" y="4974336"/>
            <a:ext cx="3925519" cy="1005840"/>
          </a:xfrm>
          <a:prstGeom prst="roundRect">
            <a:avLst>
              <a:gd name="adj" fmla="val 6364"/>
            </a:avLst>
          </a:prstGeom>
          <a:solidFill>
            <a:srgbClr val="16233A"/>
          </a:solidFill>
          <a:ln w="12700">
            <a:solidFill>
              <a:srgbClr val="22344F"/>
            </a:solidFill>
            <a:prstDash val="solid"/>
          </a:ln>
        </p:spPr>
      </p:sp>
      <p:sp>
        <p:nvSpPr>
          <p:cNvPr id="16" name="n4_h"/>
          <p:cNvSpPr txBox="1"/>
          <p:nvPr/>
        </p:nvSpPr>
        <p:spPr>
          <a:xfrm>
            <a:off x="7882128" y="5120640"/>
            <a:ext cx="3559759" cy="274320"/>
          </a:xfrm>
          <a:prstGeom prst="rect">
            <a:avLst/>
          </a:prstGeom>
          <a:noFill/>
          <a:ln/>
        </p:spPr>
        <p:txBody>
          <a:bodyPr wrap="square" lIns="0" tIns="0" rIns="0" bIns="0" rtlCol="0" anchor="ctr"/>
          <a:lstStyle/>
          <a:p>
            <a:pPr indent="0" marL="0">
              <a:buNone/>
            </a:pPr>
            <a:r>
              <a:rPr lang="en-US" sz="1300" b="1" dirty="0">
                <a:solidFill>
                  <a:srgbClr val="E8A33D"/>
                </a:solidFill>
              </a:rPr>
              <a:t>Intent, made checkable</a:t>
            </a:r>
            <a:endParaRPr lang="en-US" sz="1300" dirty="0"/>
          </a:p>
        </p:txBody>
      </p:sp>
      <p:sp>
        <p:nvSpPr>
          <p:cNvPr id="17" name="n4_b"/>
          <p:cNvSpPr txBox="1"/>
          <p:nvPr/>
        </p:nvSpPr>
        <p:spPr>
          <a:xfrm>
            <a:off x="7882128" y="5449824"/>
            <a:ext cx="3559759" cy="384048"/>
          </a:xfrm>
          <a:prstGeom prst="rect">
            <a:avLst/>
          </a:prstGeom>
          <a:noFill/>
          <a:ln/>
        </p:spPr>
        <p:txBody>
          <a:bodyPr wrap="square" lIns="0" tIns="0" rIns="0" bIns="0" rtlCol="0" anchor="t"/>
          <a:lstStyle/>
          <a:p>
            <a:pPr indent="0" marL="0">
              <a:lnSpc>
                <a:spcPts val="1530"/>
              </a:lnSpc>
              <a:buNone/>
            </a:pPr>
            <a:r>
              <a:rPr lang="en-US" sz="1150" dirty="0">
                <a:solidFill>
                  <a:srgbClr val="DCE6F2"/>
                </a:solidFill>
              </a:rPr>
              <a:t>The last line says why the scenario exists — and the compiler checks it.</a:t>
            </a:r>
            <a:endParaRPr lang="en-US" sz="115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The compiler pipeline</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Every stage is implemented and can be printed from the command line</a:t>
            </a:r>
            <a:endParaRPr lang="en-US" sz="1500" dirty="0"/>
          </a:p>
        </p:txBody>
      </p:sp>
      <p:sp>
        <p:nvSpPr>
          <p:cNvPr id="4" name="p_lex"/>
          <p:cNvSpPr/>
          <p:nvPr/>
        </p:nvSpPr>
        <p:spPr>
          <a:xfrm>
            <a:off x="566928" y="1773936"/>
            <a:ext cx="1993392" cy="896112"/>
          </a:xfrm>
          <a:prstGeom prst="roundRect">
            <a:avLst>
              <a:gd name="adj" fmla="val 8163"/>
            </a:avLst>
          </a:prstGeom>
          <a:solidFill>
            <a:srgbClr val="16233A"/>
          </a:solidFill>
          <a:ln w="22225">
            <a:solidFill>
              <a:srgbClr val="35C6A8"/>
            </a:solidFill>
            <a:prstDash val="solid"/>
          </a:ln>
        </p:spPr>
      </p:sp>
      <p:sp>
        <p:nvSpPr>
          <p:cNvPr id="5" name="p_lex_t"/>
          <p:cNvSpPr txBox="1"/>
          <p:nvPr/>
        </p:nvSpPr>
        <p:spPr>
          <a:xfrm>
            <a:off x="658368" y="1892808"/>
            <a:ext cx="1810512" cy="274320"/>
          </a:xfrm>
          <a:prstGeom prst="rect">
            <a:avLst/>
          </a:prstGeom>
          <a:noFill/>
          <a:ln/>
        </p:spPr>
        <p:txBody>
          <a:bodyPr wrap="square" lIns="0" tIns="0" rIns="0" bIns="0" rtlCol="0" anchor="ctr"/>
          <a:lstStyle/>
          <a:p>
            <a:pPr algn="ctr" indent="0" marL="0">
              <a:buNone/>
            </a:pPr>
            <a:r>
              <a:rPr lang="en-US" sz="1250" b="1" dirty="0">
                <a:solidFill>
                  <a:srgbClr val="FFFFFF"/>
                </a:solidFill>
              </a:rPr>
              <a:t>Lexer</a:t>
            </a:r>
            <a:endParaRPr lang="en-US" sz="1250" dirty="0"/>
          </a:p>
        </p:txBody>
      </p:sp>
      <p:sp>
        <p:nvSpPr>
          <p:cNvPr id="6" name="p_lex_s"/>
          <p:cNvSpPr txBox="1"/>
          <p:nvPr/>
        </p:nvSpPr>
        <p:spPr>
          <a:xfrm>
            <a:off x="640080" y="2176272"/>
            <a:ext cx="1847088" cy="420624"/>
          </a:xfrm>
          <a:prstGeom prst="rect">
            <a:avLst/>
          </a:prstGeom>
          <a:noFill/>
          <a:ln/>
        </p:spPr>
        <p:txBody>
          <a:bodyPr wrap="square" lIns="0" tIns="0" rIns="0" bIns="0" rtlCol="0" anchor="ctr"/>
          <a:lstStyle/>
          <a:p>
            <a:pPr algn="ctr" indent="0" marL="0">
              <a:buNone/>
            </a:pPr>
            <a:r>
              <a:rPr lang="en-US" sz="950" dirty="0">
                <a:solidFill>
                  <a:srgbClr val="35C6A8"/>
                </a:solidFill>
                <a:latin typeface="Courier New" pitchFamily="34" charset="0"/>
                <a:ea typeface="Courier New" pitchFamily="34" charset="-122"/>
                <a:cs typeface="Courier New" pitchFamily="34" charset="-120"/>
              </a:rPr>
              <a:t>--tokens</a:t>
            </a:r>
            <a:endParaRPr lang="en-US" sz="950" dirty="0"/>
          </a:p>
        </p:txBody>
      </p:sp>
      <p:sp>
        <p:nvSpPr>
          <p:cNvPr id="7" name="p_lex_a"/>
          <p:cNvSpPr/>
          <p:nvPr/>
        </p:nvSpPr>
        <p:spPr>
          <a:xfrm>
            <a:off x="2610612" y="2144268"/>
            <a:ext cx="173736" cy="155448"/>
          </a:xfrm>
          <a:prstGeom prst="rightArrow">
            <a:avLst/>
          </a:prstGeom>
          <a:solidFill>
            <a:srgbClr val="35C6A8"/>
          </a:solidFill>
          <a:ln w="12700">
            <a:solidFill>
              <a:srgbClr val="333333"/>
            </a:solidFill>
            <a:prstDash val="solid"/>
          </a:ln>
        </p:spPr>
      </p:sp>
      <p:sp>
        <p:nvSpPr>
          <p:cNvPr id="8" name="p_par"/>
          <p:cNvSpPr/>
          <p:nvPr/>
        </p:nvSpPr>
        <p:spPr>
          <a:xfrm>
            <a:off x="2834640" y="1773936"/>
            <a:ext cx="1993392" cy="896112"/>
          </a:xfrm>
          <a:prstGeom prst="roundRect">
            <a:avLst>
              <a:gd name="adj" fmla="val 8163"/>
            </a:avLst>
          </a:prstGeom>
          <a:solidFill>
            <a:srgbClr val="16233A"/>
          </a:solidFill>
          <a:ln w="22225">
            <a:solidFill>
              <a:srgbClr val="35C6A8"/>
            </a:solidFill>
            <a:prstDash val="solid"/>
          </a:ln>
        </p:spPr>
      </p:sp>
      <p:sp>
        <p:nvSpPr>
          <p:cNvPr id="9" name="p_par_t"/>
          <p:cNvSpPr txBox="1"/>
          <p:nvPr/>
        </p:nvSpPr>
        <p:spPr>
          <a:xfrm>
            <a:off x="2926080" y="1892808"/>
            <a:ext cx="1810512" cy="274320"/>
          </a:xfrm>
          <a:prstGeom prst="rect">
            <a:avLst/>
          </a:prstGeom>
          <a:noFill/>
          <a:ln/>
        </p:spPr>
        <p:txBody>
          <a:bodyPr wrap="square" lIns="0" tIns="0" rIns="0" bIns="0" rtlCol="0" anchor="ctr"/>
          <a:lstStyle/>
          <a:p>
            <a:pPr algn="ctr" indent="0" marL="0">
              <a:buNone/>
            </a:pPr>
            <a:r>
              <a:rPr lang="en-US" sz="1250" b="1" dirty="0">
                <a:solidFill>
                  <a:srgbClr val="FFFFFF"/>
                </a:solidFill>
              </a:rPr>
              <a:t>Parser</a:t>
            </a:r>
            <a:endParaRPr lang="en-US" sz="1250" dirty="0"/>
          </a:p>
        </p:txBody>
      </p:sp>
      <p:sp>
        <p:nvSpPr>
          <p:cNvPr id="10" name="p_par_s"/>
          <p:cNvSpPr txBox="1"/>
          <p:nvPr/>
        </p:nvSpPr>
        <p:spPr>
          <a:xfrm>
            <a:off x="2907792" y="2176272"/>
            <a:ext cx="1847088" cy="420624"/>
          </a:xfrm>
          <a:prstGeom prst="rect">
            <a:avLst/>
          </a:prstGeom>
          <a:noFill/>
          <a:ln/>
        </p:spPr>
        <p:txBody>
          <a:bodyPr wrap="square" lIns="0" tIns="0" rIns="0" bIns="0" rtlCol="0" anchor="ctr"/>
          <a:lstStyle/>
          <a:p>
            <a:pPr algn="ctr" indent="0" marL="0">
              <a:buNone/>
            </a:pPr>
            <a:r>
              <a:rPr lang="en-US" sz="950" dirty="0">
                <a:solidFill>
                  <a:srgbClr val="35C6A8"/>
                </a:solidFill>
                <a:latin typeface="Courier New" pitchFamily="34" charset="0"/>
                <a:ea typeface="Courier New" pitchFamily="34" charset="-122"/>
                <a:cs typeface="Courier New" pitchFamily="34" charset="-120"/>
              </a:rPr>
              <a:t>--ast</a:t>
            </a:r>
            <a:endParaRPr lang="en-US" sz="950" dirty="0"/>
          </a:p>
        </p:txBody>
      </p:sp>
      <p:sp>
        <p:nvSpPr>
          <p:cNvPr id="11" name="p_par_a"/>
          <p:cNvSpPr/>
          <p:nvPr/>
        </p:nvSpPr>
        <p:spPr>
          <a:xfrm>
            <a:off x="4878324" y="2144268"/>
            <a:ext cx="173736" cy="155448"/>
          </a:xfrm>
          <a:prstGeom prst="rightArrow">
            <a:avLst/>
          </a:prstGeom>
          <a:solidFill>
            <a:srgbClr val="35C6A8"/>
          </a:solidFill>
          <a:ln w="12700">
            <a:solidFill>
              <a:srgbClr val="333333"/>
            </a:solidFill>
            <a:prstDash val="solid"/>
          </a:ln>
        </p:spPr>
      </p:sp>
      <p:sp>
        <p:nvSpPr>
          <p:cNvPr id="12" name="p_sem"/>
          <p:cNvSpPr/>
          <p:nvPr/>
        </p:nvSpPr>
        <p:spPr>
          <a:xfrm>
            <a:off x="5102352" y="1773936"/>
            <a:ext cx="1993392" cy="896112"/>
          </a:xfrm>
          <a:prstGeom prst="roundRect">
            <a:avLst>
              <a:gd name="adj" fmla="val 8163"/>
            </a:avLst>
          </a:prstGeom>
          <a:solidFill>
            <a:srgbClr val="16233A"/>
          </a:solidFill>
          <a:ln w="22225">
            <a:solidFill>
              <a:srgbClr val="35C6A8"/>
            </a:solidFill>
            <a:prstDash val="solid"/>
          </a:ln>
        </p:spPr>
      </p:sp>
      <p:sp>
        <p:nvSpPr>
          <p:cNvPr id="13" name="p_sem_t"/>
          <p:cNvSpPr txBox="1"/>
          <p:nvPr/>
        </p:nvSpPr>
        <p:spPr>
          <a:xfrm>
            <a:off x="5193792" y="1892808"/>
            <a:ext cx="1810512" cy="274320"/>
          </a:xfrm>
          <a:prstGeom prst="rect">
            <a:avLst/>
          </a:prstGeom>
          <a:noFill/>
          <a:ln/>
        </p:spPr>
        <p:txBody>
          <a:bodyPr wrap="square" lIns="0" tIns="0" rIns="0" bIns="0" rtlCol="0" anchor="ctr"/>
          <a:lstStyle/>
          <a:p>
            <a:pPr algn="ctr" indent="0" marL="0">
              <a:buNone/>
            </a:pPr>
            <a:r>
              <a:rPr lang="en-US" sz="1250" b="1" dirty="0">
                <a:solidFill>
                  <a:srgbClr val="FFFFFF"/>
                </a:solidFill>
              </a:rPr>
              <a:t>Semantic</a:t>
            </a:r>
            <a:endParaRPr lang="en-US" sz="1250" dirty="0"/>
          </a:p>
        </p:txBody>
      </p:sp>
      <p:sp>
        <p:nvSpPr>
          <p:cNvPr id="14" name="p_sem_s"/>
          <p:cNvSpPr txBox="1"/>
          <p:nvPr/>
        </p:nvSpPr>
        <p:spPr>
          <a:xfrm>
            <a:off x="5175504" y="2176272"/>
            <a:ext cx="1847088" cy="420624"/>
          </a:xfrm>
          <a:prstGeom prst="rect">
            <a:avLst/>
          </a:prstGeom>
          <a:noFill/>
          <a:ln/>
        </p:spPr>
        <p:txBody>
          <a:bodyPr wrap="square" lIns="0" tIns="0" rIns="0" bIns="0" rtlCol="0" anchor="ctr"/>
          <a:lstStyle/>
          <a:p>
            <a:pPr algn="ctr" indent="0" marL="0">
              <a:buNone/>
            </a:pPr>
            <a:r>
              <a:rPr lang="en-US" sz="950" dirty="0">
                <a:solidFill>
                  <a:srgbClr val="35C6A8"/>
                </a:solidFill>
                <a:latin typeface="Courier New" pitchFamily="34" charset="0"/>
                <a:ea typeface="Courier New" pitchFamily="34" charset="-122"/>
                <a:cs typeface="Courier New" pitchFamily="34" charset="-120"/>
              </a:rPr>
              <a:t>--symbols</a:t>
            </a:r>
            <a:endParaRPr lang="en-US" sz="950" dirty="0"/>
          </a:p>
        </p:txBody>
      </p:sp>
      <p:sp>
        <p:nvSpPr>
          <p:cNvPr id="15" name="p_sem_a"/>
          <p:cNvSpPr/>
          <p:nvPr/>
        </p:nvSpPr>
        <p:spPr>
          <a:xfrm>
            <a:off x="7146036" y="2144268"/>
            <a:ext cx="173736" cy="155448"/>
          </a:xfrm>
          <a:prstGeom prst="rightArrow">
            <a:avLst/>
          </a:prstGeom>
          <a:solidFill>
            <a:srgbClr val="35C6A8"/>
          </a:solidFill>
          <a:ln w="12700">
            <a:solidFill>
              <a:srgbClr val="333333"/>
            </a:solidFill>
            <a:prstDash val="solid"/>
          </a:ln>
        </p:spPr>
      </p:sp>
      <p:sp>
        <p:nvSpPr>
          <p:cNvPr id="16" name="p_ir"/>
          <p:cNvSpPr/>
          <p:nvPr/>
        </p:nvSpPr>
        <p:spPr>
          <a:xfrm>
            <a:off x="7370064" y="1773936"/>
            <a:ext cx="1993392" cy="896112"/>
          </a:xfrm>
          <a:prstGeom prst="roundRect">
            <a:avLst>
              <a:gd name="adj" fmla="val 8163"/>
            </a:avLst>
          </a:prstGeom>
          <a:solidFill>
            <a:srgbClr val="16233A"/>
          </a:solidFill>
          <a:ln w="22225">
            <a:solidFill>
              <a:srgbClr val="35C6A8"/>
            </a:solidFill>
            <a:prstDash val="solid"/>
          </a:ln>
        </p:spPr>
      </p:sp>
      <p:sp>
        <p:nvSpPr>
          <p:cNvPr id="17" name="p_ir_t"/>
          <p:cNvSpPr txBox="1"/>
          <p:nvPr/>
        </p:nvSpPr>
        <p:spPr>
          <a:xfrm>
            <a:off x="7461504" y="1892808"/>
            <a:ext cx="1810512" cy="274320"/>
          </a:xfrm>
          <a:prstGeom prst="rect">
            <a:avLst/>
          </a:prstGeom>
          <a:noFill/>
          <a:ln/>
        </p:spPr>
        <p:txBody>
          <a:bodyPr wrap="square" lIns="0" tIns="0" rIns="0" bIns="0" rtlCol="0" anchor="ctr"/>
          <a:lstStyle/>
          <a:p>
            <a:pPr algn="ctr" indent="0" marL="0">
              <a:buNone/>
            </a:pPr>
            <a:r>
              <a:rPr lang="en-US" sz="1250" b="1" dirty="0">
                <a:solidFill>
                  <a:srgbClr val="FFFFFF"/>
                </a:solidFill>
              </a:rPr>
              <a:t>Three-address</a:t>
            </a:r>
            <a:endParaRPr lang="en-US" sz="1250" dirty="0"/>
          </a:p>
        </p:txBody>
      </p:sp>
      <p:sp>
        <p:nvSpPr>
          <p:cNvPr id="18" name="p_ir_s"/>
          <p:cNvSpPr txBox="1"/>
          <p:nvPr/>
        </p:nvSpPr>
        <p:spPr>
          <a:xfrm>
            <a:off x="7443216" y="2176272"/>
            <a:ext cx="1847088" cy="420624"/>
          </a:xfrm>
          <a:prstGeom prst="rect">
            <a:avLst/>
          </a:prstGeom>
          <a:noFill/>
          <a:ln/>
        </p:spPr>
        <p:txBody>
          <a:bodyPr wrap="square" lIns="0" tIns="0" rIns="0" bIns="0" rtlCol="0" anchor="ctr"/>
          <a:lstStyle/>
          <a:p>
            <a:pPr algn="ctr" indent="0" marL="0">
              <a:buNone/>
            </a:pPr>
            <a:r>
              <a:rPr lang="en-US" sz="950" dirty="0">
                <a:solidFill>
                  <a:srgbClr val="35C6A8"/>
                </a:solidFill>
                <a:latin typeface="Courier New" pitchFamily="34" charset="0"/>
                <a:ea typeface="Courier New" pitchFamily="34" charset="-122"/>
                <a:cs typeface="Courier New" pitchFamily="34" charset="-120"/>
              </a:rPr>
              <a:t>--ir</a:t>
            </a:r>
            <a:endParaRPr lang="en-US" sz="950" dirty="0"/>
          </a:p>
        </p:txBody>
      </p:sp>
      <p:sp>
        <p:nvSpPr>
          <p:cNvPr id="19" name="p_ir_a"/>
          <p:cNvSpPr/>
          <p:nvPr/>
        </p:nvSpPr>
        <p:spPr>
          <a:xfrm>
            <a:off x="9413748" y="2144268"/>
            <a:ext cx="173736" cy="155448"/>
          </a:xfrm>
          <a:prstGeom prst="rightArrow">
            <a:avLst/>
          </a:prstGeom>
          <a:solidFill>
            <a:srgbClr val="35C6A8"/>
          </a:solidFill>
          <a:ln w="12700">
            <a:solidFill>
              <a:srgbClr val="333333"/>
            </a:solidFill>
            <a:prstDash val="solid"/>
          </a:ln>
        </p:spPr>
      </p:sp>
      <p:sp>
        <p:nvSpPr>
          <p:cNvPr id="20" name="p_cfg"/>
          <p:cNvSpPr/>
          <p:nvPr/>
        </p:nvSpPr>
        <p:spPr>
          <a:xfrm>
            <a:off x="9637776" y="1773936"/>
            <a:ext cx="1993392" cy="896112"/>
          </a:xfrm>
          <a:prstGeom prst="roundRect">
            <a:avLst>
              <a:gd name="adj" fmla="val 8163"/>
            </a:avLst>
          </a:prstGeom>
          <a:solidFill>
            <a:srgbClr val="16233A"/>
          </a:solidFill>
          <a:ln w="22225">
            <a:solidFill>
              <a:srgbClr val="35C6A8"/>
            </a:solidFill>
            <a:prstDash val="solid"/>
          </a:ln>
        </p:spPr>
      </p:sp>
      <p:sp>
        <p:nvSpPr>
          <p:cNvPr id="21" name="p_cfg_t"/>
          <p:cNvSpPr txBox="1"/>
          <p:nvPr/>
        </p:nvSpPr>
        <p:spPr>
          <a:xfrm>
            <a:off x="9729216" y="1892808"/>
            <a:ext cx="1810512" cy="274320"/>
          </a:xfrm>
          <a:prstGeom prst="rect">
            <a:avLst/>
          </a:prstGeom>
          <a:noFill/>
          <a:ln/>
        </p:spPr>
        <p:txBody>
          <a:bodyPr wrap="square" lIns="0" tIns="0" rIns="0" bIns="0" rtlCol="0" anchor="ctr"/>
          <a:lstStyle/>
          <a:p>
            <a:pPr algn="ctr" indent="0" marL="0">
              <a:buNone/>
            </a:pPr>
            <a:r>
              <a:rPr lang="en-US" sz="1250" b="1" dirty="0">
                <a:solidFill>
                  <a:srgbClr val="FFFFFF"/>
                </a:solidFill>
              </a:rPr>
              <a:t>CFG</a:t>
            </a:r>
            <a:endParaRPr lang="en-US" sz="1250" dirty="0"/>
          </a:p>
        </p:txBody>
      </p:sp>
      <p:sp>
        <p:nvSpPr>
          <p:cNvPr id="22" name="p_cfg_s"/>
          <p:cNvSpPr txBox="1"/>
          <p:nvPr/>
        </p:nvSpPr>
        <p:spPr>
          <a:xfrm>
            <a:off x="9710928" y="2176272"/>
            <a:ext cx="1847088" cy="420624"/>
          </a:xfrm>
          <a:prstGeom prst="rect">
            <a:avLst/>
          </a:prstGeom>
          <a:noFill/>
          <a:ln/>
        </p:spPr>
        <p:txBody>
          <a:bodyPr wrap="square" lIns="0" tIns="0" rIns="0" bIns="0" rtlCol="0" anchor="ctr"/>
          <a:lstStyle/>
          <a:p>
            <a:pPr algn="ctr" indent="0" marL="0">
              <a:buNone/>
            </a:pPr>
            <a:r>
              <a:rPr lang="en-US" sz="950" dirty="0">
                <a:solidFill>
                  <a:srgbClr val="35C6A8"/>
                </a:solidFill>
                <a:latin typeface="Courier New" pitchFamily="34" charset="0"/>
                <a:ea typeface="Courier New" pitchFamily="34" charset="-122"/>
                <a:cs typeface="Courier New" pitchFamily="34" charset="-120"/>
              </a:rPr>
              <a:t>--cfg</a:t>
            </a:r>
            <a:endParaRPr lang="en-US" sz="950" dirty="0"/>
          </a:p>
        </p:txBody>
      </p:sp>
      <p:sp>
        <p:nvSpPr>
          <p:cNvPr id="23" name="p_opt"/>
          <p:cNvSpPr/>
          <p:nvPr/>
        </p:nvSpPr>
        <p:spPr>
          <a:xfrm>
            <a:off x="566928" y="3602736"/>
            <a:ext cx="1993392" cy="896112"/>
          </a:xfrm>
          <a:prstGeom prst="roundRect">
            <a:avLst>
              <a:gd name="adj" fmla="val 8163"/>
            </a:avLst>
          </a:prstGeom>
          <a:solidFill>
            <a:srgbClr val="16233A"/>
          </a:solidFill>
          <a:ln w="22225">
            <a:solidFill>
              <a:srgbClr val="35C6A8"/>
            </a:solidFill>
            <a:prstDash val="solid"/>
          </a:ln>
        </p:spPr>
      </p:sp>
      <p:sp>
        <p:nvSpPr>
          <p:cNvPr id="24" name="p_opt_t"/>
          <p:cNvSpPr txBox="1"/>
          <p:nvPr/>
        </p:nvSpPr>
        <p:spPr>
          <a:xfrm>
            <a:off x="658368" y="3721608"/>
            <a:ext cx="1810512" cy="274320"/>
          </a:xfrm>
          <a:prstGeom prst="rect">
            <a:avLst/>
          </a:prstGeom>
          <a:noFill/>
          <a:ln/>
        </p:spPr>
        <p:txBody>
          <a:bodyPr wrap="square" lIns="0" tIns="0" rIns="0" bIns="0" rtlCol="0" anchor="ctr"/>
          <a:lstStyle/>
          <a:p>
            <a:pPr algn="ctr" indent="0" marL="0">
              <a:buNone/>
            </a:pPr>
            <a:r>
              <a:rPr lang="en-US" sz="1250" b="1" dirty="0">
                <a:solidFill>
                  <a:srgbClr val="FFFFFF"/>
                </a:solidFill>
              </a:rPr>
              <a:t>Optimiser</a:t>
            </a:r>
            <a:endParaRPr lang="en-US" sz="1250" dirty="0"/>
          </a:p>
        </p:txBody>
      </p:sp>
      <p:sp>
        <p:nvSpPr>
          <p:cNvPr id="25" name="p_opt_s"/>
          <p:cNvSpPr txBox="1"/>
          <p:nvPr/>
        </p:nvSpPr>
        <p:spPr>
          <a:xfrm>
            <a:off x="640080" y="4005072"/>
            <a:ext cx="1847088" cy="420624"/>
          </a:xfrm>
          <a:prstGeom prst="rect">
            <a:avLst/>
          </a:prstGeom>
          <a:noFill/>
          <a:ln/>
        </p:spPr>
        <p:txBody>
          <a:bodyPr wrap="square" lIns="0" tIns="0" rIns="0" bIns="0" rtlCol="0" anchor="ctr"/>
          <a:lstStyle/>
          <a:p>
            <a:pPr algn="ctr" indent="0" marL="0">
              <a:buNone/>
            </a:pPr>
            <a:r>
              <a:rPr lang="en-US" sz="950" dirty="0">
                <a:solidFill>
                  <a:srgbClr val="35C6A8"/>
                </a:solidFill>
                <a:latin typeface="Courier New" pitchFamily="34" charset="0"/>
                <a:ea typeface="Courier New" pitchFamily="34" charset="-122"/>
                <a:cs typeface="Courier New" pitchFamily="34" charset="-120"/>
              </a:rPr>
              <a:t>--opt-ir</a:t>
            </a:r>
            <a:endParaRPr lang="en-US" sz="950" dirty="0"/>
          </a:p>
        </p:txBody>
      </p:sp>
      <p:sp>
        <p:nvSpPr>
          <p:cNvPr id="26" name="p_opt_a"/>
          <p:cNvSpPr/>
          <p:nvPr/>
        </p:nvSpPr>
        <p:spPr>
          <a:xfrm>
            <a:off x="2610612" y="3973068"/>
            <a:ext cx="173736" cy="155448"/>
          </a:xfrm>
          <a:prstGeom prst="rightArrow">
            <a:avLst/>
          </a:prstGeom>
          <a:solidFill>
            <a:srgbClr val="E8A33D"/>
          </a:solidFill>
          <a:ln w="12700">
            <a:solidFill>
              <a:srgbClr val="333333"/>
            </a:solidFill>
            <a:prstDash val="solid"/>
          </a:ln>
        </p:spPr>
      </p:sp>
      <p:sp>
        <p:nvSpPr>
          <p:cNvPr id="27" name="p_an"/>
          <p:cNvSpPr/>
          <p:nvPr/>
        </p:nvSpPr>
        <p:spPr>
          <a:xfrm>
            <a:off x="2834640" y="3602736"/>
            <a:ext cx="1993392" cy="896112"/>
          </a:xfrm>
          <a:prstGeom prst="roundRect">
            <a:avLst>
              <a:gd name="adj" fmla="val 8163"/>
            </a:avLst>
          </a:prstGeom>
          <a:solidFill>
            <a:srgbClr val="16233A"/>
          </a:solidFill>
          <a:ln w="22225">
            <a:solidFill>
              <a:srgbClr val="E8A33D"/>
            </a:solidFill>
            <a:prstDash val="solid"/>
          </a:ln>
        </p:spPr>
      </p:sp>
      <p:sp>
        <p:nvSpPr>
          <p:cNvPr id="28" name="p_an_t"/>
          <p:cNvSpPr txBox="1"/>
          <p:nvPr/>
        </p:nvSpPr>
        <p:spPr>
          <a:xfrm>
            <a:off x="2926080" y="3721608"/>
            <a:ext cx="1810512" cy="274320"/>
          </a:xfrm>
          <a:prstGeom prst="rect">
            <a:avLst/>
          </a:prstGeom>
          <a:noFill/>
          <a:ln/>
        </p:spPr>
        <p:txBody>
          <a:bodyPr wrap="square" lIns="0" tIns="0" rIns="0" bIns="0" rtlCol="0" anchor="ctr"/>
          <a:lstStyle/>
          <a:p>
            <a:pPr algn="ctr" indent="0" marL="0">
              <a:buNone/>
            </a:pPr>
            <a:r>
              <a:rPr lang="en-US" sz="1250" b="1" dirty="0">
                <a:solidFill>
                  <a:srgbClr val="FFFFFF"/>
                </a:solidFill>
              </a:rPr>
              <a:t>Domain checks</a:t>
            </a:r>
            <a:endParaRPr lang="en-US" sz="1250" dirty="0"/>
          </a:p>
        </p:txBody>
      </p:sp>
      <p:sp>
        <p:nvSpPr>
          <p:cNvPr id="29" name="p_an_s"/>
          <p:cNvSpPr txBox="1"/>
          <p:nvPr/>
        </p:nvSpPr>
        <p:spPr>
          <a:xfrm>
            <a:off x="2907792" y="4005072"/>
            <a:ext cx="1847088" cy="420624"/>
          </a:xfrm>
          <a:prstGeom prst="rect">
            <a:avLst/>
          </a:prstGeom>
          <a:noFill/>
          <a:ln/>
        </p:spPr>
        <p:txBody>
          <a:bodyPr wrap="square" lIns="0" tIns="0" rIns="0" bIns="0" rtlCol="0" anchor="ctr"/>
          <a:lstStyle/>
          <a:p>
            <a:pPr algn="ctr" indent="0" marL="0">
              <a:buNone/>
            </a:pPr>
            <a:r>
              <a:rPr lang="en-US" sz="950" dirty="0">
                <a:solidFill>
                  <a:srgbClr val="E8A33D"/>
                </a:solidFill>
                <a:latin typeface="Courier New" pitchFamily="34" charset="0"/>
                <a:ea typeface="Courier New" pitchFamily="34" charset="-122"/>
                <a:cs typeface="Courier New" pitchFamily="34" charset="-120"/>
              </a:rPr>
              <a:t>(diagnostics)</a:t>
            </a:r>
            <a:endParaRPr lang="en-US" sz="950" dirty="0"/>
          </a:p>
        </p:txBody>
      </p:sp>
      <p:sp>
        <p:nvSpPr>
          <p:cNvPr id="30" name="p_an_a"/>
          <p:cNvSpPr/>
          <p:nvPr/>
        </p:nvSpPr>
        <p:spPr>
          <a:xfrm>
            <a:off x="4878324" y="3973068"/>
            <a:ext cx="173736" cy="155448"/>
          </a:xfrm>
          <a:prstGeom prst="rightArrow">
            <a:avLst/>
          </a:prstGeom>
          <a:solidFill>
            <a:srgbClr val="35C6A8"/>
          </a:solidFill>
          <a:ln w="12700">
            <a:solidFill>
              <a:srgbClr val="333333"/>
            </a:solidFill>
            <a:prstDash val="solid"/>
          </a:ln>
        </p:spPr>
      </p:sp>
      <p:sp>
        <p:nvSpPr>
          <p:cNvPr id="31" name="p_cg"/>
          <p:cNvSpPr/>
          <p:nvPr/>
        </p:nvSpPr>
        <p:spPr>
          <a:xfrm>
            <a:off x="5102352" y="3602736"/>
            <a:ext cx="1993392" cy="896112"/>
          </a:xfrm>
          <a:prstGeom prst="roundRect">
            <a:avLst>
              <a:gd name="adj" fmla="val 8163"/>
            </a:avLst>
          </a:prstGeom>
          <a:solidFill>
            <a:srgbClr val="16233A"/>
          </a:solidFill>
          <a:ln w="22225">
            <a:solidFill>
              <a:srgbClr val="35C6A8"/>
            </a:solidFill>
            <a:prstDash val="solid"/>
          </a:ln>
        </p:spPr>
      </p:sp>
      <p:sp>
        <p:nvSpPr>
          <p:cNvPr id="32" name="p_cg_t"/>
          <p:cNvSpPr txBox="1"/>
          <p:nvPr/>
        </p:nvSpPr>
        <p:spPr>
          <a:xfrm>
            <a:off x="5193792" y="3721608"/>
            <a:ext cx="1810512" cy="274320"/>
          </a:xfrm>
          <a:prstGeom prst="rect">
            <a:avLst/>
          </a:prstGeom>
          <a:noFill/>
          <a:ln/>
        </p:spPr>
        <p:txBody>
          <a:bodyPr wrap="square" lIns="0" tIns="0" rIns="0" bIns="0" rtlCol="0" anchor="ctr"/>
          <a:lstStyle/>
          <a:p>
            <a:pPr algn="ctr" indent="0" marL="0">
              <a:buNone/>
            </a:pPr>
            <a:r>
              <a:rPr lang="en-US" sz="1250" b="1" dirty="0">
                <a:solidFill>
                  <a:srgbClr val="FFFFFF"/>
                </a:solidFill>
              </a:rPr>
              <a:t>Code gen</a:t>
            </a:r>
            <a:endParaRPr lang="en-US" sz="1250" dirty="0"/>
          </a:p>
        </p:txBody>
      </p:sp>
      <p:sp>
        <p:nvSpPr>
          <p:cNvPr id="33" name="p_cg_s"/>
          <p:cNvSpPr txBox="1"/>
          <p:nvPr/>
        </p:nvSpPr>
        <p:spPr>
          <a:xfrm>
            <a:off x="5175504" y="4005072"/>
            <a:ext cx="1847088" cy="420624"/>
          </a:xfrm>
          <a:prstGeom prst="rect">
            <a:avLst/>
          </a:prstGeom>
          <a:noFill/>
          <a:ln/>
        </p:spPr>
        <p:txBody>
          <a:bodyPr wrap="square" lIns="0" tIns="0" rIns="0" bIns="0" rtlCol="0" anchor="ctr"/>
          <a:lstStyle/>
          <a:p>
            <a:pPr algn="ctr" indent="0" marL="0">
              <a:buNone/>
            </a:pPr>
            <a:r>
              <a:rPr lang="en-US" sz="950" dirty="0">
                <a:solidFill>
                  <a:srgbClr val="35C6A8"/>
                </a:solidFill>
                <a:latin typeface="Courier New" pitchFamily="34" charset="0"/>
                <a:ea typeface="Courier New" pitchFamily="34" charset="-122"/>
                <a:cs typeface="Courier New" pitchFamily="34" charset="-120"/>
              </a:rPr>
              <a:t>--bc</a:t>
            </a:r>
            <a:endParaRPr lang="en-US" sz="950" dirty="0"/>
          </a:p>
        </p:txBody>
      </p:sp>
      <p:sp>
        <p:nvSpPr>
          <p:cNvPr id="34" name="p_cg_a"/>
          <p:cNvSpPr/>
          <p:nvPr/>
        </p:nvSpPr>
        <p:spPr>
          <a:xfrm>
            <a:off x="7146036" y="3973068"/>
            <a:ext cx="173736" cy="155448"/>
          </a:xfrm>
          <a:prstGeom prst="rightArrow">
            <a:avLst/>
          </a:prstGeom>
          <a:solidFill>
            <a:srgbClr val="35C6A8"/>
          </a:solidFill>
          <a:ln w="12700">
            <a:solidFill>
              <a:srgbClr val="333333"/>
            </a:solidFill>
            <a:prstDash val="solid"/>
          </a:ln>
        </p:spPr>
      </p:sp>
      <p:sp>
        <p:nvSpPr>
          <p:cNvPr id="35" name="p_vm"/>
          <p:cNvSpPr/>
          <p:nvPr/>
        </p:nvSpPr>
        <p:spPr>
          <a:xfrm>
            <a:off x="7370064" y="3602736"/>
            <a:ext cx="1993392" cy="896112"/>
          </a:xfrm>
          <a:prstGeom prst="roundRect">
            <a:avLst>
              <a:gd name="adj" fmla="val 8163"/>
            </a:avLst>
          </a:prstGeom>
          <a:solidFill>
            <a:srgbClr val="16233A"/>
          </a:solidFill>
          <a:ln w="22225">
            <a:solidFill>
              <a:srgbClr val="35C6A8"/>
            </a:solidFill>
            <a:prstDash val="solid"/>
          </a:ln>
        </p:spPr>
      </p:sp>
      <p:sp>
        <p:nvSpPr>
          <p:cNvPr id="36" name="p_vm_t"/>
          <p:cNvSpPr txBox="1"/>
          <p:nvPr/>
        </p:nvSpPr>
        <p:spPr>
          <a:xfrm>
            <a:off x="7461504" y="3721608"/>
            <a:ext cx="1810512" cy="274320"/>
          </a:xfrm>
          <a:prstGeom prst="rect">
            <a:avLst/>
          </a:prstGeom>
          <a:noFill/>
          <a:ln/>
        </p:spPr>
        <p:txBody>
          <a:bodyPr wrap="square" lIns="0" tIns="0" rIns="0" bIns="0" rtlCol="0" anchor="ctr"/>
          <a:lstStyle/>
          <a:p>
            <a:pPr algn="ctr" indent="0" marL="0">
              <a:buNone/>
            </a:pPr>
            <a:r>
              <a:rPr lang="en-US" sz="1250" b="1" dirty="0">
                <a:solidFill>
                  <a:srgbClr val="FFFFFF"/>
                </a:solidFill>
              </a:rPr>
              <a:t>AeroVM</a:t>
            </a:r>
            <a:endParaRPr lang="en-US" sz="1250" dirty="0"/>
          </a:p>
        </p:txBody>
      </p:sp>
      <p:sp>
        <p:nvSpPr>
          <p:cNvPr id="37" name="p_vm_s"/>
          <p:cNvSpPr txBox="1"/>
          <p:nvPr/>
        </p:nvSpPr>
        <p:spPr>
          <a:xfrm>
            <a:off x="7443216" y="4005072"/>
            <a:ext cx="1847088" cy="420624"/>
          </a:xfrm>
          <a:prstGeom prst="rect">
            <a:avLst/>
          </a:prstGeom>
          <a:noFill/>
          <a:ln/>
        </p:spPr>
        <p:txBody>
          <a:bodyPr wrap="square" lIns="0" tIns="0" rIns="0" bIns="0" rtlCol="0" anchor="ctr"/>
          <a:lstStyle/>
          <a:p>
            <a:pPr algn="ctr" indent="0" marL="0">
              <a:buNone/>
            </a:pPr>
            <a:r>
              <a:rPr lang="en-US" sz="950" dirty="0">
                <a:solidFill>
                  <a:srgbClr val="35C6A8"/>
                </a:solidFill>
                <a:latin typeface="Courier New" pitchFamily="34" charset="0"/>
                <a:ea typeface="Courier New" pitchFamily="34" charset="-122"/>
                <a:cs typeface="Courier New" pitchFamily="34" charset="-120"/>
              </a:rPr>
              <a:t>--trace</a:t>
            </a:r>
            <a:endParaRPr lang="en-US" sz="950" dirty="0"/>
          </a:p>
        </p:txBody>
      </p:sp>
      <p:sp>
        <p:nvSpPr>
          <p:cNvPr id="38" name="p_vm_a"/>
          <p:cNvSpPr/>
          <p:nvPr/>
        </p:nvSpPr>
        <p:spPr>
          <a:xfrm>
            <a:off x="9413748" y="3973068"/>
            <a:ext cx="173736" cy="155448"/>
          </a:xfrm>
          <a:prstGeom prst="rightArrow">
            <a:avLst/>
          </a:prstGeom>
          <a:solidFill>
            <a:srgbClr val="35C6A8"/>
          </a:solidFill>
          <a:ln w="12700">
            <a:solidFill>
              <a:srgbClr val="333333"/>
            </a:solidFill>
            <a:prstDash val="solid"/>
          </a:ln>
        </p:spPr>
      </p:sp>
      <p:sp>
        <p:nvSpPr>
          <p:cNvPr id="39" name="p_scn"/>
          <p:cNvSpPr/>
          <p:nvPr/>
        </p:nvSpPr>
        <p:spPr>
          <a:xfrm>
            <a:off x="9637776" y="3602736"/>
            <a:ext cx="1993392" cy="896112"/>
          </a:xfrm>
          <a:prstGeom prst="roundRect">
            <a:avLst>
              <a:gd name="adj" fmla="val 8163"/>
            </a:avLst>
          </a:prstGeom>
          <a:solidFill>
            <a:srgbClr val="16233A"/>
          </a:solidFill>
          <a:ln w="22225">
            <a:solidFill>
              <a:srgbClr val="35C6A8"/>
            </a:solidFill>
            <a:prstDash val="solid"/>
          </a:ln>
        </p:spPr>
      </p:sp>
      <p:sp>
        <p:nvSpPr>
          <p:cNvPr id="40" name="p_scn_t"/>
          <p:cNvSpPr txBox="1"/>
          <p:nvPr/>
        </p:nvSpPr>
        <p:spPr>
          <a:xfrm>
            <a:off x="9729216" y="3721608"/>
            <a:ext cx="1810512" cy="274320"/>
          </a:xfrm>
          <a:prstGeom prst="rect">
            <a:avLst/>
          </a:prstGeom>
          <a:noFill/>
          <a:ln/>
        </p:spPr>
        <p:txBody>
          <a:bodyPr wrap="square" lIns="0" tIns="0" rIns="0" bIns="0" rtlCol="0" anchor="ctr"/>
          <a:lstStyle/>
          <a:p>
            <a:pPr algn="ctr" indent="0" marL="0">
              <a:buNone/>
            </a:pPr>
            <a:r>
              <a:rPr lang="en-US" sz="1250" b="1" dirty="0">
                <a:solidFill>
                  <a:srgbClr val="FFFFFF"/>
                </a:solidFill>
              </a:rPr>
              <a:t>Scenario file</a:t>
            </a:r>
            <a:endParaRPr lang="en-US" sz="1250" dirty="0"/>
          </a:p>
        </p:txBody>
      </p:sp>
      <p:sp>
        <p:nvSpPr>
          <p:cNvPr id="41" name="p_scn_s"/>
          <p:cNvSpPr txBox="1"/>
          <p:nvPr/>
        </p:nvSpPr>
        <p:spPr>
          <a:xfrm>
            <a:off x="9710928" y="4005072"/>
            <a:ext cx="1847088" cy="420624"/>
          </a:xfrm>
          <a:prstGeom prst="rect">
            <a:avLst/>
          </a:prstGeom>
          <a:noFill/>
          <a:ln/>
        </p:spPr>
        <p:txBody>
          <a:bodyPr wrap="square" lIns="0" tIns="0" rIns="0" bIns="0" rtlCol="0" anchor="ctr"/>
          <a:lstStyle/>
          <a:p>
            <a:pPr algn="ctr" indent="0" marL="0">
              <a:buNone/>
            </a:pPr>
            <a:r>
              <a:rPr lang="en-US" sz="950" dirty="0">
                <a:solidFill>
                  <a:srgbClr val="35C6A8"/>
                </a:solidFill>
                <a:latin typeface="Courier New" pitchFamily="34" charset="0"/>
                <a:ea typeface="Courier New" pitchFamily="34" charset="-122"/>
                <a:cs typeface="Courier New" pitchFamily="34" charset="-120"/>
              </a:rPr>
              <a:t>--scn</a:t>
            </a:r>
            <a:endParaRPr lang="en-US" sz="950" dirty="0"/>
          </a:p>
        </p:txBody>
      </p:sp>
      <p:sp>
        <p:nvSpPr>
          <p:cNvPr id="42" name="elbow1"/>
          <p:cNvSpPr/>
          <p:nvPr/>
        </p:nvSpPr>
        <p:spPr>
          <a:xfrm>
            <a:off x="10634472" y="2670048"/>
            <a:ext cx="0" cy="475488"/>
          </a:xfrm>
          <a:prstGeom prst="line">
            <a:avLst/>
          </a:prstGeom>
          <a:noFill/>
          <a:ln w="20320">
            <a:solidFill>
              <a:srgbClr val="35C6A8"/>
            </a:solidFill>
            <a:prstDash val="solid"/>
          </a:ln>
        </p:spPr>
      </p:sp>
      <p:sp>
        <p:nvSpPr>
          <p:cNvPr id="43" name="elbow2"/>
          <p:cNvSpPr/>
          <p:nvPr/>
        </p:nvSpPr>
        <p:spPr>
          <a:xfrm>
            <a:off x="1389888" y="3145536"/>
            <a:ext cx="9244584" cy="0"/>
          </a:xfrm>
          <a:prstGeom prst="line">
            <a:avLst/>
          </a:prstGeom>
          <a:noFill/>
          <a:ln w="20320">
            <a:solidFill>
              <a:srgbClr val="35C6A8"/>
            </a:solidFill>
            <a:prstDash val="solid"/>
          </a:ln>
        </p:spPr>
      </p:sp>
      <p:sp>
        <p:nvSpPr>
          <p:cNvPr id="44" name="elbow3"/>
          <p:cNvSpPr/>
          <p:nvPr/>
        </p:nvSpPr>
        <p:spPr>
          <a:xfrm>
            <a:off x="1389888" y="3145536"/>
            <a:ext cx="0" cy="457200"/>
          </a:xfrm>
          <a:prstGeom prst="line">
            <a:avLst/>
          </a:prstGeom>
          <a:noFill/>
          <a:ln w="20320">
            <a:solidFill>
              <a:srgbClr val="35C6A8"/>
            </a:solidFill>
            <a:prstDash val="solid"/>
            <a:tailEnd type="triangle"/>
          </a:ln>
        </p:spPr>
      </p:sp>
      <p:sp>
        <p:nvSpPr>
          <p:cNvPr id="45" name="depth"/>
          <p:cNvSpPr/>
          <p:nvPr/>
        </p:nvSpPr>
        <p:spPr>
          <a:xfrm>
            <a:off x="566928" y="4846320"/>
            <a:ext cx="11057839" cy="1060704"/>
          </a:xfrm>
          <a:prstGeom prst="roundRect">
            <a:avLst>
              <a:gd name="adj" fmla="val 6034"/>
            </a:avLst>
          </a:prstGeom>
          <a:solidFill>
            <a:srgbClr val="16233A"/>
          </a:solidFill>
          <a:ln w="12700">
            <a:solidFill>
              <a:srgbClr val="22344F"/>
            </a:solidFill>
            <a:prstDash val="solid"/>
          </a:ln>
        </p:spPr>
      </p:sp>
      <p:sp>
        <p:nvSpPr>
          <p:cNvPr id="46" name="depth_h"/>
          <p:cNvSpPr txBox="1"/>
          <p:nvPr/>
        </p:nvSpPr>
        <p:spPr>
          <a:xfrm>
            <a:off x="749808" y="4992624"/>
            <a:ext cx="10692079" cy="274320"/>
          </a:xfrm>
          <a:prstGeom prst="rect">
            <a:avLst/>
          </a:prstGeom>
          <a:noFill/>
          <a:ln/>
        </p:spPr>
        <p:txBody>
          <a:bodyPr wrap="square" lIns="0" tIns="0" rIns="0" bIns="0" rtlCol="0" anchor="ctr"/>
          <a:lstStyle/>
          <a:p>
            <a:pPr indent="0" marL="0">
              <a:buNone/>
            </a:pPr>
            <a:r>
              <a:rPr lang="en-US" sz="1300" b="1" dirty="0">
                <a:solidFill>
                  <a:srgbClr val="7FA3DB"/>
                </a:solidFill>
              </a:rPr>
              <a:t>Also implemented, and available if you want the depth</a:t>
            </a:r>
            <a:endParaRPr lang="en-US" sz="1300" dirty="0"/>
          </a:p>
        </p:txBody>
      </p:sp>
      <p:sp>
        <p:nvSpPr>
          <p:cNvPr id="47" name="depth_b"/>
          <p:cNvSpPr txBox="1"/>
          <p:nvPr/>
        </p:nvSpPr>
        <p:spPr>
          <a:xfrm>
            <a:off x="749808" y="5321808"/>
            <a:ext cx="10692079" cy="438912"/>
          </a:xfrm>
          <a:prstGeom prst="rect">
            <a:avLst/>
          </a:prstGeom>
          <a:noFill/>
          <a:ln/>
        </p:spPr>
        <p:txBody>
          <a:bodyPr wrap="square" lIns="0" tIns="0" rIns="0" bIns="0" rtlCol="0" anchor="t"/>
          <a:lstStyle/>
          <a:p>
            <a:pPr indent="0" marL="0">
              <a:lnSpc>
                <a:spcPts val="1530"/>
              </a:lnSpc>
              <a:buNone/>
            </a:pPr>
            <a:r>
              <a:rPr lang="en-US" sz="1150" dirty="0">
                <a:solidFill>
                  <a:srgbClr val="DCE6F2"/>
                </a:solidFill>
              </a:rPr>
              <a:t>Dominators and natural loops · liveness and constant-propagation dataflow · static single assignment with pruned phi placement (--ssa) · next-use register allocation over 16 registers with spilling. None of these is needed to tell the story; all of them are real, tested and printable.</a:t>
            </a:r>
            <a:endParaRPr lang="en-US" sz="115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5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5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500"/>
                                        <p:tgtEl>
                                          <p:spTgt spid="44"/>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500"/>
                                        <p:tgtEl>
                                          <p:spTgt spid="2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500"/>
                                        <p:tgtEl>
                                          <p:spTgt spid="2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500"/>
                                        <p:tgtEl>
                                          <p:spTgt spid="25"/>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500"/>
                                        <p:tgtEl>
                                          <p:spTgt spid="26"/>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7"/>
                                        </p:tgtEl>
                                        <p:attrNameLst>
                                          <p:attrName>style.visibility</p:attrName>
                                        </p:attrNameLst>
                                      </p:cBhvr>
                                      <p:to>
                                        <p:strVal val="visible"/>
                                      </p:to>
                                    </p:set>
                                    <p:animEffect transition="in" filter="fade">
                                      <p:cBhvr>
                                        <p:cTn id="97" dur="500"/>
                                        <p:tgtEl>
                                          <p:spTgt spid="27"/>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8"/>
                                        </p:tgtEl>
                                        <p:attrNameLst>
                                          <p:attrName>style.visibility</p:attrName>
                                        </p:attrNameLst>
                                      </p:cBhvr>
                                      <p:to>
                                        <p:strVal val="visible"/>
                                      </p:to>
                                    </p:set>
                                    <p:animEffect transition="in" filter="fade">
                                      <p:cBhvr>
                                        <p:cTn id="100" dur="500"/>
                                        <p:tgtEl>
                                          <p:spTgt spid="2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30"/>
                                        </p:tgtEl>
                                        <p:attrNameLst>
                                          <p:attrName>style.visibility</p:attrName>
                                        </p:attrNameLst>
                                      </p:cBhvr>
                                      <p:to>
                                        <p:strVal val="visible"/>
                                      </p:to>
                                    </p:set>
                                    <p:animEffect transition="in" filter="fade">
                                      <p:cBhvr>
                                        <p:cTn id="108" dur="500"/>
                                        <p:tgtEl>
                                          <p:spTgt spid="30"/>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1"/>
                                        </p:tgtEl>
                                        <p:attrNameLst>
                                          <p:attrName>style.visibility</p:attrName>
                                        </p:attrNameLst>
                                      </p:cBhvr>
                                      <p:to>
                                        <p:strVal val="visible"/>
                                      </p:to>
                                    </p:set>
                                    <p:animEffect transition="in" filter="fade">
                                      <p:cBhvr>
                                        <p:cTn id="111" dur="500"/>
                                        <p:tgtEl>
                                          <p:spTgt spid="3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2"/>
                                        </p:tgtEl>
                                        <p:attrNameLst>
                                          <p:attrName>style.visibility</p:attrName>
                                        </p:attrNameLst>
                                      </p:cBhvr>
                                      <p:to>
                                        <p:strVal val="visible"/>
                                      </p:to>
                                    </p:set>
                                    <p:animEffect transition="in" filter="fade">
                                      <p:cBhvr>
                                        <p:cTn id="114" dur="500"/>
                                        <p:tgtEl>
                                          <p:spTgt spid="32"/>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3"/>
                                        </p:tgtEl>
                                        <p:attrNameLst>
                                          <p:attrName>style.visibility</p:attrName>
                                        </p:attrNameLst>
                                      </p:cBhvr>
                                      <p:to>
                                        <p:strVal val="visible"/>
                                      </p:to>
                                    </p:set>
                                    <p:animEffect transition="in" filter="fade">
                                      <p:cBhvr>
                                        <p:cTn id="117" dur="500"/>
                                        <p:tgtEl>
                                          <p:spTgt spid="33"/>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34"/>
                                        </p:tgtEl>
                                        <p:attrNameLst>
                                          <p:attrName>style.visibility</p:attrName>
                                        </p:attrNameLst>
                                      </p:cBhvr>
                                      <p:to>
                                        <p:strVal val="visible"/>
                                      </p:to>
                                    </p:set>
                                    <p:animEffect transition="in" filter="fade">
                                      <p:cBhvr>
                                        <p:cTn id="122" dur="500"/>
                                        <p:tgtEl>
                                          <p:spTgt spid="3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35"/>
                                        </p:tgtEl>
                                        <p:attrNameLst>
                                          <p:attrName>style.visibility</p:attrName>
                                        </p:attrNameLst>
                                      </p:cBhvr>
                                      <p:to>
                                        <p:strVal val="visible"/>
                                      </p:to>
                                    </p:set>
                                    <p:animEffect transition="in" filter="fade">
                                      <p:cBhvr>
                                        <p:cTn id="125" dur="500"/>
                                        <p:tgtEl>
                                          <p:spTgt spid="3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36"/>
                                        </p:tgtEl>
                                        <p:attrNameLst>
                                          <p:attrName>style.visibility</p:attrName>
                                        </p:attrNameLst>
                                      </p:cBhvr>
                                      <p:to>
                                        <p:strVal val="visible"/>
                                      </p:to>
                                    </p:set>
                                    <p:animEffect transition="in" filter="fade">
                                      <p:cBhvr>
                                        <p:cTn id="128" dur="500"/>
                                        <p:tgtEl>
                                          <p:spTgt spid="3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37"/>
                                        </p:tgtEl>
                                        <p:attrNameLst>
                                          <p:attrName>style.visibility</p:attrName>
                                        </p:attrNameLst>
                                      </p:cBhvr>
                                      <p:to>
                                        <p:strVal val="visible"/>
                                      </p:to>
                                    </p:set>
                                    <p:animEffect transition="in" filter="fade">
                                      <p:cBhvr>
                                        <p:cTn id="131" dur="500"/>
                                        <p:tgtEl>
                                          <p:spTgt spid="37"/>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grpId="0" nodeType="clickEffect">
                                  <p:stCondLst>
                                    <p:cond delay="0"/>
                                  </p:stCondLst>
                                  <p:childTnLst>
                                    <p:set>
                                      <p:cBhvr>
                                        <p:cTn id="135" dur="1" fill="hold">
                                          <p:stCondLst>
                                            <p:cond delay="0"/>
                                          </p:stCondLst>
                                        </p:cTn>
                                        <p:tgtEl>
                                          <p:spTgt spid="38"/>
                                        </p:tgtEl>
                                        <p:attrNameLst>
                                          <p:attrName>style.visibility</p:attrName>
                                        </p:attrNameLst>
                                      </p:cBhvr>
                                      <p:to>
                                        <p:strVal val="visible"/>
                                      </p:to>
                                    </p:set>
                                    <p:animEffect transition="in" filter="fade">
                                      <p:cBhvr>
                                        <p:cTn id="136" dur="500"/>
                                        <p:tgtEl>
                                          <p:spTgt spid="38"/>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39"/>
                                        </p:tgtEl>
                                        <p:attrNameLst>
                                          <p:attrName>style.visibility</p:attrName>
                                        </p:attrNameLst>
                                      </p:cBhvr>
                                      <p:to>
                                        <p:strVal val="visible"/>
                                      </p:to>
                                    </p:set>
                                    <p:animEffect transition="in" filter="fade">
                                      <p:cBhvr>
                                        <p:cTn id="139" dur="500"/>
                                        <p:tgtEl>
                                          <p:spTgt spid="39"/>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0"/>
                                        </p:tgtEl>
                                        <p:attrNameLst>
                                          <p:attrName>style.visibility</p:attrName>
                                        </p:attrNameLst>
                                      </p:cBhvr>
                                      <p:to>
                                        <p:strVal val="visible"/>
                                      </p:to>
                                    </p:set>
                                    <p:animEffect transition="in" filter="fade">
                                      <p:cBhvr>
                                        <p:cTn id="142" dur="500"/>
                                        <p:tgtEl>
                                          <p:spTgt spid="40"/>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1"/>
                                        </p:tgtEl>
                                        <p:attrNameLst>
                                          <p:attrName>style.visibility</p:attrName>
                                        </p:attrNameLst>
                                      </p:cBhvr>
                                      <p:to>
                                        <p:strVal val="visible"/>
                                      </p:to>
                                    </p:set>
                                    <p:animEffect transition="in" filter="fade">
                                      <p:cBhvr>
                                        <p:cTn id="145" dur="500"/>
                                        <p:tgtEl>
                                          <p:spTgt spid="41"/>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grpId="0" nodeType="clickEffect">
                                  <p:stCondLst>
                                    <p:cond delay="0"/>
                                  </p:stCondLst>
                                  <p:childTnLst>
                                    <p:set>
                                      <p:cBhvr>
                                        <p:cTn id="149" dur="1" fill="hold">
                                          <p:stCondLst>
                                            <p:cond delay="0"/>
                                          </p:stCondLst>
                                        </p:cTn>
                                        <p:tgtEl>
                                          <p:spTgt spid="45"/>
                                        </p:tgtEl>
                                        <p:attrNameLst>
                                          <p:attrName>style.visibility</p:attrName>
                                        </p:attrNameLst>
                                      </p:cBhvr>
                                      <p:to>
                                        <p:strVal val="visible"/>
                                      </p:to>
                                    </p:set>
                                    <p:animEffect transition="in" filter="fade">
                                      <p:cBhvr>
                                        <p:cTn id="150" dur="500"/>
                                        <p:tgtEl>
                                          <p:spTgt spid="45"/>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46"/>
                                        </p:tgtEl>
                                        <p:attrNameLst>
                                          <p:attrName>style.visibility</p:attrName>
                                        </p:attrNameLst>
                                      </p:cBhvr>
                                      <p:to>
                                        <p:strVal val="visible"/>
                                      </p:to>
                                    </p:set>
                                    <p:animEffect transition="in" filter="fade">
                                      <p:cBhvr>
                                        <p:cTn id="153" dur="500"/>
                                        <p:tgtEl>
                                          <p:spTgt spid="46"/>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47"/>
                                        </p:tgtEl>
                                        <p:attrNameLst>
                                          <p:attrName>style.visibility</p:attrName>
                                        </p:attrNameLst>
                                      </p:cBhvr>
                                      <p:to>
                                        <p:strVal val="visible"/>
                                      </p:to>
                                    </p:set>
                                    <p:animEffect transition="in" filter="fade">
                                      <p:cBhvr>
                                        <p:cTn id="15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42" grpId="0"/>
      <p:bldP spid="43" grpId="0"/>
      <p:bldP spid="44"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5" grpId="0"/>
      <p:bldP spid="46" grpId="0"/>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One program, all the way through — part 1</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Every box on this slide and the next is real output from ./aerodsl, not an illustration</a:t>
            </a:r>
            <a:endParaRPr lang="en-US" sz="1500" dirty="0"/>
          </a:p>
        </p:txBody>
      </p:sp>
      <p:sp>
        <p:nvSpPr>
          <p:cNvPr id="4" name="w_src"/>
          <p:cNvSpPr/>
          <p:nvPr/>
        </p:nvSpPr>
        <p:spPr>
          <a:xfrm>
            <a:off x="566928" y="1572768"/>
            <a:ext cx="3472586" cy="3931920"/>
          </a:xfrm>
          <a:prstGeom prst="roundRect">
            <a:avLst>
              <a:gd name="adj" fmla="val 1580"/>
            </a:avLst>
          </a:prstGeom>
          <a:solidFill>
            <a:srgbClr val="16233A"/>
          </a:solidFill>
          <a:ln w="12700">
            <a:solidFill>
              <a:srgbClr val="22344F"/>
            </a:solidFill>
            <a:prstDash val="solid"/>
          </a:ln>
        </p:spPr>
      </p:sp>
      <p:sp>
        <p:nvSpPr>
          <p:cNvPr id="5" name="w_src_label"/>
          <p:cNvSpPr txBox="1"/>
          <p:nvPr/>
        </p:nvSpPr>
        <p:spPr>
          <a:xfrm>
            <a:off x="731520" y="1691640"/>
            <a:ext cx="3143402" cy="237744"/>
          </a:xfrm>
          <a:prstGeom prst="rect">
            <a:avLst/>
          </a:prstGeom>
          <a:noFill/>
          <a:ln/>
        </p:spPr>
        <p:txBody>
          <a:bodyPr wrap="square" lIns="0" tIns="0" rIns="0" bIns="0" rtlCol="0" anchor="ctr"/>
          <a:lstStyle/>
          <a:p>
            <a:pPr indent="0" marL="0">
              <a:buNone/>
            </a:pPr>
            <a:r>
              <a:rPr lang="en-US" sz="1050" b="1" spc="120" kern="0" dirty="0">
                <a:solidFill>
                  <a:srgbClr val="35C6A8"/>
                </a:solidFill>
              </a:rPr>
              <a:t>1 · SOURCE   examples/13_walkthrough.aero</a:t>
            </a:r>
            <a:endParaRPr lang="en-US" sz="1050" dirty="0"/>
          </a:p>
        </p:txBody>
      </p:sp>
      <p:sp>
        <p:nvSpPr>
          <p:cNvPr id="6" name="w_src_text"/>
          <p:cNvSpPr txBox="1"/>
          <p:nvPr/>
        </p:nvSpPr>
        <p:spPr>
          <a:xfrm>
            <a:off x="731520" y="2002536"/>
            <a:ext cx="3143402" cy="3392424"/>
          </a:xfrm>
          <a:prstGeom prst="rect">
            <a:avLst/>
          </a:prstGeom>
          <a:noFill/>
          <a:ln/>
        </p:spPr>
        <p:txBody>
          <a:bodyPr wrap="square" lIns="0" tIns="0" rIns="0" bIns="0" rtlCol="0" anchor="t"/>
          <a:lstStyle/>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scenario</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7FA3DB"/>
                </a:solidFill>
                <a:latin typeface="Courier New" pitchFamily="34" charset="0"/>
                <a:ea typeface="Courier New" pitchFamily="34" charset="-122"/>
                <a:cs typeface="Courier New" pitchFamily="34" charset="-120"/>
              </a:rPr>
              <a:t>"Climb to cruise"</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fix</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VOMAN</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12.95</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77.67</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flight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AI202</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type</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A320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enter</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VOMAN</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alt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FL240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hdg</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090</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spd</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280</a:t>
            </a:r>
            <a:r>
              <a:rPr lang="en-US" sz="1100" dirty="0">
                <a:solidFill>
                  <a:srgbClr val="E8A33D"/>
                </a:solidFill>
                <a:latin typeface="Courier New" pitchFamily="34" charset="0"/>
                <a:ea typeface="Courier New" pitchFamily="34" charset="-122"/>
                <a:cs typeface="Courier New" pitchFamily="34" charset="-120"/>
              </a:rPr>
              <a:t>KT</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let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DCE6F2"/>
                </a:solidFill>
                <a:latin typeface="Courier New" pitchFamily="34" charset="0"/>
                <a:ea typeface="Courier New" pitchFamily="34" charset="-122"/>
                <a:cs typeface="Courier New" pitchFamily="34" charset="-120"/>
              </a:rPr>
              <a:t>cruise</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FL320</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clear</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E8A33D"/>
                </a:solidFill>
                <a:latin typeface="Courier New" pitchFamily="34" charset="0"/>
                <a:ea typeface="Courier New" pitchFamily="34" charset="-122"/>
                <a:cs typeface="Courier New" pitchFamily="34" charset="-120"/>
              </a:rPr>
              <a:t>AI202</a:t>
            </a: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35C6A8"/>
                </a:solidFill>
                <a:latin typeface="Courier New" pitchFamily="34" charset="0"/>
                <a:ea typeface="Courier New" pitchFamily="34" charset="-122"/>
                <a:cs typeface="Courier New" pitchFamily="34" charset="-120"/>
              </a:rPr>
              <a:t>climb</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DCE6F2"/>
                </a:solidFill>
                <a:latin typeface="Courier New" pitchFamily="34" charset="0"/>
                <a:ea typeface="Courier New" pitchFamily="34" charset="-122"/>
                <a:cs typeface="Courier New" pitchFamily="34" charset="-120"/>
              </a:rPr>
              <a:t>cruise</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8D9CAF"/>
                </a:solidFill>
                <a:latin typeface="Courier New" pitchFamily="34" charset="0"/>
                <a:ea typeface="Courier New" pitchFamily="34" charset="-122"/>
                <a:cs typeface="Courier New" pitchFamily="34" charset="-120"/>
              </a:rPr>
              <a:t>-</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2000</a:t>
            </a:r>
            <a:endParaRPr lang="en-US" sz="1100" dirty="0"/>
          </a:p>
          <a:p>
            <a:pPr indent="0" marL="0">
              <a:lnSpc>
                <a:spcPts val="1452"/>
              </a:lnSpc>
              <a:buNone/>
            </a:pPr>
            <a:r>
              <a:rPr lang="en-US" sz="1100" b="1" dirty="0">
                <a:solidFill>
                  <a:srgbClr val="35C6A8"/>
                </a:solidFill>
                <a:latin typeface="Courier New" pitchFamily="34" charset="0"/>
                <a:ea typeface="Courier New" pitchFamily="34" charset="-122"/>
                <a:cs typeface="Courier New" pitchFamily="34" charset="-120"/>
              </a:rPr>
              <a:t>advance</a:t>
            </a:r>
            <a:r>
              <a:rPr lang="en-US" sz="1100" dirty="0">
                <a:solidFill>
                  <a:srgbClr val="DCE6F2"/>
                </a:solidFill>
                <a:latin typeface="Courier New" pitchFamily="34" charset="0"/>
                <a:ea typeface="Courier New" pitchFamily="34" charset="-122"/>
                <a:cs typeface="Courier New" pitchFamily="34" charset="-120"/>
              </a:rPr>
              <a:t> </a:t>
            </a:r>
            <a:r>
              <a:rPr lang="en-US" sz="1100" dirty="0">
                <a:solidFill>
                  <a:srgbClr val="FFFFFF"/>
                </a:solidFill>
                <a:latin typeface="Courier New" pitchFamily="34" charset="0"/>
                <a:ea typeface="Courier New" pitchFamily="34" charset="-122"/>
                <a:cs typeface="Courier New" pitchFamily="34" charset="-120"/>
              </a:rPr>
              <a:t>120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endParaRPr lang="en-US" sz="1100" dirty="0"/>
          </a:p>
        </p:txBody>
      </p:sp>
      <p:sp>
        <p:nvSpPr>
          <p:cNvPr id="7" name="w_tok"/>
          <p:cNvSpPr/>
          <p:nvPr/>
        </p:nvSpPr>
        <p:spPr>
          <a:xfrm>
            <a:off x="4359554" y="1572768"/>
            <a:ext cx="3472586" cy="3931920"/>
          </a:xfrm>
          <a:prstGeom prst="roundRect">
            <a:avLst>
              <a:gd name="adj" fmla="val 1580"/>
            </a:avLst>
          </a:prstGeom>
          <a:solidFill>
            <a:srgbClr val="16233A"/>
          </a:solidFill>
          <a:ln w="12700">
            <a:solidFill>
              <a:srgbClr val="22344F"/>
            </a:solidFill>
            <a:prstDash val="solid"/>
          </a:ln>
        </p:spPr>
      </p:sp>
      <p:sp>
        <p:nvSpPr>
          <p:cNvPr id="8" name="w_tok_label"/>
          <p:cNvSpPr txBox="1"/>
          <p:nvPr/>
        </p:nvSpPr>
        <p:spPr>
          <a:xfrm>
            <a:off x="4524146" y="1691640"/>
            <a:ext cx="3143402" cy="237744"/>
          </a:xfrm>
          <a:prstGeom prst="rect">
            <a:avLst/>
          </a:prstGeom>
          <a:noFill/>
          <a:ln/>
        </p:spPr>
        <p:txBody>
          <a:bodyPr wrap="square" lIns="0" tIns="0" rIns="0" bIns="0" rtlCol="0" anchor="ctr"/>
          <a:lstStyle/>
          <a:p>
            <a:pPr indent="0" marL="0">
              <a:buNone/>
            </a:pPr>
            <a:r>
              <a:rPr lang="en-US" sz="1050" b="1" spc="120" kern="0" dirty="0">
                <a:solidFill>
                  <a:srgbClr val="35C6A8"/>
                </a:solidFill>
              </a:rPr>
              <a:t>2 · TOKENS   --tokens   (11 OF 31)</a:t>
            </a:r>
            <a:endParaRPr lang="en-US" sz="1050" dirty="0"/>
          </a:p>
        </p:txBody>
      </p:sp>
      <p:sp>
        <p:nvSpPr>
          <p:cNvPr id="9" name="w_tok_text"/>
          <p:cNvSpPr txBox="1"/>
          <p:nvPr/>
        </p:nvSpPr>
        <p:spPr>
          <a:xfrm>
            <a:off x="4524146" y="2002536"/>
            <a:ext cx="3143402" cy="3392424"/>
          </a:xfrm>
          <a:prstGeom prst="rect">
            <a:avLst/>
          </a:prstGeom>
          <a:noFill/>
          <a:ln/>
        </p:spPr>
        <p:txBody>
          <a:bodyPr wrap="square" lIns="0" tIns="0" rIns="0" bIns="0" rtlCol="0" anchor="t"/>
          <a:lstStyle/>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3:5   </a:t>
            </a:r>
            <a:r>
              <a:rPr lang="en-US" sz="1050" b="1" dirty="0">
                <a:solidFill>
                  <a:srgbClr val="E8A33D"/>
                </a:solidFill>
                <a:latin typeface="Courier New" pitchFamily="34" charset="0"/>
                <a:ea typeface="Courier New" pitchFamily="34" charset="-122"/>
                <a:cs typeface="Courier New" pitchFamily="34" charset="-120"/>
              </a:rPr>
              <a:t>CALLSIGN</a:t>
            </a:r>
            <a:r>
              <a:rPr lang="en-US" sz="1050" dirty="0">
                <a:solidFill>
                  <a:srgbClr val="DCE6F2"/>
                </a:solidFill>
                <a:latin typeface="Courier New" pitchFamily="34" charset="0"/>
                <a:ea typeface="Courier New" pitchFamily="34" charset="-122"/>
                <a:cs typeface="Courier New" pitchFamily="34" charset="-120"/>
              </a:rPr>
              <a:t>  VOMAN</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3:11  NUMBER    12.95   value 12.95</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4:1   flight    flight</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4:8   </a:t>
            </a:r>
            <a:r>
              <a:rPr lang="en-US" sz="1050" b="1" dirty="0">
                <a:solidFill>
                  <a:srgbClr val="E8A33D"/>
                </a:solidFill>
                <a:latin typeface="Courier New" pitchFamily="34" charset="0"/>
                <a:ea typeface="Courier New" pitchFamily="34" charset="-122"/>
                <a:cs typeface="Courier New" pitchFamily="34" charset="-120"/>
              </a:rPr>
              <a:t>CALLSIGN</a:t>
            </a:r>
            <a:r>
              <a:rPr lang="en-US" sz="1050" dirty="0">
                <a:solidFill>
                  <a:srgbClr val="DCE6F2"/>
                </a:solidFill>
                <a:latin typeface="Courier New" pitchFamily="34" charset="0"/>
                <a:ea typeface="Courier New" pitchFamily="34" charset="-122"/>
                <a:cs typeface="Courier New" pitchFamily="34" charset="-120"/>
              </a:rPr>
              <a:t>  AI202</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4:19  </a:t>
            </a:r>
            <a:r>
              <a:rPr lang="en-US" sz="1050" b="1" dirty="0">
                <a:solidFill>
                  <a:srgbClr val="E8A33D"/>
                </a:solidFill>
                <a:latin typeface="Courier New" pitchFamily="34" charset="0"/>
                <a:ea typeface="Courier New" pitchFamily="34" charset="-122"/>
                <a:cs typeface="Courier New" pitchFamily="34" charset="-120"/>
              </a:rPr>
              <a:t>CALLSIGN</a:t>
            </a:r>
            <a:r>
              <a:rPr lang="en-US" sz="1050" dirty="0">
                <a:solidFill>
                  <a:srgbClr val="DCE6F2"/>
                </a:solidFill>
                <a:latin typeface="Courier New" pitchFamily="34" charset="0"/>
                <a:ea typeface="Courier New" pitchFamily="34" charset="-122"/>
                <a:cs typeface="Courier New" pitchFamily="34" charset="-120"/>
              </a:rPr>
              <a:t>  A320</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4:40  </a:t>
            </a:r>
            <a:r>
              <a:rPr lang="en-US" sz="1050" b="1" dirty="0">
                <a:solidFill>
                  <a:srgbClr val="E8A33D"/>
                </a:solidFill>
                <a:latin typeface="Courier New" pitchFamily="34" charset="0"/>
                <a:ea typeface="Courier New" pitchFamily="34" charset="-122"/>
                <a:cs typeface="Courier New" pitchFamily="34" charset="-120"/>
              </a:rPr>
              <a:t>FLEVEL</a:t>
            </a:r>
            <a:r>
              <a:rPr lang="en-US" sz="1050" dirty="0">
                <a:solidFill>
                  <a:srgbClr val="DCE6F2"/>
                </a:solidFill>
                <a:latin typeface="Courier New" pitchFamily="34" charset="0"/>
                <a:ea typeface="Courier New" pitchFamily="34" charset="-122"/>
                <a:cs typeface="Courier New" pitchFamily="34" charset="-120"/>
              </a:rPr>
              <a:t>    FL240   value </a:t>
            </a:r>
            <a:r>
              <a:rPr lang="en-US" sz="1050" b="1" dirty="0">
                <a:solidFill>
                  <a:srgbClr val="E8A33D"/>
                </a:solidFill>
                <a:latin typeface="Courier New" pitchFamily="34" charset="0"/>
                <a:ea typeface="Courier New" pitchFamily="34" charset="-122"/>
                <a:cs typeface="Courier New" pitchFamily="34" charset="-120"/>
              </a:rPr>
              <a:t>24000</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4:50  NUMBER    090     value 90</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4:58  </a:t>
            </a:r>
            <a:r>
              <a:rPr lang="en-US" sz="1050" b="1" dirty="0">
                <a:solidFill>
                  <a:srgbClr val="E8A33D"/>
                </a:solidFill>
                <a:latin typeface="Courier New" pitchFamily="34" charset="0"/>
                <a:ea typeface="Courier New" pitchFamily="34" charset="-122"/>
                <a:cs typeface="Courier New" pitchFamily="34" charset="-120"/>
              </a:rPr>
              <a:t>SPEED</a:t>
            </a:r>
            <a:r>
              <a:rPr lang="en-US" sz="1050" dirty="0">
                <a:solidFill>
                  <a:srgbClr val="DCE6F2"/>
                </a:solidFill>
                <a:latin typeface="Courier New" pitchFamily="34" charset="0"/>
                <a:ea typeface="Courier New" pitchFamily="34" charset="-122"/>
                <a:cs typeface="Courier New" pitchFamily="34" charset="-120"/>
              </a:rPr>
              <a:t>     </a:t>
            </a:r>
            <a:r>
              <a:rPr lang="en-US" sz="1050" b="1" dirty="0">
                <a:solidFill>
                  <a:srgbClr val="E8A33D"/>
                </a:solidFill>
                <a:latin typeface="Courier New" pitchFamily="34" charset="0"/>
                <a:ea typeface="Courier New" pitchFamily="34" charset="-122"/>
                <a:cs typeface="Courier New" pitchFamily="34" charset="-120"/>
              </a:rPr>
              <a:t>280</a:t>
            </a:r>
            <a:r>
              <a:rPr lang="en-US" sz="1050" dirty="0">
                <a:solidFill>
                  <a:srgbClr val="DCE6F2"/>
                </a:solidFill>
                <a:latin typeface="Courier New" pitchFamily="34" charset="0"/>
                <a:ea typeface="Courier New" pitchFamily="34" charset="-122"/>
                <a:cs typeface="Courier New" pitchFamily="34" charset="-120"/>
              </a:rPr>
              <a:t>KT   value </a:t>
            </a:r>
            <a:r>
              <a:rPr lang="en-US" sz="1050" b="1" dirty="0">
                <a:solidFill>
                  <a:srgbClr val="E8A33D"/>
                </a:solidFill>
                <a:latin typeface="Courier New" pitchFamily="34" charset="0"/>
                <a:ea typeface="Courier New" pitchFamily="34" charset="-122"/>
                <a:cs typeface="Courier New" pitchFamily="34" charset="-120"/>
              </a:rPr>
              <a:t>280</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6:5   </a:t>
            </a:r>
            <a:r>
              <a:rPr lang="en-US" sz="1050" b="1" dirty="0">
                <a:solidFill>
                  <a:srgbClr val="E8A33D"/>
                </a:solidFill>
                <a:latin typeface="Courier New" pitchFamily="34" charset="0"/>
                <a:ea typeface="Courier New" pitchFamily="34" charset="-122"/>
                <a:cs typeface="Courier New" pitchFamily="34" charset="-120"/>
              </a:rPr>
              <a:t>IDENT</a:t>
            </a:r>
            <a:r>
              <a:rPr lang="en-US" sz="1050" dirty="0">
                <a:solidFill>
                  <a:srgbClr val="DCE6F2"/>
                </a:solidFill>
                <a:latin typeface="Courier New" pitchFamily="34" charset="0"/>
                <a:ea typeface="Courier New" pitchFamily="34" charset="-122"/>
                <a:cs typeface="Courier New" pitchFamily="34" charset="-120"/>
              </a:rPr>
              <a:t>     cruise</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6:14  </a:t>
            </a:r>
            <a:r>
              <a:rPr lang="en-US" sz="1050" b="1" dirty="0">
                <a:solidFill>
                  <a:srgbClr val="E8A33D"/>
                </a:solidFill>
                <a:latin typeface="Courier New" pitchFamily="34" charset="0"/>
                <a:ea typeface="Courier New" pitchFamily="34" charset="-122"/>
                <a:cs typeface="Courier New" pitchFamily="34" charset="-120"/>
              </a:rPr>
              <a:t>FLEVEL</a:t>
            </a:r>
            <a:r>
              <a:rPr lang="en-US" sz="1050" dirty="0">
                <a:solidFill>
                  <a:srgbClr val="DCE6F2"/>
                </a:solidFill>
                <a:latin typeface="Courier New" pitchFamily="34" charset="0"/>
                <a:ea typeface="Courier New" pitchFamily="34" charset="-122"/>
                <a:cs typeface="Courier New" pitchFamily="34" charset="-120"/>
              </a:rPr>
              <a:t>    FL320   value </a:t>
            </a:r>
            <a:r>
              <a:rPr lang="en-US" sz="1050" b="1" dirty="0">
                <a:solidFill>
                  <a:srgbClr val="E8A33D"/>
                </a:solidFill>
                <a:latin typeface="Courier New" pitchFamily="34" charset="0"/>
                <a:ea typeface="Courier New" pitchFamily="34" charset="-122"/>
                <a:cs typeface="Courier New" pitchFamily="34" charset="-120"/>
              </a:rPr>
              <a:t>32000</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7:13  climb     climb</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 </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FL240 is one token worth </a:t>
            </a:r>
            <a:r>
              <a:rPr lang="en-US" sz="1050" b="1" dirty="0">
                <a:solidFill>
                  <a:srgbClr val="E8A33D"/>
                </a:solidFill>
                <a:latin typeface="Courier New" pitchFamily="34" charset="0"/>
                <a:ea typeface="Courier New" pitchFamily="34" charset="-122"/>
                <a:cs typeface="Courier New" pitchFamily="34" charset="-120"/>
              </a:rPr>
              <a:t>24000</a:t>
            </a:r>
            <a:r>
              <a:rPr lang="en-US" sz="1050" dirty="0">
                <a:solidFill>
                  <a:srgbClr val="DCE6F2"/>
                </a:solidFill>
                <a:latin typeface="Courier New" pitchFamily="34" charset="0"/>
                <a:ea typeface="Courier New" pitchFamily="34" charset="-122"/>
                <a:cs typeface="Courier New" pitchFamily="34" charset="-120"/>
              </a:rPr>
              <a:t> ft.</a:t>
            </a:r>
            <a:endParaRPr lang="en-US" sz="1050" dirty="0"/>
          </a:p>
        </p:txBody>
      </p:sp>
      <p:sp>
        <p:nvSpPr>
          <p:cNvPr id="10" name="w_ast"/>
          <p:cNvSpPr/>
          <p:nvPr/>
        </p:nvSpPr>
        <p:spPr>
          <a:xfrm>
            <a:off x="8152181" y="1572768"/>
            <a:ext cx="3472586" cy="3931920"/>
          </a:xfrm>
          <a:prstGeom prst="roundRect">
            <a:avLst>
              <a:gd name="adj" fmla="val 1580"/>
            </a:avLst>
          </a:prstGeom>
          <a:solidFill>
            <a:srgbClr val="16233A"/>
          </a:solidFill>
          <a:ln w="12700">
            <a:solidFill>
              <a:srgbClr val="22344F"/>
            </a:solidFill>
            <a:prstDash val="solid"/>
          </a:ln>
        </p:spPr>
      </p:sp>
      <p:sp>
        <p:nvSpPr>
          <p:cNvPr id="11" name="w_ast_label"/>
          <p:cNvSpPr txBox="1"/>
          <p:nvPr/>
        </p:nvSpPr>
        <p:spPr>
          <a:xfrm>
            <a:off x="8316773" y="1691640"/>
            <a:ext cx="3143402" cy="237744"/>
          </a:xfrm>
          <a:prstGeom prst="rect">
            <a:avLst/>
          </a:prstGeom>
          <a:noFill/>
          <a:ln/>
        </p:spPr>
        <p:txBody>
          <a:bodyPr wrap="square" lIns="0" tIns="0" rIns="0" bIns="0" rtlCol="0" anchor="ctr"/>
          <a:lstStyle/>
          <a:p>
            <a:pPr indent="0" marL="0">
              <a:buNone/>
            </a:pPr>
            <a:r>
              <a:rPr lang="en-US" sz="1050" b="1" spc="120" kern="0" dirty="0">
                <a:solidFill>
                  <a:srgbClr val="35C6A8"/>
                </a:solidFill>
              </a:rPr>
              <a:t>3 · AST   --ast   (TAIL)</a:t>
            </a:r>
            <a:endParaRPr lang="en-US" sz="1050" dirty="0"/>
          </a:p>
        </p:txBody>
      </p:sp>
      <p:sp>
        <p:nvSpPr>
          <p:cNvPr id="12" name="w_ast_text"/>
          <p:cNvSpPr txBox="1"/>
          <p:nvPr/>
        </p:nvSpPr>
        <p:spPr>
          <a:xfrm>
            <a:off x="8316773" y="2002536"/>
            <a:ext cx="3143402" cy="3392424"/>
          </a:xfrm>
          <a:prstGeom prst="rect">
            <a:avLst/>
          </a:prstGeom>
          <a:noFill/>
          <a:ln/>
        </p:spPr>
        <p:txBody>
          <a:bodyPr wrap="square" lIns="0" tIns="0" rIns="0" bIns="0" rtlCol="0" anchor="t"/>
          <a:lstStyle/>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Main</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Enter AI202 at VOMAN</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alt:  Num 24000 : </a:t>
            </a:r>
            <a:r>
              <a:rPr lang="en-US" sz="1100" b="1" dirty="0">
                <a:solidFill>
                  <a:srgbClr val="E8A33D"/>
                </a:solidFill>
                <a:latin typeface="Courier New" pitchFamily="34" charset="0"/>
                <a:ea typeface="Courier New" pitchFamily="34" charset="-122"/>
                <a:cs typeface="Courier New" pitchFamily="34" charset="-120"/>
              </a:rPr>
              <a:t>num</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hdg:  Num 90 : </a:t>
            </a:r>
            <a:r>
              <a:rPr lang="en-US" sz="1100" b="1" dirty="0">
                <a:solidFill>
                  <a:srgbClr val="E8A33D"/>
                </a:solidFill>
                <a:latin typeface="Courier New" pitchFamily="34" charset="0"/>
                <a:ea typeface="Courier New" pitchFamily="34" charset="-122"/>
                <a:cs typeface="Courier New" pitchFamily="34" charset="-120"/>
              </a:rPr>
              <a:t>num</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spd:  Num 280 : </a:t>
            </a:r>
            <a:r>
              <a:rPr lang="en-US" sz="1100" b="1" dirty="0">
                <a:solidFill>
                  <a:srgbClr val="E8A33D"/>
                </a:solidFill>
                <a:latin typeface="Courier New" pitchFamily="34" charset="0"/>
                <a:ea typeface="Courier New" pitchFamily="34" charset="-122"/>
                <a:cs typeface="Courier New" pitchFamily="34" charset="-120"/>
              </a:rPr>
              <a:t>num</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Let cruise</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Num 32000 : </a:t>
            </a:r>
            <a:r>
              <a:rPr lang="en-US" sz="1100" b="1" dirty="0">
                <a:solidFill>
                  <a:srgbClr val="E8A33D"/>
                </a:solidFill>
                <a:latin typeface="Courier New" pitchFamily="34" charset="0"/>
                <a:ea typeface="Courier New" pitchFamily="34" charset="-122"/>
                <a:cs typeface="Courier New" pitchFamily="34" charset="-120"/>
              </a:rPr>
              <a:t>num</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E8A33D"/>
                </a:solidFill>
                <a:latin typeface="Courier New" pitchFamily="34" charset="0"/>
                <a:ea typeface="Courier New" pitchFamily="34" charset="-122"/>
                <a:cs typeface="Courier New" pitchFamily="34" charset="-120"/>
              </a:rPr>
              <a:t>Clear climb</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Name AI202 : </a:t>
            </a:r>
            <a:r>
              <a:rPr lang="en-US" sz="1100" b="1" dirty="0">
                <a:solidFill>
                  <a:srgbClr val="E8A33D"/>
                </a:solidFill>
                <a:latin typeface="Courier New" pitchFamily="34" charset="0"/>
                <a:ea typeface="Courier New" pitchFamily="34" charset="-122"/>
                <a:cs typeface="Courier New" pitchFamily="34" charset="-120"/>
              </a:rPr>
              <a:t>flight</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E8A33D"/>
                </a:solidFill>
                <a:latin typeface="Courier New" pitchFamily="34" charset="0"/>
                <a:ea typeface="Courier New" pitchFamily="34" charset="-122"/>
                <a:cs typeface="Courier New" pitchFamily="34" charset="-120"/>
              </a:rPr>
              <a:t>Binary '-'</a:t>
            </a:r>
            <a:r>
              <a:rPr lang="en-US" sz="1100" dirty="0">
                <a:solidFill>
                  <a:srgbClr val="DCE6F2"/>
                </a:solidFill>
                <a:latin typeface="Courier New" pitchFamily="34" charset="0"/>
                <a:ea typeface="Courier New" pitchFamily="34" charset="-122"/>
                <a:cs typeface="Courier New" pitchFamily="34" charset="-120"/>
              </a:rPr>
              <a:t> : </a:t>
            </a:r>
            <a:r>
              <a:rPr lang="en-US" sz="1100" b="1" dirty="0">
                <a:solidFill>
                  <a:srgbClr val="E8A33D"/>
                </a:solidFill>
                <a:latin typeface="Courier New" pitchFamily="34" charset="0"/>
                <a:ea typeface="Courier New" pitchFamily="34" charset="-122"/>
                <a:cs typeface="Courier New" pitchFamily="34" charset="-120"/>
              </a:rPr>
              <a:t>num</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Name cruise : </a:t>
            </a:r>
            <a:r>
              <a:rPr lang="en-US" sz="1100" b="1" dirty="0">
                <a:solidFill>
                  <a:srgbClr val="E8A33D"/>
                </a:solidFill>
                <a:latin typeface="Courier New" pitchFamily="34" charset="0"/>
                <a:ea typeface="Courier New" pitchFamily="34" charset="-122"/>
                <a:cs typeface="Courier New" pitchFamily="34" charset="-120"/>
              </a:rPr>
              <a:t>num</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Num 2000 : </a:t>
            </a:r>
            <a:r>
              <a:rPr lang="en-US" sz="1100" b="1" dirty="0">
                <a:solidFill>
                  <a:srgbClr val="E8A33D"/>
                </a:solidFill>
                <a:latin typeface="Courier New" pitchFamily="34" charset="0"/>
                <a:ea typeface="Courier New" pitchFamily="34" charset="-122"/>
                <a:cs typeface="Courier New" pitchFamily="34" charset="-120"/>
              </a:rPr>
              <a:t>num</a:t>
            </a:r>
            <a:endParaRPr lang="en-US" sz="1100" dirty="0"/>
          </a:p>
        </p:txBody>
      </p:sp>
      <p:sp>
        <p:nvSpPr>
          <p:cNvPr id="13" name="cap1"/>
          <p:cNvSpPr txBox="1"/>
          <p:nvPr/>
        </p:nvSpPr>
        <p:spPr>
          <a:xfrm>
            <a:off x="566928" y="5614416"/>
            <a:ext cx="3472586" cy="310896"/>
          </a:xfrm>
          <a:prstGeom prst="rect">
            <a:avLst/>
          </a:prstGeom>
          <a:noFill/>
          <a:ln/>
        </p:spPr>
        <p:txBody>
          <a:bodyPr wrap="square" lIns="0" tIns="0" rIns="0" bIns="0" rtlCol="0" anchor="ctr"/>
          <a:lstStyle/>
          <a:p>
            <a:pPr indent="0" marL="0">
              <a:buNone/>
            </a:pPr>
            <a:r>
              <a:rPr lang="en-US" sz="1150" dirty="0">
                <a:solidFill>
                  <a:srgbClr val="8D9CAF"/>
                </a:solidFill>
              </a:rPr>
              <a:t>Lexer — recognising the words.</a:t>
            </a:r>
            <a:endParaRPr lang="en-US" sz="1150" dirty="0"/>
          </a:p>
        </p:txBody>
      </p:sp>
      <p:sp>
        <p:nvSpPr>
          <p:cNvPr id="14" name="cap2"/>
          <p:cNvSpPr txBox="1"/>
          <p:nvPr/>
        </p:nvSpPr>
        <p:spPr>
          <a:xfrm>
            <a:off x="4359554" y="5614416"/>
            <a:ext cx="3472586" cy="310896"/>
          </a:xfrm>
          <a:prstGeom prst="rect">
            <a:avLst/>
          </a:prstGeom>
          <a:noFill/>
          <a:ln/>
        </p:spPr>
        <p:txBody>
          <a:bodyPr wrap="square" lIns="0" tIns="0" rIns="0" bIns="0" rtlCol="0" anchor="ctr"/>
          <a:lstStyle/>
          <a:p>
            <a:pPr indent="0" marL="0">
              <a:buNone/>
            </a:pPr>
            <a:r>
              <a:rPr lang="en-US" sz="1150" dirty="0">
                <a:solidFill>
                  <a:srgbClr val="8D9CAF"/>
                </a:solidFill>
              </a:rPr>
              <a:t>Parser — checking the grammar, building the tree.</a:t>
            </a:r>
            <a:endParaRPr lang="en-US" sz="1150" dirty="0"/>
          </a:p>
        </p:txBody>
      </p:sp>
      <p:sp>
        <p:nvSpPr>
          <p:cNvPr id="15" name="cap3"/>
          <p:cNvSpPr txBox="1"/>
          <p:nvPr/>
        </p:nvSpPr>
        <p:spPr>
          <a:xfrm>
            <a:off x="8152181" y="5614416"/>
            <a:ext cx="3472586" cy="310896"/>
          </a:xfrm>
          <a:prstGeom prst="rect">
            <a:avLst/>
          </a:prstGeom>
          <a:noFill/>
          <a:ln/>
        </p:spPr>
        <p:txBody>
          <a:bodyPr wrap="square" lIns="0" tIns="0" rIns="0" bIns="0" rtlCol="0" anchor="ctr"/>
          <a:lstStyle/>
          <a:p>
            <a:pPr indent="0" marL="0">
              <a:buNone/>
            </a:pPr>
            <a:r>
              <a:rPr lang="en-US" sz="1150" dirty="0">
                <a:solidFill>
                  <a:srgbClr val="8D9CAF"/>
                </a:solidFill>
              </a:rPr>
              <a:t>Semantic analysis — every node now carries a type.</a:t>
            </a:r>
            <a:endParaRPr lang="en-US" sz="115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3" grpId="0"/>
      <p:bldP spid="7" grpId="0"/>
      <p:bldP spid="8" grpId="0"/>
      <p:bldP spid="9" grpId="0"/>
      <p:bldP spid="14" grpId="0"/>
      <p:bldP spid="10" grpId="0"/>
      <p:bldP spid="11" grpId="0"/>
      <p:bldP spid="12"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One program, all the way through — part 2</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The same eight lines, now as three-address code, optimised, and as bytecode</a:t>
            </a:r>
            <a:endParaRPr lang="en-US" sz="1500" dirty="0"/>
          </a:p>
        </p:txBody>
      </p:sp>
      <p:sp>
        <p:nvSpPr>
          <p:cNvPr id="4" name="x_ir"/>
          <p:cNvSpPr/>
          <p:nvPr/>
        </p:nvSpPr>
        <p:spPr>
          <a:xfrm>
            <a:off x="566928" y="1572768"/>
            <a:ext cx="3472586" cy="2834640"/>
          </a:xfrm>
          <a:prstGeom prst="roundRect">
            <a:avLst>
              <a:gd name="adj" fmla="val 1935"/>
            </a:avLst>
          </a:prstGeom>
          <a:solidFill>
            <a:srgbClr val="16233A"/>
          </a:solidFill>
          <a:ln w="12700">
            <a:solidFill>
              <a:srgbClr val="22344F"/>
            </a:solidFill>
            <a:prstDash val="solid"/>
          </a:ln>
        </p:spPr>
      </p:sp>
      <p:sp>
        <p:nvSpPr>
          <p:cNvPr id="5" name="x_ir_label"/>
          <p:cNvSpPr txBox="1"/>
          <p:nvPr/>
        </p:nvSpPr>
        <p:spPr>
          <a:xfrm>
            <a:off x="731520" y="1691640"/>
            <a:ext cx="3143402" cy="237744"/>
          </a:xfrm>
          <a:prstGeom prst="rect">
            <a:avLst/>
          </a:prstGeom>
          <a:noFill/>
          <a:ln/>
        </p:spPr>
        <p:txBody>
          <a:bodyPr wrap="square" lIns="0" tIns="0" rIns="0" bIns="0" rtlCol="0" anchor="ctr"/>
          <a:lstStyle/>
          <a:p>
            <a:pPr indent="0" marL="0">
              <a:buNone/>
            </a:pPr>
            <a:r>
              <a:rPr lang="en-US" sz="1050" b="1" spc="120" kern="0" dirty="0">
                <a:solidFill>
                  <a:srgbClr val="35C6A8"/>
                </a:solidFill>
              </a:rPr>
              <a:t>4 · THREE-ADDRESS CODE   --ir</a:t>
            </a:r>
            <a:endParaRPr lang="en-US" sz="1050" dirty="0"/>
          </a:p>
        </p:txBody>
      </p:sp>
      <p:sp>
        <p:nvSpPr>
          <p:cNvPr id="6" name="x_ir_text"/>
          <p:cNvSpPr txBox="1"/>
          <p:nvPr/>
        </p:nvSpPr>
        <p:spPr>
          <a:xfrm>
            <a:off x="731520" y="2002536"/>
            <a:ext cx="3143402" cy="2295144"/>
          </a:xfrm>
          <a:prstGeom prst="rect">
            <a:avLst/>
          </a:prstGeom>
          <a:noFill/>
          <a:ln/>
        </p:spPr>
        <p:txBody>
          <a:bodyPr wrap="square" lIns="0" tIns="0" rIns="0" bIns="0" rtlCol="0" anchor="t"/>
          <a:lstStyle/>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0   param 24000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1   param 90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2   param 280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3   enter AI202</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4   </a:t>
            </a:r>
            <a:r>
              <a:rPr lang="en-US" sz="1100" b="1" dirty="0">
                <a:solidFill>
                  <a:srgbClr val="E8A33D"/>
                </a:solidFill>
                <a:latin typeface="Courier New" pitchFamily="34" charset="0"/>
                <a:ea typeface="Courier New" pitchFamily="34" charset="-122"/>
                <a:cs typeface="Courier New" pitchFamily="34" charset="-120"/>
              </a:rPr>
              <a:t>cruise = 32000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5   </a:t>
            </a:r>
            <a:r>
              <a:rPr lang="en-US" sz="1100" b="1" dirty="0">
                <a:solidFill>
                  <a:srgbClr val="E8A33D"/>
                </a:solidFill>
                <a:latin typeface="Courier New" pitchFamily="34" charset="0"/>
                <a:ea typeface="Courier New" pitchFamily="34" charset="-122"/>
                <a:cs typeface="Courier New" pitchFamily="34" charset="-120"/>
              </a:rPr>
              <a:t>t1 = cruise - 2000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6   </a:t>
            </a:r>
            <a:r>
              <a:rPr lang="en-US" sz="1100" b="1" dirty="0">
                <a:solidFill>
                  <a:srgbClr val="E8A33D"/>
                </a:solidFill>
                <a:latin typeface="Courier New" pitchFamily="34" charset="0"/>
                <a:ea typeface="Courier New" pitchFamily="34" charset="-122"/>
                <a:cs typeface="Courier New" pitchFamily="34" charset="-120"/>
              </a:rPr>
              <a:t>clear AI202, climb, t1</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7   advance 120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8   return</a:t>
            </a:r>
            <a:endParaRPr lang="en-US" sz="1100" dirty="0"/>
          </a:p>
        </p:txBody>
      </p:sp>
      <p:sp>
        <p:nvSpPr>
          <p:cNvPr id="7" name="x_opt"/>
          <p:cNvSpPr/>
          <p:nvPr/>
        </p:nvSpPr>
        <p:spPr>
          <a:xfrm>
            <a:off x="4359554" y="1572768"/>
            <a:ext cx="3472586" cy="2834640"/>
          </a:xfrm>
          <a:prstGeom prst="roundRect">
            <a:avLst>
              <a:gd name="adj" fmla="val 1935"/>
            </a:avLst>
          </a:prstGeom>
          <a:solidFill>
            <a:srgbClr val="16233A"/>
          </a:solidFill>
          <a:ln w="12700">
            <a:solidFill>
              <a:srgbClr val="22344F"/>
            </a:solidFill>
            <a:prstDash val="solid"/>
          </a:ln>
        </p:spPr>
      </p:sp>
      <p:sp>
        <p:nvSpPr>
          <p:cNvPr id="8" name="x_opt_label"/>
          <p:cNvSpPr txBox="1"/>
          <p:nvPr/>
        </p:nvSpPr>
        <p:spPr>
          <a:xfrm>
            <a:off x="4524146" y="1691640"/>
            <a:ext cx="3143402" cy="237744"/>
          </a:xfrm>
          <a:prstGeom prst="rect">
            <a:avLst/>
          </a:prstGeom>
          <a:noFill/>
          <a:ln/>
        </p:spPr>
        <p:txBody>
          <a:bodyPr wrap="square" lIns="0" tIns="0" rIns="0" bIns="0" rtlCol="0" anchor="ctr"/>
          <a:lstStyle/>
          <a:p>
            <a:pPr indent="0" marL="0">
              <a:buNone/>
            </a:pPr>
            <a:r>
              <a:rPr lang="en-US" sz="1050" b="1" spc="120" kern="0" dirty="0">
                <a:solidFill>
                  <a:srgbClr val="E8A33D"/>
                </a:solidFill>
              </a:rPr>
              <a:t>5 · OPTIMISED   --opt-ir</a:t>
            </a:r>
            <a:endParaRPr lang="en-US" sz="1050" dirty="0"/>
          </a:p>
        </p:txBody>
      </p:sp>
      <p:sp>
        <p:nvSpPr>
          <p:cNvPr id="9" name="x_opt_text"/>
          <p:cNvSpPr txBox="1"/>
          <p:nvPr/>
        </p:nvSpPr>
        <p:spPr>
          <a:xfrm>
            <a:off x="4524146" y="2002536"/>
            <a:ext cx="3143402" cy="2295144"/>
          </a:xfrm>
          <a:prstGeom prst="rect">
            <a:avLst/>
          </a:prstGeom>
          <a:noFill/>
          <a:ln/>
        </p:spPr>
        <p:txBody>
          <a:bodyPr wrap="square" lIns="0" tIns="0" rIns="0" bIns="0" rtlCol="0" anchor="t"/>
          <a:lstStyle/>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0   param 24000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1   param 90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2   param 280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3   enter AI202</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4   </a:t>
            </a:r>
            <a:r>
              <a:rPr lang="en-US" sz="1100" b="1" dirty="0">
                <a:solidFill>
                  <a:srgbClr val="E8A33D"/>
                </a:solidFill>
                <a:latin typeface="Courier New" pitchFamily="34" charset="0"/>
                <a:ea typeface="Courier New" pitchFamily="34" charset="-122"/>
                <a:cs typeface="Courier New" pitchFamily="34" charset="-120"/>
              </a:rPr>
              <a:t>clear AI202, climb, 30000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5   advance 120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6   return</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Three instructions became one.</a:t>
            </a:r>
            <a:endParaRPr lang="en-US" sz="1100" dirty="0"/>
          </a:p>
        </p:txBody>
      </p:sp>
      <p:sp>
        <p:nvSpPr>
          <p:cNvPr id="10" name="x_bc"/>
          <p:cNvSpPr/>
          <p:nvPr/>
        </p:nvSpPr>
        <p:spPr>
          <a:xfrm>
            <a:off x="8152181" y="1572768"/>
            <a:ext cx="3472586" cy="2834640"/>
          </a:xfrm>
          <a:prstGeom prst="roundRect">
            <a:avLst>
              <a:gd name="adj" fmla="val 1935"/>
            </a:avLst>
          </a:prstGeom>
          <a:solidFill>
            <a:srgbClr val="16233A"/>
          </a:solidFill>
          <a:ln w="12700">
            <a:solidFill>
              <a:srgbClr val="22344F"/>
            </a:solidFill>
            <a:prstDash val="solid"/>
          </a:ln>
        </p:spPr>
      </p:sp>
      <p:sp>
        <p:nvSpPr>
          <p:cNvPr id="11" name="x_bc_label"/>
          <p:cNvSpPr txBox="1"/>
          <p:nvPr/>
        </p:nvSpPr>
        <p:spPr>
          <a:xfrm>
            <a:off x="8316773" y="1691640"/>
            <a:ext cx="3143402" cy="237744"/>
          </a:xfrm>
          <a:prstGeom prst="rect">
            <a:avLst/>
          </a:prstGeom>
          <a:noFill/>
          <a:ln/>
        </p:spPr>
        <p:txBody>
          <a:bodyPr wrap="square" lIns="0" tIns="0" rIns="0" bIns="0" rtlCol="0" anchor="ctr"/>
          <a:lstStyle/>
          <a:p>
            <a:pPr indent="0" marL="0">
              <a:buNone/>
            </a:pPr>
            <a:r>
              <a:rPr lang="en-US" sz="1050" b="1" spc="120" kern="0" dirty="0">
                <a:solidFill>
                  <a:srgbClr val="35C6A8"/>
                </a:solidFill>
              </a:rPr>
              <a:t>6 · BYTECODE   --bc   (7 OF 13 SHOWN)</a:t>
            </a:r>
            <a:endParaRPr lang="en-US" sz="1050" dirty="0"/>
          </a:p>
        </p:txBody>
      </p:sp>
      <p:sp>
        <p:nvSpPr>
          <p:cNvPr id="12" name="x_bc_text"/>
          <p:cNvSpPr txBox="1"/>
          <p:nvPr/>
        </p:nvSpPr>
        <p:spPr>
          <a:xfrm>
            <a:off x="8316773" y="2002536"/>
            <a:ext cx="3143402" cy="2295144"/>
          </a:xfrm>
          <a:prstGeom prst="rect">
            <a:avLst/>
          </a:prstGeom>
          <a:noFill/>
          <a:ln/>
        </p:spPr>
        <p:txBody>
          <a:bodyPr wrap="square" lIns="0" tIns="0" rIns="0" bIns="0" rtlCol="0" anchor="t"/>
          <a:lstStyle/>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6  enter  AI202</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7  loadk  r0, 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8  </a:t>
            </a:r>
            <a:r>
              <a:rPr lang="en-US" sz="1100" b="1" dirty="0">
                <a:solidFill>
                  <a:srgbClr val="E8A33D"/>
                </a:solidFill>
                <a:latin typeface="Courier New" pitchFamily="34" charset="0"/>
                <a:ea typeface="Courier New" pitchFamily="34" charset="-122"/>
                <a:cs typeface="Courier New" pitchFamily="34" charset="-120"/>
              </a:rPr>
              <a:t>loadk  r1, 30000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9  </a:t>
            </a:r>
            <a:r>
              <a:rPr lang="en-US" sz="1100" b="1" dirty="0">
                <a:solidFill>
                  <a:srgbClr val="E8A33D"/>
                </a:solidFill>
                <a:latin typeface="Courier New" pitchFamily="34" charset="0"/>
                <a:ea typeface="Courier New" pitchFamily="34" charset="-122"/>
                <a:cs typeface="Courier New" pitchFamily="34" charset="-120"/>
              </a:rPr>
              <a:t>clear  r0, climb, r1</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10  loadk  r0, 120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11  adv    r0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12  halt</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13 instructions, 2 frame slots, 16 registers.</a:t>
            </a:r>
            <a:endParaRPr lang="en-US" sz="1100" dirty="0"/>
          </a:p>
        </p:txBody>
      </p:sp>
      <p:sp>
        <p:nvSpPr>
          <p:cNvPr id="13" name="x_out"/>
          <p:cNvSpPr/>
          <p:nvPr/>
        </p:nvSpPr>
        <p:spPr>
          <a:xfrm>
            <a:off x="566928" y="4626864"/>
            <a:ext cx="11057839" cy="1463040"/>
          </a:xfrm>
          <a:prstGeom prst="roundRect">
            <a:avLst>
              <a:gd name="adj" fmla="val 3750"/>
            </a:avLst>
          </a:prstGeom>
          <a:solidFill>
            <a:srgbClr val="16233A"/>
          </a:solidFill>
          <a:ln w="12700">
            <a:solidFill>
              <a:srgbClr val="22344F"/>
            </a:solidFill>
            <a:prstDash val="solid"/>
          </a:ln>
        </p:spPr>
      </p:sp>
      <p:sp>
        <p:nvSpPr>
          <p:cNvPr id="14" name="x_out_label"/>
          <p:cNvSpPr txBox="1"/>
          <p:nvPr/>
        </p:nvSpPr>
        <p:spPr>
          <a:xfrm>
            <a:off x="731520" y="4745736"/>
            <a:ext cx="10728655" cy="237744"/>
          </a:xfrm>
          <a:prstGeom prst="rect">
            <a:avLst/>
          </a:prstGeom>
          <a:noFill/>
          <a:ln/>
        </p:spPr>
        <p:txBody>
          <a:bodyPr wrap="square" lIns="0" tIns="0" rIns="0" bIns="0" rtlCol="0" anchor="ctr"/>
          <a:lstStyle/>
          <a:p>
            <a:pPr indent="0" marL="0">
              <a:buNone/>
            </a:pPr>
            <a:r>
              <a:rPr lang="en-US" sz="1050" b="1" spc="120" kern="0" dirty="0">
                <a:solidFill>
                  <a:srgbClr val="E8A33D"/>
                </a:solidFill>
              </a:rPr>
              <a:t>7 · RUN IT   --trace   then the scenario file</a:t>
            </a:r>
            <a:endParaRPr lang="en-US" sz="1050" dirty="0"/>
          </a:p>
        </p:txBody>
      </p:sp>
      <p:sp>
        <p:nvSpPr>
          <p:cNvPr id="15" name="x_out_text"/>
          <p:cNvSpPr txBox="1"/>
          <p:nvPr/>
        </p:nvSpPr>
        <p:spPr>
          <a:xfrm>
            <a:off x="731520" y="5056632"/>
            <a:ext cx="10728655" cy="923544"/>
          </a:xfrm>
          <a:prstGeom prst="rect">
            <a:avLst/>
          </a:prstGeom>
          <a:noFill/>
          <a:ln/>
        </p:spPr>
        <p:txBody>
          <a:bodyPr wrap="square" lIns="0" tIns="0" rIns="0" bIns="0" rtlCol="0" anchor="t"/>
          <a:lstStyle/>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00:00:00  AI202 enters the airspace          final state</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00:00:00  </a:t>
            </a:r>
            <a:r>
              <a:rPr lang="en-US" sz="1150" b="1" dirty="0">
                <a:solidFill>
                  <a:srgbClr val="E8A33D"/>
                </a:solidFill>
                <a:latin typeface="Courier New" pitchFamily="34" charset="0"/>
                <a:ea typeface="Courier New" pitchFamily="34" charset="-122"/>
                <a:cs typeface="Courier New" pitchFamily="34" charset="-120"/>
              </a:rPr>
              <a:t>AI202 cleared climb 30000 ft</a:t>
            </a:r>
            <a:r>
              <a:rPr lang="en-US" sz="1150" dirty="0">
                <a:solidFill>
                  <a:srgbClr val="DCE6F2"/>
                </a:solidFill>
                <a:latin typeface="Courier New" pitchFamily="34" charset="0"/>
                <a:ea typeface="Courier New" pitchFamily="34" charset="-122"/>
                <a:cs typeface="Courier New" pitchFamily="34" charset="-120"/>
              </a:rPr>
              <a:t>       AI202   </a:t>
            </a:r>
            <a:r>
              <a:rPr lang="en-US" sz="1150" b="1" dirty="0">
                <a:solidFill>
                  <a:srgbClr val="E8A33D"/>
                </a:solidFill>
                <a:latin typeface="Courier New" pitchFamily="34" charset="0"/>
                <a:ea typeface="Courier New" pitchFamily="34" charset="-122"/>
                <a:cs typeface="Courier New" pitchFamily="34" charset="-120"/>
              </a:rPr>
              <a:t>alt  27600 ft</a:t>
            </a:r>
            <a:r>
              <a:rPr lang="en-US" sz="1150" dirty="0">
                <a:solidFill>
                  <a:srgbClr val="DCE6F2"/>
                </a:solidFill>
                <a:latin typeface="Courier New" pitchFamily="34" charset="0"/>
                <a:ea typeface="Courier New" pitchFamily="34" charset="-122"/>
                <a:cs typeface="Courier New" pitchFamily="34" charset="-120"/>
              </a:rPr>
              <a:t>  hdg  90  spd 280 kt</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00:00:00.00&gt;CRE AI202,A320,12.950000,77.670000,90,FL240,280        </a:t>
            </a:r>
            <a:r>
              <a:rPr lang="en-US" sz="1150" b="1" dirty="0">
                <a:solidFill>
                  <a:srgbClr val="E8A33D"/>
                </a:solidFill>
                <a:latin typeface="Courier New" pitchFamily="34" charset="0"/>
                <a:ea typeface="Courier New" pitchFamily="34" charset="-122"/>
                <a:cs typeface="Courier New" pitchFamily="34" charset="-120"/>
              </a:rPr>
              <a:t>00:00:00.00&gt;ALT AI202,FL300</a:t>
            </a:r>
            <a:endParaRPr lang="en-US" sz="115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Optimisation, and why it is more than tidying</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Seven passes, repeated to a fixed point, because each one creates work for the others</a:t>
            </a:r>
            <a:endParaRPr lang="en-US" sz="1500" dirty="0"/>
          </a:p>
        </p:txBody>
      </p:sp>
      <p:sp>
        <p:nvSpPr>
          <p:cNvPr id="4" name="o_b"/>
          <p:cNvSpPr/>
          <p:nvPr/>
        </p:nvSpPr>
        <p:spPr>
          <a:xfrm>
            <a:off x="566928" y="1572768"/>
            <a:ext cx="4572000" cy="1572768"/>
          </a:xfrm>
          <a:prstGeom prst="roundRect">
            <a:avLst>
              <a:gd name="adj" fmla="val 3488"/>
            </a:avLst>
          </a:prstGeom>
          <a:solidFill>
            <a:srgbClr val="16233A"/>
          </a:solidFill>
          <a:ln w="12700">
            <a:solidFill>
              <a:srgbClr val="22344F"/>
            </a:solidFill>
            <a:prstDash val="solid"/>
          </a:ln>
        </p:spPr>
      </p:sp>
      <p:sp>
        <p:nvSpPr>
          <p:cNvPr id="5" name="o_b_label"/>
          <p:cNvSpPr txBox="1"/>
          <p:nvPr/>
        </p:nvSpPr>
        <p:spPr>
          <a:xfrm>
            <a:off x="731520" y="1691640"/>
            <a:ext cx="4242816" cy="237744"/>
          </a:xfrm>
          <a:prstGeom prst="rect">
            <a:avLst/>
          </a:prstGeom>
          <a:noFill/>
          <a:ln/>
        </p:spPr>
        <p:txBody>
          <a:bodyPr wrap="square" lIns="0" tIns="0" rIns="0" bIns="0" rtlCol="0" anchor="ctr"/>
          <a:lstStyle/>
          <a:p>
            <a:pPr indent="0" marL="0">
              <a:buNone/>
            </a:pPr>
            <a:r>
              <a:rPr lang="en-US" sz="1050" b="1" spc="120" kern="0" dirty="0">
                <a:solidFill>
                  <a:srgbClr val="8D9CAF"/>
                </a:solidFill>
              </a:rPr>
              <a:t>BEFORE</a:t>
            </a:r>
            <a:endParaRPr lang="en-US" sz="1050" dirty="0"/>
          </a:p>
        </p:txBody>
      </p:sp>
      <p:sp>
        <p:nvSpPr>
          <p:cNvPr id="6" name="o_b_text"/>
          <p:cNvSpPr txBox="1"/>
          <p:nvPr/>
        </p:nvSpPr>
        <p:spPr>
          <a:xfrm>
            <a:off x="731520" y="2002536"/>
            <a:ext cx="4242816" cy="1033272"/>
          </a:xfrm>
          <a:prstGeom prst="rect">
            <a:avLst/>
          </a:prstGeom>
          <a:noFill/>
          <a:ln/>
        </p:spPr>
        <p:txBody>
          <a:bodyPr wrap="square" lIns="0" tIns="0" rIns="0" bIns="0" rtlCol="0" anchor="t"/>
          <a:lstStyle/>
          <a:p>
            <a:pPr indent="0" marL="0">
              <a:lnSpc>
                <a:spcPts val="1518"/>
              </a:lnSpc>
              <a:buNone/>
            </a:pPr>
            <a:r>
              <a:rPr lang="en-US" sz="1150" b="1" dirty="0">
                <a:solidFill>
                  <a:srgbClr val="E8A33D"/>
                </a:solidFill>
                <a:latin typeface="Courier New" pitchFamily="34" charset="0"/>
                <a:ea typeface="Courier New" pitchFamily="34" charset="-122"/>
                <a:cs typeface="Courier New" pitchFamily="34" charset="-120"/>
              </a:rPr>
              <a:t>cruise = 32000</a:t>
            </a:r>
            <a:endParaRPr lang="en-US" sz="1150" dirty="0"/>
          </a:p>
          <a:p>
            <a:pPr indent="0" marL="0">
              <a:lnSpc>
                <a:spcPts val="1518"/>
              </a:lnSpc>
              <a:buNone/>
            </a:pPr>
            <a:r>
              <a:rPr lang="en-US" sz="1150" b="1" dirty="0">
                <a:solidFill>
                  <a:srgbClr val="E8A33D"/>
                </a:solidFill>
                <a:latin typeface="Courier New" pitchFamily="34" charset="0"/>
                <a:ea typeface="Courier New" pitchFamily="34" charset="-122"/>
                <a:cs typeface="Courier New" pitchFamily="34" charset="-120"/>
              </a:rPr>
              <a:t>t1 = cruise - 2000</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clear AI202, climb, t1</a:t>
            </a:r>
            <a:endParaRPr lang="en-US" sz="1150" dirty="0"/>
          </a:p>
        </p:txBody>
      </p:sp>
      <p:sp>
        <p:nvSpPr>
          <p:cNvPr id="7" name="o_arrow"/>
          <p:cNvSpPr/>
          <p:nvPr/>
        </p:nvSpPr>
        <p:spPr>
          <a:xfrm>
            <a:off x="5248656" y="2286000"/>
            <a:ext cx="365760" cy="155448"/>
          </a:xfrm>
          <a:prstGeom prst="rightArrow">
            <a:avLst/>
          </a:prstGeom>
          <a:solidFill>
            <a:srgbClr val="E8A33D"/>
          </a:solidFill>
          <a:ln w="12700">
            <a:solidFill>
              <a:srgbClr val="333333"/>
            </a:solidFill>
            <a:prstDash val="solid"/>
          </a:ln>
        </p:spPr>
      </p:sp>
      <p:sp>
        <p:nvSpPr>
          <p:cNvPr id="8" name="o_a"/>
          <p:cNvSpPr/>
          <p:nvPr/>
        </p:nvSpPr>
        <p:spPr>
          <a:xfrm>
            <a:off x="5742432" y="1572768"/>
            <a:ext cx="4572000" cy="1572768"/>
          </a:xfrm>
          <a:prstGeom prst="roundRect">
            <a:avLst>
              <a:gd name="adj" fmla="val 3488"/>
            </a:avLst>
          </a:prstGeom>
          <a:solidFill>
            <a:srgbClr val="16233A"/>
          </a:solidFill>
          <a:ln w="12700">
            <a:solidFill>
              <a:srgbClr val="22344F"/>
            </a:solidFill>
            <a:prstDash val="solid"/>
          </a:ln>
        </p:spPr>
      </p:sp>
      <p:sp>
        <p:nvSpPr>
          <p:cNvPr id="9" name="o_a_label"/>
          <p:cNvSpPr txBox="1"/>
          <p:nvPr/>
        </p:nvSpPr>
        <p:spPr>
          <a:xfrm>
            <a:off x="5907024" y="1691640"/>
            <a:ext cx="4242816" cy="237744"/>
          </a:xfrm>
          <a:prstGeom prst="rect">
            <a:avLst/>
          </a:prstGeom>
          <a:noFill/>
          <a:ln/>
        </p:spPr>
        <p:txBody>
          <a:bodyPr wrap="square" lIns="0" tIns="0" rIns="0" bIns="0" rtlCol="0" anchor="ctr"/>
          <a:lstStyle/>
          <a:p>
            <a:pPr indent="0" marL="0">
              <a:buNone/>
            </a:pPr>
            <a:r>
              <a:rPr lang="en-US" sz="1050" b="1" spc="120" kern="0" dirty="0">
                <a:solidFill>
                  <a:srgbClr val="E8A33D"/>
                </a:solidFill>
              </a:rPr>
              <a:t>AFTER</a:t>
            </a:r>
            <a:endParaRPr lang="en-US" sz="1050" dirty="0"/>
          </a:p>
        </p:txBody>
      </p:sp>
      <p:sp>
        <p:nvSpPr>
          <p:cNvPr id="10" name="o_a_text"/>
          <p:cNvSpPr txBox="1"/>
          <p:nvPr/>
        </p:nvSpPr>
        <p:spPr>
          <a:xfrm>
            <a:off x="5907024" y="2002536"/>
            <a:ext cx="4242816" cy="1033272"/>
          </a:xfrm>
          <a:prstGeom prst="rect">
            <a:avLst/>
          </a:prstGeom>
          <a:noFill/>
          <a:ln/>
        </p:spPr>
        <p:txBody>
          <a:bodyPr wrap="square" lIns="0" tIns="0" rIns="0" bIns="0" rtlCol="0" anchor="t"/>
          <a:lstStyle/>
          <a:p>
            <a:pPr indent="0" marL="0">
              <a:lnSpc>
                <a:spcPts val="1518"/>
              </a:lnSpc>
              <a:buNone/>
            </a:pPr>
            <a:r>
              <a:rPr lang="en-US" sz="1150" b="1" dirty="0">
                <a:solidFill>
                  <a:srgbClr val="E8A33D"/>
                </a:solidFill>
                <a:latin typeface="Courier New" pitchFamily="34" charset="0"/>
                <a:ea typeface="Courier New" pitchFamily="34" charset="-122"/>
                <a:cs typeface="Courier New" pitchFamily="34" charset="-120"/>
              </a:rPr>
              <a:t>clear AI202, climb, 30000</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propagate · fold · eliminate the dead copy</a:t>
            </a:r>
            <a:endParaRPr lang="en-US" sz="1150" dirty="0"/>
          </a:p>
        </p:txBody>
      </p:sp>
      <p:sp>
        <p:nvSpPr>
          <p:cNvPr id="11" name="cbox"/>
          <p:cNvSpPr/>
          <p:nvPr/>
        </p:nvSpPr>
        <p:spPr>
          <a:xfrm>
            <a:off x="566928" y="3456432"/>
            <a:ext cx="6035040" cy="2487168"/>
          </a:xfrm>
          <a:prstGeom prst="roundRect">
            <a:avLst>
              <a:gd name="adj" fmla="val 2574"/>
            </a:avLst>
          </a:prstGeom>
          <a:solidFill>
            <a:srgbClr val="16233A"/>
          </a:solidFill>
          <a:ln w="12700">
            <a:solidFill>
              <a:srgbClr val="22344F"/>
            </a:solidFill>
            <a:prstDash val="solid"/>
          </a:ln>
        </p:spPr>
      </p:sp>
      <p:sp>
        <p:nvSpPr>
          <p:cNvPr id="12" name="cbox_h"/>
          <p:cNvSpPr txBox="1"/>
          <p:nvPr/>
        </p:nvSpPr>
        <p:spPr>
          <a:xfrm>
            <a:off x="749808" y="3584448"/>
            <a:ext cx="5669280" cy="237744"/>
          </a:xfrm>
          <a:prstGeom prst="rect">
            <a:avLst/>
          </a:prstGeom>
          <a:noFill/>
          <a:ln/>
        </p:spPr>
        <p:txBody>
          <a:bodyPr wrap="square" lIns="0" tIns="0" rIns="0" bIns="0" rtlCol="0" anchor="ctr"/>
          <a:lstStyle/>
          <a:p>
            <a:pPr indent="0" marL="0">
              <a:buNone/>
            </a:pPr>
            <a:r>
              <a:rPr lang="en-US" sz="1050" b="1" spc="120" kern="0" dirty="0">
                <a:solidFill>
                  <a:srgbClr val="8D9CAF"/>
                </a:solidFill>
              </a:rPr>
              <a:t>ON examples/06_optimise.aero — EVERY PASS FIRES</a:t>
            </a:r>
            <a:endParaRPr lang="en-US" sz="1050" dirty="0"/>
          </a:p>
        </p:txBody>
      </p:sp>
      <p:sp>
        <p:nvSpPr>
          <p:cNvPr id="13" name="ck0"/>
          <p:cNvSpPr txBox="1"/>
          <p:nvPr/>
        </p:nvSpPr>
        <p:spPr>
          <a:xfrm>
            <a:off x="749808" y="3913632"/>
            <a:ext cx="2331720" cy="274320"/>
          </a:xfrm>
          <a:prstGeom prst="rect">
            <a:avLst/>
          </a:prstGeom>
          <a:noFill/>
          <a:ln/>
        </p:spPr>
        <p:txBody>
          <a:bodyPr wrap="square" lIns="0" tIns="0" rIns="0" bIns="0" rtlCol="0" anchor="ctr"/>
          <a:lstStyle/>
          <a:p>
            <a:pPr indent="0" marL="0">
              <a:buNone/>
            </a:pPr>
            <a:r>
              <a:rPr lang="en-US" sz="1000" dirty="0">
                <a:solidFill>
                  <a:srgbClr val="DCE6F2"/>
                </a:solidFill>
              </a:rPr>
              <a:t>constants folded</a:t>
            </a:r>
            <a:endParaRPr lang="en-US" sz="1000" dirty="0"/>
          </a:p>
        </p:txBody>
      </p:sp>
      <p:sp>
        <p:nvSpPr>
          <p:cNvPr id="14" name="cv0"/>
          <p:cNvSpPr txBox="1"/>
          <p:nvPr/>
        </p:nvSpPr>
        <p:spPr>
          <a:xfrm>
            <a:off x="3054096" y="3913632"/>
            <a:ext cx="365760" cy="274320"/>
          </a:xfrm>
          <a:prstGeom prst="rect">
            <a:avLst/>
          </a:prstGeom>
          <a:noFill/>
          <a:ln/>
        </p:spPr>
        <p:txBody>
          <a:bodyPr wrap="square" lIns="0" tIns="0" rIns="0" bIns="0" rtlCol="0" anchor="ctr"/>
          <a:lstStyle/>
          <a:p>
            <a:pPr algn="r" indent="0" marL="0">
              <a:buNone/>
            </a:pPr>
            <a:r>
              <a:rPr lang="en-US" sz="1150" b="1" dirty="0">
                <a:solidFill>
                  <a:srgbClr val="E8A33D"/>
                </a:solidFill>
                <a:latin typeface="Courier New" pitchFamily="34" charset="0"/>
                <a:ea typeface="Courier New" pitchFamily="34" charset="-122"/>
                <a:cs typeface="Courier New" pitchFamily="34" charset="-120"/>
              </a:rPr>
              <a:t>5</a:t>
            </a:r>
            <a:endParaRPr lang="en-US" sz="1150" dirty="0"/>
          </a:p>
        </p:txBody>
      </p:sp>
      <p:sp>
        <p:nvSpPr>
          <p:cNvPr id="15" name="ck1"/>
          <p:cNvSpPr txBox="1"/>
          <p:nvPr/>
        </p:nvSpPr>
        <p:spPr>
          <a:xfrm>
            <a:off x="3675888" y="3913632"/>
            <a:ext cx="2331720" cy="274320"/>
          </a:xfrm>
          <a:prstGeom prst="rect">
            <a:avLst/>
          </a:prstGeom>
          <a:noFill/>
          <a:ln/>
        </p:spPr>
        <p:txBody>
          <a:bodyPr wrap="square" lIns="0" tIns="0" rIns="0" bIns="0" rtlCol="0" anchor="ctr"/>
          <a:lstStyle/>
          <a:p>
            <a:pPr indent="0" marL="0">
              <a:buNone/>
            </a:pPr>
            <a:r>
              <a:rPr lang="en-US" sz="1000" dirty="0">
                <a:solidFill>
                  <a:srgbClr val="DCE6F2"/>
                </a:solidFill>
              </a:rPr>
              <a:t>operands replaced by propagated constants</a:t>
            </a:r>
            <a:endParaRPr lang="en-US" sz="1000" dirty="0"/>
          </a:p>
        </p:txBody>
      </p:sp>
      <p:sp>
        <p:nvSpPr>
          <p:cNvPr id="16" name="cv1"/>
          <p:cNvSpPr txBox="1"/>
          <p:nvPr/>
        </p:nvSpPr>
        <p:spPr>
          <a:xfrm>
            <a:off x="5980176" y="3913632"/>
            <a:ext cx="365760" cy="274320"/>
          </a:xfrm>
          <a:prstGeom prst="rect">
            <a:avLst/>
          </a:prstGeom>
          <a:noFill/>
          <a:ln/>
        </p:spPr>
        <p:txBody>
          <a:bodyPr wrap="square" lIns="0" tIns="0" rIns="0" bIns="0" rtlCol="0" anchor="ctr"/>
          <a:lstStyle/>
          <a:p>
            <a:pPr algn="r" indent="0" marL="0">
              <a:buNone/>
            </a:pPr>
            <a:r>
              <a:rPr lang="en-US" sz="1150" b="1" dirty="0">
                <a:solidFill>
                  <a:srgbClr val="E8A33D"/>
                </a:solidFill>
                <a:latin typeface="Courier New" pitchFamily="34" charset="0"/>
                <a:ea typeface="Courier New" pitchFamily="34" charset="-122"/>
                <a:cs typeface="Courier New" pitchFamily="34" charset="-120"/>
              </a:rPr>
              <a:t>11</a:t>
            </a:r>
            <a:endParaRPr lang="en-US" sz="1150" dirty="0"/>
          </a:p>
        </p:txBody>
      </p:sp>
      <p:sp>
        <p:nvSpPr>
          <p:cNvPr id="17" name="ck2"/>
          <p:cNvSpPr txBox="1"/>
          <p:nvPr/>
        </p:nvSpPr>
        <p:spPr>
          <a:xfrm>
            <a:off x="749808" y="4261104"/>
            <a:ext cx="2331720" cy="274320"/>
          </a:xfrm>
          <a:prstGeom prst="rect">
            <a:avLst/>
          </a:prstGeom>
          <a:noFill/>
          <a:ln/>
        </p:spPr>
        <p:txBody>
          <a:bodyPr wrap="square" lIns="0" tIns="0" rIns="0" bIns="0" rtlCol="0" anchor="ctr"/>
          <a:lstStyle/>
          <a:p>
            <a:pPr indent="0" marL="0">
              <a:buNone/>
            </a:pPr>
            <a:r>
              <a:rPr lang="en-US" sz="1000" dirty="0">
                <a:solidFill>
                  <a:srgbClr val="DCE6F2"/>
                </a:solidFill>
              </a:rPr>
              <a:t>common subexpressions eliminated</a:t>
            </a:r>
            <a:endParaRPr lang="en-US" sz="1000" dirty="0"/>
          </a:p>
        </p:txBody>
      </p:sp>
      <p:sp>
        <p:nvSpPr>
          <p:cNvPr id="18" name="cv2"/>
          <p:cNvSpPr txBox="1"/>
          <p:nvPr/>
        </p:nvSpPr>
        <p:spPr>
          <a:xfrm>
            <a:off x="3054096" y="4261104"/>
            <a:ext cx="365760" cy="274320"/>
          </a:xfrm>
          <a:prstGeom prst="rect">
            <a:avLst/>
          </a:prstGeom>
          <a:noFill/>
          <a:ln/>
        </p:spPr>
        <p:txBody>
          <a:bodyPr wrap="square" lIns="0" tIns="0" rIns="0" bIns="0" rtlCol="0" anchor="ctr"/>
          <a:lstStyle/>
          <a:p>
            <a:pPr algn="r" indent="0" marL="0">
              <a:buNone/>
            </a:pPr>
            <a:r>
              <a:rPr lang="en-US" sz="1150" b="1" dirty="0">
                <a:solidFill>
                  <a:srgbClr val="E8A33D"/>
                </a:solidFill>
                <a:latin typeface="Courier New" pitchFamily="34" charset="0"/>
                <a:ea typeface="Courier New" pitchFamily="34" charset="-122"/>
                <a:cs typeface="Courier New" pitchFamily="34" charset="-120"/>
              </a:rPr>
              <a:t>2</a:t>
            </a:r>
            <a:endParaRPr lang="en-US" sz="1150" dirty="0"/>
          </a:p>
        </p:txBody>
      </p:sp>
      <p:sp>
        <p:nvSpPr>
          <p:cNvPr id="19" name="ck3"/>
          <p:cNvSpPr txBox="1"/>
          <p:nvPr/>
        </p:nvSpPr>
        <p:spPr>
          <a:xfrm>
            <a:off x="3675888" y="4261104"/>
            <a:ext cx="2331720" cy="274320"/>
          </a:xfrm>
          <a:prstGeom prst="rect">
            <a:avLst/>
          </a:prstGeom>
          <a:noFill/>
          <a:ln/>
        </p:spPr>
        <p:txBody>
          <a:bodyPr wrap="square" lIns="0" tIns="0" rIns="0" bIns="0" rtlCol="0" anchor="ctr"/>
          <a:lstStyle/>
          <a:p>
            <a:pPr indent="0" marL="0">
              <a:buNone/>
            </a:pPr>
            <a:r>
              <a:rPr lang="en-US" sz="1000" dirty="0">
                <a:solidFill>
                  <a:srgbClr val="DCE6F2"/>
                </a:solidFill>
              </a:rPr>
              <a:t>copies propagated</a:t>
            </a:r>
            <a:endParaRPr lang="en-US" sz="1000" dirty="0"/>
          </a:p>
        </p:txBody>
      </p:sp>
      <p:sp>
        <p:nvSpPr>
          <p:cNvPr id="20" name="cv3"/>
          <p:cNvSpPr txBox="1"/>
          <p:nvPr/>
        </p:nvSpPr>
        <p:spPr>
          <a:xfrm>
            <a:off x="5980176" y="4261104"/>
            <a:ext cx="365760" cy="274320"/>
          </a:xfrm>
          <a:prstGeom prst="rect">
            <a:avLst/>
          </a:prstGeom>
          <a:noFill/>
          <a:ln/>
        </p:spPr>
        <p:txBody>
          <a:bodyPr wrap="square" lIns="0" tIns="0" rIns="0" bIns="0" rtlCol="0" anchor="ctr"/>
          <a:lstStyle/>
          <a:p>
            <a:pPr algn="r" indent="0" marL="0">
              <a:buNone/>
            </a:pPr>
            <a:r>
              <a:rPr lang="en-US" sz="1150" b="1" dirty="0">
                <a:solidFill>
                  <a:srgbClr val="E8A33D"/>
                </a:solidFill>
                <a:latin typeface="Courier New" pitchFamily="34" charset="0"/>
                <a:ea typeface="Courier New" pitchFamily="34" charset="-122"/>
                <a:cs typeface="Courier New" pitchFamily="34" charset="-120"/>
              </a:rPr>
              <a:t>6</a:t>
            </a:r>
            <a:endParaRPr lang="en-US" sz="1150" dirty="0"/>
          </a:p>
        </p:txBody>
      </p:sp>
      <p:sp>
        <p:nvSpPr>
          <p:cNvPr id="21" name="ck4"/>
          <p:cNvSpPr txBox="1"/>
          <p:nvPr/>
        </p:nvSpPr>
        <p:spPr>
          <a:xfrm>
            <a:off x="749808" y="4608576"/>
            <a:ext cx="2331720" cy="274320"/>
          </a:xfrm>
          <a:prstGeom prst="rect">
            <a:avLst/>
          </a:prstGeom>
          <a:noFill/>
          <a:ln/>
        </p:spPr>
        <p:txBody>
          <a:bodyPr wrap="square" lIns="0" tIns="0" rIns="0" bIns="0" rtlCol="0" anchor="ctr"/>
          <a:lstStyle/>
          <a:p>
            <a:pPr indent="0" marL="0">
              <a:buNone/>
            </a:pPr>
            <a:r>
              <a:rPr lang="en-US" sz="1000" dirty="0">
                <a:solidFill>
                  <a:srgbClr val="DCE6F2"/>
                </a:solidFill>
              </a:rPr>
              <a:t>algebraic simplifications</a:t>
            </a:r>
            <a:endParaRPr lang="en-US" sz="1000" dirty="0"/>
          </a:p>
        </p:txBody>
      </p:sp>
      <p:sp>
        <p:nvSpPr>
          <p:cNvPr id="22" name="cv4"/>
          <p:cNvSpPr txBox="1"/>
          <p:nvPr/>
        </p:nvSpPr>
        <p:spPr>
          <a:xfrm>
            <a:off x="3054096" y="4608576"/>
            <a:ext cx="365760" cy="274320"/>
          </a:xfrm>
          <a:prstGeom prst="rect">
            <a:avLst/>
          </a:prstGeom>
          <a:noFill/>
          <a:ln/>
        </p:spPr>
        <p:txBody>
          <a:bodyPr wrap="square" lIns="0" tIns="0" rIns="0" bIns="0" rtlCol="0" anchor="ctr"/>
          <a:lstStyle/>
          <a:p>
            <a:pPr algn="r" indent="0" marL="0">
              <a:buNone/>
            </a:pPr>
            <a:r>
              <a:rPr lang="en-US" sz="1150" b="1" dirty="0">
                <a:solidFill>
                  <a:srgbClr val="E8A33D"/>
                </a:solidFill>
                <a:latin typeface="Courier New" pitchFamily="34" charset="0"/>
                <a:ea typeface="Courier New" pitchFamily="34" charset="-122"/>
                <a:cs typeface="Courier New" pitchFamily="34" charset="-120"/>
              </a:rPr>
              <a:t>1</a:t>
            </a:r>
            <a:endParaRPr lang="en-US" sz="1150" dirty="0"/>
          </a:p>
        </p:txBody>
      </p:sp>
      <p:sp>
        <p:nvSpPr>
          <p:cNvPr id="23" name="ck5"/>
          <p:cNvSpPr txBox="1"/>
          <p:nvPr/>
        </p:nvSpPr>
        <p:spPr>
          <a:xfrm>
            <a:off x="3675888" y="4608576"/>
            <a:ext cx="2331720" cy="274320"/>
          </a:xfrm>
          <a:prstGeom prst="rect">
            <a:avLst/>
          </a:prstGeom>
          <a:noFill/>
          <a:ln/>
        </p:spPr>
        <p:txBody>
          <a:bodyPr wrap="square" lIns="0" tIns="0" rIns="0" bIns="0" rtlCol="0" anchor="ctr"/>
          <a:lstStyle/>
          <a:p>
            <a:pPr indent="0" marL="0">
              <a:buNone/>
            </a:pPr>
            <a:r>
              <a:rPr lang="en-US" sz="1000" dirty="0">
                <a:solidFill>
                  <a:srgbClr val="DCE6F2"/>
                </a:solidFill>
              </a:rPr>
              <a:t>dead instructions removed</a:t>
            </a:r>
            <a:endParaRPr lang="en-US" sz="1000" dirty="0"/>
          </a:p>
        </p:txBody>
      </p:sp>
      <p:sp>
        <p:nvSpPr>
          <p:cNvPr id="24" name="cv5"/>
          <p:cNvSpPr txBox="1"/>
          <p:nvPr/>
        </p:nvSpPr>
        <p:spPr>
          <a:xfrm>
            <a:off x="5980176" y="4608576"/>
            <a:ext cx="365760" cy="274320"/>
          </a:xfrm>
          <a:prstGeom prst="rect">
            <a:avLst/>
          </a:prstGeom>
          <a:noFill/>
          <a:ln/>
        </p:spPr>
        <p:txBody>
          <a:bodyPr wrap="square" lIns="0" tIns="0" rIns="0" bIns="0" rtlCol="0" anchor="ctr"/>
          <a:lstStyle/>
          <a:p>
            <a:pPr algn="r" indent="0" marL="0">
              <a:buNone/>
            </a:pPr>
            <a:r>
              <a:rPr lang="en-US" sz="1150" b="1" dirty="0">
                <a:solidFill>
                  <a:srgbClr val="E8A33D"/>
                </a:solidFill>
                <a:latin typeface="Courier New" pitchFamily="34" charset="0"/>
                <a:ea typeface="Courier New" pitchFamily="34" charset="-122"/>
                <a:cs typeface="Courier New" pitchFamily="34" charset="-120"/>
              </a:rPr>
              <a:t>15</a:t>
            </a:r>
            <a:endParaRPr lang="en-US" sz="1150" dirty="0"/>
          </a:p>
        </p:txBody>
      </p:sp>
      <p:sp>
        <p:nvSpPr>
          <p:cNvPr id="25" name="ck6"/>
          <p:cNvSpPr txBox="1"/>
          <p:nvPr/>
        </p:nvSpPr>
        <p:spPr>
          <a:xfrm>
            <a:off x="749808" y="4956048"/>
            <a:ext cx="2331720" cy="274320"/>
          </a:xfrm>
          <a:prstGeom prst="rect">
            <a:avLst/>
          </a:prstGeom>
          <a:noFill/>
          <a:ln/>
        </p:spPr>
        <p:txBody>
          <a:bodyPr wrap="square" lIns="0" tIns="0" rIns="0" bIns="0" rtlCol="0" anchor="ctr"/>
          <a:lstStyle/>
          <a:p>
            <a:pPr indent="0" marL="0">
              <a:buNone/>
            </a:pPr>
            <a:r>
              <a:rPr lang="en-US" sz="1000" dirty="0">
                <a:solidFill>
                  <a:srgbClr val="DCE6F2"/>
                </a:solidFill>
              </a:rPr>
              <a:t>instructions hoisted out of loops</a:t>
            </a:r>
            <a:endParaRPr lang="en-US" sz="1000" dirty="0"/>
          </a:p>
        </p:txBody>
      </p:sp>
      <p:sp>
        <p:nvSpPr>
          <p:cNvPr id="26" name="cv6"/>
          <p:cNvSpPr txBox="1"/>
          <p:nvPr/>
        </p:nvSpPr>
        <p:spPr>
          <a:xfrm>
            <a:off x="3054096" y="4956048"/>
            <a:ext cx="365760" cy="274320"/>
          </a:xfrm>
          <a:prstGeom prst="rect">
            <a:avLst/>
          </a:prstGeom>
          <a:noFill/>
          <a:ln/>
        </p:spPr>
        <p:txBody>
          <a:bodyPr wrap="square" lIns="0" tIns="0" rIns="0" bIns="0" rtlCol="0" anchor="ctr"/>
          <a:lstStyle/>
          <a:p>
            <a:pPr algn="r" indent="0" marL="0">
              <a:buNone/>
            </a:pPr>
            <a:r>
              <a:rPr lang="en-US" sz="1150" b="1" dirty="0">
                <a:solidFill>
                  <a:srgbClr val="E8A33D"/>
                </a:solidFill>
                <a:latin typeface="Courier New" pitchFamily="34" charset="0"/>
                <a:ea typeface="Courier New" pitchFamily="34" charset="-122"/>
                <a:cs typeface="Courier New" pitchFamily="34" charset="-120"/>
              </a:rPr>
              <a:t>3</a:t>
            </a:r>
            <a:endParaRPr lang="en-US" sz="1150" dirty="0"/>
          </a:p>
        </p:txBody>
      </p:sp>
      <p:sp>
        <p:nvSpPr>
          <p:cNvPr id="27" name="ck7"/>
          <p:cNvSpPr txBox="1"/>
          <p:nvPr/>
        </p:nvSpPr>
        <p:spPr>
          <a:xfrm>
            <a:off x="3675888" y="4956048"/>
            <a:ext cx="2331720" cy="274320"/>
          </a:xfrm>
          <a:prstGeom prst="rect">
            <a:avLst/>
          </a:prstGeom>
          <a:noFill/>
          <a:ln/>
        </p:spPr>
        <p:txBody>
          <a:bodyPr wrap="square" lIns="0" tIns="0" rIns="0" bIns="0" rtlCol="0" anchor="ctr"/>
          <a:lstStyle/>
          <a:p>
            <a:pPr indent="0" marL="0">
              <a:buNone/>
            </a:pPr>
            <a:r>
              <a:rPr lang="en-US" sz="1000" dirty="0">
                <a:solidFill>
                  <a:srgbClr val="DCE6F2"/>
                </a:solidFill>
              </a:rPr>
              <a:t>jumps threaded or removed</a:t>
            </a:r>
            <a:endParaRPr lang="en-US" sz="1000" dirty="0"/>
          </a:p>
        </p:txBody>
      </p:sp>
      <p:sp>
        <p:nvSpPr>
          <p:cNvPr id="28" name="cv7"/>
          <p:cNvSpPr txBox="1"/>
          <p:nvPr/>
        </p:nvSpPr>
        <p:spPr>
          <a:xfrm>
            <a:off x="5980176" y="4956048"/>
            <a:ext cx="365760" cy="274320"/>
          </a:xfrm>
          <a:prstGeom prst="rect">
            <a:avLst/>
          </a:prstGeom>
          <a:noFill/>
          <a:ln/>
        </p:spPr>
        <p:txBody>
          <a:bodyPr wrap="square" lIns="0" tIns="0" rIns="0" bIns="0" rtlCol="0" anchor="ctr"/>
          <a:lstStyle/>
          <a:p>
            <a:pPr algn="r" indent="0" marL="0">
              <a:buNone/>
            </a:pPr>
            <a:r>
              <a:rPr lang="en-US" sz="1150" b="1" dirty="0">
                <a:solidFill>
                  <a:srgbClr val="E8A33D"/>
                </a:solidFill>
                <a:latin typeface="Courier New" pitchFamily="34" charset="0"/>
                <a:ea typeface="Courier New" pitchFamily="34" charset="-122"/>
                <a:cs typeface="Courier New" pitchFamily="34" charset="-120"/>
              </a:rPr>
              <a:t>6</a:t>
            </a:r>
            <a:endParaRPr lang="en-US" sz="1150" dirty="0"/>
          </a:p>
        </p:txBody>
      </p:sp>
      <p:sp>
        <p:nvSpPr>
          <p:cNvPr id="29" name="ck8"/>
          <p:cNvSpPr txBox="1"/>
          <p:nvPr/>
        </p:nvSpPr>
        <p:spPr>
          <a:xfrm>
            <a:off x="749808" y="5303520"/>
            <a:ext cx="2331720" cy="274320"/>
          </a:xfrm>
          <a:prstGeom prst="rect">
            <a:avLst/>
          </a:prstGeom>
          <a:noFill/>
          <a:ln/>
        </p:spPr>
        <p:txBody>
          <a:bodyPr wrap="square" lIns="0" tIns="0" rIns="0" bIns="0" rtlCol="0" anchor="ctr"/>
          <a:lstStyle/>
          <a:p>
            <a:pPr indent="0" marL="0">
              <a:buNone/>
            </a:pPr>
            <a:r>
              <a:rPr lang="en-US" sz="1000" dirty="0">
                <a:solidFill>
                  <a:srgbClr val="DCE6F2"/>
                </a:solidFill>
              </a:rPr>
              <a:t>unreachable blocks removed</a:t>
            </a:r>
            <a:endParaRPr lang="en-US" sz="1000" dirty="0"/>
          </a:p>
        </p:txBody>
      </p:sp>
      <p:sp>
        <p:nvSpPr>
          <p:cNvPr id="30" name="cv8"/>
          <p:cNvSpPr txBox="1"/>
          <p:nvPr/>
        </p:nvSpPr>
        <p:spPr>
          <a:xfrm>
            <a:off x="3054096" y="5303520"/>
            <a:ext cx="365760" cy="274320"/>
          </a:xfrm>
          <a:prstGeom prst="rect">
            <a:avLst/>
          </a:prstGeom>
          <a:noFill/>
          <a:ln/>
        </p:spPr>
        <p:txBody>
          <a:bodyPr wrap="square" lIns="0" tIns="0" rIns="0" bIns="0" rtlCol="0" anchor="ctr"/>
          <a:lstStyle/>
          <a:p>
            <a:pPr algn="r" indent="0" marL="0">
              <a:buNone/>
            </a:pPr>
            <a:r>
              <a:rPr lang="en-US" sz="1150" b="1" dirty="0">
                <a:solidFill>
                  <a:srgbClr val="E8A33D"/>
                </a:solidFill>
                <a:latin typeface="Courier New" pitchFamily="34" charset="0"/>
                <a:ea typeface="Courier New" pitchFamily="34" charset="-122"/>
                <a:cs typeface="Courier New" pitchFamily="34" charset="-120"/>
              </a:rPr>
              <a:t>2</a:t>
            </a:r>
            <a:endParaRPr lang="en-US" sz="1150" dirty="0"/>
          </a:p>
        </p:txBody>
      </p:sp>
      <p:sp>
        <p:nvSpPr>
          <p:cNvPr id="31" name="ck9"/>
          <p:cNvSpPr txBox="1"/>
          <p:nvPr/>
        </p:nvSpPr>
        <p:spPr>
          <a:xfrm>
            <a:off x="3675888" y="5303520"/>
            <a:ext cx="2331720" cy="274320"/>
          </a:xfrm>
          <a:prstGeom prst="rect">
            <a:avLst/>
          </a:prstGeom>
          <a:noFill/>
          <a:ln/>
        </p:spPr>
        <p:txBody>
          <a:bodyPr wrap="square" lIns="0" tIns="0" rIns="0" bIns="0" rtlCol="0" anchor="ctr"/>
          <a:lstStyle/>
          <a:p>
            <a:pPr indent="0" marL="0">
              <a:buNone/>
            </a:pPr>
            <a:r>
              <a:rPr lang="en-US" sz="1000" dirty="0">
                <a:solidFill>
                  <a:srgbClr val="DCE6F2"/>
                </a:solidFill>
              </a:rPr>
              <a:t>peephole rewrites</a:t>
            </a:r>
            <a:endParaRPr lang="en-US" sz="1000" dirty="0"/>
          </a:p>
        </p:txBody>
      </p:sp>
      <p:sp>
        <p:nvSpPr>
          <p:cNvPr id="32" name="cv9"/>
          <p:cNvSpPr txBox="1"/>
          <p:nvPr/>
        </p:nvSpPr>
        <p:spPr>
          <a:xfrm>
            <a:off x="5980176" y="5303520"/>
            <a:ext cx="365760" cy="274320"/>
          </a:xfrm>
          <a:prstGeom prst="rect">
            <a:avLst/>
          </a:prstGeom>
          <a:noFill/>
          <a:ln/>
        </p:spPr>
        <p:txBody>
          <a:bodyPr wrap="square" lIns="0" tIns="0" rIns="0" bIns="0" rtlCol="0" anchor="ctr"/>
          <a:lstStyle/>
          <a:p>
            <a:pPr algn="r" indent="0" marL="0">
              <a:buNone/>
            </a:pPr>
            <a:r>
              <a:rPr lang="en-US" sz="1150" b="1" dirty="0">
                <a:solidFill>
                  <a:srgbClr val="E8A33D"/>
                </a:solidFill>
                <a:latin typeface="Courier New" pitchFamily="34" charset="0"/>
                <a:ea typeface="Courier New" pitchFamily="34" charset="-122"/>
                <a:cs typeface="Courier New" pitchFamily="34" charset="-120"/>
              </a:rPr>
              <a:t>4</a:t>
            </a:r>
            <a:endParaRPr lang="en-US" sz="1150" dirty="0"/>
          </a:p>
        </p:txBody>
      </p:sp>
      <p:sp>
        <p:nvSpPr>
          <p:cNvPr id="33" name="cbox_f"/>
          <p:cNvSpPr txBox="1"/>
          <p:nvPr/>
        </p:nvSpPr>
        <p:spPr>
          <a:xfrm>
            <a:off x="749808" y="5614416"/>
            <a:ext cx="5669280" cy="237744"/>
          </a:xfrm>
          <a:prstGeom prst="rect">
            <a:avLst/>
          </a:prstGeom>
          <a:noFill/>
          <a:ln/>
        </p:spPr>
        <p:txBody>
          <a:bodyPr wrap="square" lIns="0" tIns="0" rIns="0" bIns="0" rtlCol="0" anchor="ctr"/>
          <a:lstStyle/>
          <a:p>
            <a:pPr indent="0" marL="0">
              <a:buNone/>
            </a:pPr>
            <a:r>
              <a:rPr lang="en-US" sz="1100" i="1" dirty="0">
                <a:solidFill>
                  <a:srgbClr val="35C6A8"/>
                </a:solidFill>
              </a:rPr>
              <a:t>61 three-address instructions in, 37 out</a:t>
            </a:r>
            <a:endParaRPr lang="en-US" sz="1100" dirty="0"/>
          </a:p>
        </p:txBody>
      </p:sp>
      <p:sp>
        <p:nvSpPr>
          <p:cNvPr id="34" name="enable"/>
          <p:cNvSpPr/>
          <p:nvPr/>
        </p:nvSpPr>
        <p:spPr>
          <a:xfrm>
            <a:off x="6876288" y="3291840"/>
            <a:ext cx="4748479" cy="2889504"/>
          </a:xfrm>
          <a:prstGeom prst="roundRect">
            <a:avLst>
              <a:gd name="adj" fmla="val 2215"/>
            </a:avLst>
          </a:prstGeom>
          <a:solidFill>
            <a:srgbClr val="16233A"/>
          </a:solidFill>
          <a:ln w="12700">
            <a:solidFill>
              <a:srgbClr val="22344F"/>
            </a:solidFill>
            <a:prstDash val="solid"/>
          </a:ln>
        </p:spPr>
      </p:sp>
      <p:sp>
        <p:nvSpPr>
          <p:cNvPr id="35" name="enable_h"/>
          <p:cNvSpPr txBox="1"/>
          <p:nvPr/>
        </p:nvSpPr>
        <p:spPr>
          <a:xfrm>
            <a:off x="7059168" y="3438144"/>
            <a:ext cx="4382719" cy="274320"/>
          </a:xfrm>
          <a:prstGeom prst="rect">
            <a:avLst/>
          </a:prstGeom>
          <a:noFill/>
          <a:ln/>
        </p:spPr>
        <p:txBody>
          <a:bodyPr wrap="square" lIns="0" tIns="0" rIns="0" bIns="0" rtlCol="0" anchor="ctr"/>
          <a:lstStyle/>
          <a:p>
            <a:pPr indent="0" marL="0">
              <a:buNone/>
            </a:pPr>
            <a:r>
              <a:rPr lang="en-US" sz="1300" b="1" dirty="0">
                <a:solidFill>
                  <a:srgbClr val="E8A33D"/>
                </a:solidFill>
              </a:rPr>
              <a:t>The pass that earns its place by producing an error message</a:t>
            </a:r>
            <a:endParaRPr lang="en-US" sz="1300" dirty="0"/>
          </a:p>
        </p:txBody>
      </p:sp>
      <p:sp>
        <p:nvSpPr>
          <p:cNvPr id="36" name="enable_b"/>
          <p:cNvSpPr txBox="1"/>
          <p:nvPr/>
        </p:nvSpPr>
        <p:spPr>
          <a:xfrm>
            <a:off x="7059168" y="3767328"/>
            <a:ext cx="4382719" cy="2267712"/>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Range checking runs after constant propagation. So this —</a:t>
            </a:r>
            <a:endParaRPr lang="en-US" sz="1200" dirty="0"/>
          </a:p>
          <a:p>
            <a:pPr indent="0" marL="0">
              <a:lnSpc>
                <a:spcPts val="1596"/>
              </a:lnSpc>
              <a:buNone/>
            </a:pPr>
            <a:endParaRPr lang="en-US" sz="1200" dirty="0"/>
          </a:p>
          <a:p>
            <a:pPr indent="0" marL="0">
              <a:lnSpc>
                <a:spcPts val="1596"/>
              </a:lnSpc>
              <a:buNone/>
            </a:pPr>
            <a:r>
              <a:rPr lang="en-US" sz="1200" dirty="0">
                <a:solidFill>
                  <a:srgbClr val="DCE6F2"/>
                </a:solidFill>
              </a:rPr>
              <a:t>     let h = 450</a:t>
            </a:r>
            <a:endParaRPr lang="en-US" sz="1200" dirty="0"/>
          </a:p>
          <a:p>
            <a:pPr indent="0" marL="0">
              <a:lnSpc>
                <a:spcPts val="1596"/>
              </a:lnSpc>
              <a:buNone/>
            </a:pPr>
            <a:r>
              <a:rPr lang="en-US" sz="1200" dirty="0">
                <a:solidFill>
                  <a:srgbClr val="DCE6F2"/>
                </a:solidFill>
              </a:rPr>
              <a:t>     clear AI202 heading h</a:t>
            </a:r>
            <a:endParaRPr lang="en-US" sz="1200" dirty="0"/>
          </a:p>
          <a:p>
            <a:pPr indent="0" marL="0">
              <a:lnSpc>
                <a:spcPts val="1596"/>
              </a:lnSpc>
              <a:buNone/>
            </a:pPr>
            <a:endParaRPr lang="en-US" sz="1200" dirty="0"/>
          </a:p>
          <a:p>
            <a:pPr indent="0" marL="0">
              <a:lnSpc>
                <a:spcPts val="1596"/>
              </a:lnSpc>
              <a:buNone/>
            </a:pPr>
            <a:r>
              <a:rPr lang="en-US" sz="1200" dirty="0">
                <a:solidFill>
                  <a:srgbClr val="DCE6F2"/>
                </a:solidFill>
              </a:rPr>
              <a:t>— is a compile-time error, because by then the compiler knows what h holds.</a:t>
            </a:r>
            <a:endParaRPr lang="en-US" sz="1200" dirty="0"/>
          </a:p>
          <a:p>
            <a:pPr indent="0" marL="0">
              <a:lnSpc>
                <a:spcPts val="1596"/>
              </a:lnSpc>
              <a:buNone/>
            </a:pPr>
            <a:endParaRPr lang="en-US" sz="1200" dirty="0"/>
          </a:p>
          <a:p>
            <a:pPr indent="0" marL="0">
              <a:lnSpc>
                <a:spcPts val="1596"/>
              </a:lnSpc>
              <a:buNone/>
            </a:pPr>
            <a:r>
              <a:rPr lang="en-US" sz="1200" dirty="0">
                <a:solidFill>
                  <a:srgbClr val="DCE6F2"/>
                </a:solidFill>
              </a:rPr>
              <a:t>An optimisation is usually justified by the code it produces. This one is justified by the error message it makes possible.</a:t>
            </a:r>
            <a:endParaRPr lang="en-US" sz="12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500"/>
                                        <p:tgtEl>
                                          <p:spTgt spid="2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500"/>
                                        <p:tgtEl>
                                          <p:spTgt spid="2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500"/>
                                        <p:tgtEl>
                                          <p:spTgt spid="3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500"/>
                                        <p:tgtEl>
                                          <p:spTgt spid="1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500"/>
                                        <p:tgtEl>
                                          <p:spTgt spid="2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500"/>
                                        <p:tgtEl>
                                          <p:spTgt spid="2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500"/>
                                        <p:tgtEl>
                                          <p:spTgt spid="2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500"/>
                                        <p:tgtEl>
                                          <p:spTgt spid="2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500"/>
                                        <p:tgtEl>
                                          <p:spTgt spid="2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500"/>
                                        <p:tgtEl>
                                          <p:spTgt spid="3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33" grpId="0"/>
      <p:bldP spid="13" grpId="0"/>
      <p:bldP spid="15" grpId="0"/>
      <p:bldP spid="17" grpId="0"/>
      <p:bldP spid="19" grpId="0"/>
      <p:bldP spid="21" grpId="0"/>
      <p:bldP spid="23" grpId="0"/>
      <p:bldP spid="25" grpId="0"/>
      <p:bldP spid="27" grpId="0"/>
      <p:bldP spid="29" grpId="0"/>
      <p:bldP spid="31" grpId="0"/>
      <p:bldP spid="14" grpId="0"/>
      <p:bldP spid="16" grpId="0"/>
      <p:bldP spid="18" grpId="0"/>
      <p:bldP spid="20" grpId="0"/>
      <p:bldP spid="22" grpId="0"/>
      <p:bldP spid="24" grpId="0"/>
      <p:bldP spid="26" grpId="0"/>
      <p:bldP spid="28" grpId="0"/>
      <p:bldP spid="30" grpId="0"/>
      <p:bldP spid="32" grpId="0"/>
      <p:bldP spid="34" grpId="0"/>
      <p:bldP spid="35" grpId="0"/>
      <p:bldP spid="36"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The one rule that makes all of it safe</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Here the domain constrains the compiler, not the other way round.</a:t>
            </a:r>
            <a:endParaRPr lang="en-US" sz="1500" dirty="0"/>
          </a:p>
        </p:txBody>
      </p:sp>
      <p:sp>
        <p:nvSpPr>
          <p:cNvPr id="4" name="b_loop"/>
          <p:cNvSpPr/>
          <p:nvPr/>
        </p:nvSpPr>
        <p:spPr>
          <a:xfrm>
            <a:off x="566928" y="1572768"/>
            <a:ext cx="5120640" cy="1371600"/>
          </a:xfrm>
          <a:prstGeom prst="roundRect">
            <a:avLst>
              <a:gd name="adj" fmla="val 4000"/>
            </a:avLst>
          </a:prstGeom>
          <a:solidFill>
            <a:srgbClr val="16233A"/>
          </a:solidFill>
          <a:ln w="12700">
            <a:solidFill>
              <a:srgbClr val="22344F"/>
            </a:solidFill>
            <a:prstDash val="solid"/>
          </a:ln>
        </p:spPr>
      </p:sp>
      <p:sp>
        <p:nvSpPr>
          <p:cNvPr id="5" name="b_loop_label"/>
          <p:cNvSpPr txBox="1"/>
          <p:nvPr/>
        </p:nvSpPr>
        <p:spPr>
          <a:xfrm>
            <a:off x="731520" y="1691640"/>
            <a:ext cx="4791456" cy="237744"/>
          </a:xfrm>
          <a:prstGeom prst="rect">
            <a:avLst/>
          </a:prstGeom>
          <a:noFill/>
          <a:ln/>
        </p:spPr>
        <p:txBody>
          <a:bodyPr wrap="square" lIns="0" tIns="0" rIns="0" bIns="0" rtlCol="0" anchor="ctr"/>
          <a:lstStyle/>
          <a:p>
            <a:pPr indent="0" marL="0">
              <a:buNone/>
            </a:pPr>
            <a:r>
              <a:rPr lang="en-US" sz="1050" b="1" spc="120" kern="0" dirty="0">
                <a:solidFill>
                  <a:srgbClr val="8D9CAF"/>
                </a:solidFill>
              </a:rPr>
              <a:t>A PERFECTLY ORDINARY LOOP</a:t>
            </a:r>
            <a:endParaRPr lang="en-US" sz="1050" dirty="0"/>
          </a:p>
        </p:txBody>
      </p:sp>
      <p:sp>
        <p:nvSpPr>
          <p:cNvPr id="6" name="b_loop_text"/>
          <p:cNvSpPr txBox="1"/>
          <p:nvPr/>
        </p:nvSpPr>
        <p:spPr>
          <a:xfrm>
            <a:off x="731520" y="2002536"/>
            <a:ext cx="4791456" cy="832104"/>
          </a:xfrm>
          <a:prstGeom prst="rect">
            <a:avLst/>
          </a:prstGeom>
          <a:noFill/>
          <a:ln/>
        </p:spPr>
        <p:txBody>
          <a:bodyPr wrap="square" lIns="0" tIns="0" rIns="0" bIns="0" rtlCol="0" anchor="t"/>
          <a:lstStyle/>
          <a:p>
            <a:pPr indent="0" marL="0">
              <a:lnSpc>
                <a:spcPts val="1716"/>
              </a:lnSpc>
              <a:buNone/>
            </a:pPr>
            <a:r>
              <a:rPr lang="en-US" sz="1300" b="1" dirty="0">
                <a:solidFill>
                  <a:srgbClr val="35C6A8"/>
                </a:solidFill>
                <a:latin typeface="Courier New" pitchFamily="34" charset="0"/>
                <a:ea typeface="Courier New" pitchFamily="34" charset="-122"/>
                <a:cs typeface="Courier New" pitchFamily="34" charset="-120"/>
              </a:rPr>
              <a:t>while</a:t>
            </a:r>
            <a:r>
              <a:rPr lang="en-US" sz="1300" dirty="0">
                <a:solidFill>
                  <a:srgbClr val="DCE6F2"/>
                </a:solidFill>
                <a:latin typeface="Courier New" pitchFamily="34" charset="0"/>
                <a:ea typeface="Courier New" pitchFamily="34" charset="-122"/>
                <a:cs typeface="Courier New" pitchFamily="34" charset="-120"/>
              </a:rPr>
              <a:t> </a:t>
            </a:r>
            <a:r>
              <a:rPr lang="en-US" sz="1300" dirty="0">
                <a:solidFill>
                  <a:srgbClr val="E8A33D"/>
                </a:solidFill>
                <a:latin typeface="Courier New" pitchFamily="34" charset="0"/>
                <a:ea typeface="Courier New" pitchFamily="34" charset="-122"/>
                <a:cs typeface="Courier New" pitchFamily="34" charset="-120"/>
              </a:rPr>
              <a:t>AI202</a:t>
            </a:r>
            <a:r>
              <a:rPr lang="en-US" sz="1300" dirty="0">
                <a:solidFill>
                  <a:srgbClr val="8D9CAF"/>
                </a:solidFill>
                <a:latin typeface="Courier New" pitchFamily="34" charset="0"/>
                <a:ea typeface="Courier New" pitchFamily="34" charset="-122"/>
                <a:cs typeface="Courier New" pitchFamily="34" charset="-120"/>
              </a:rPr>
              <a:t>.</a:t>
            </a:r>
            <a:r>
              <a:rPr lang="en-US" sz="1300" b="1" dirty="0">
                <a:solidFill>
                  <a:srgbClr val="35C6A8"/>
                </a:solidFill>
                <a:latin typeface="Courier New" pitchFamily="34" charset="0"/>
                <a:ea typeface="Courier New" pitchFamily="34" charset="-122"/>
                <a:cs typeface="Courier New" pitchFamily="34" charset="-120"/>
              </a:rPr>
              <a:t>alt</a:t>
            </a:r>
            <a:r>
              <a:rPr lang="en-US" sz="1300" dirty="0">
                <a:solidFill>
                  <a:srgbClr val="DCE6F2"/>
                </a:solidFill>
                <a:latin typeface="Courier New" pitchFamily="34" charset="0"/>
                <a:ea typeface="Courier New" pitchFamily="34" charset="-122"/>
                <a:cs typeface="Courier New" pitchFamily="34" charset="-120"/>
              </a:rPr>
              <a:t> </a:t>
            </a:r>
            <a:r>
              <a:rPr lang="en-US" sz="1300" dirty="0">
                <a:solidFill>
                  <a:srgbClr val="8D9CAF"/>
                </a:solidFill>
                <a:latin typeface="Courier New" pitchFamily="34" charset="0"/>
                <a:ea typeface="Courier New" pitchFamily="34" charset="-122"/>
                <a:cs typeface="Courier New" pitchFamily="34" charset="-120"/>
              </a:rPr>
              <a:t>&lt;</a:t>
            </a:r>
            <a:r>
              <a:rPr lang="en-US" sz="1300" dirty="0">
                <a:solidFill>
                  <a:srgbClr val="DCE6F2"/>
                </a:solidFill>
                <a:latin typeface="Courier New" pitchFamily="34" charset="0"/>
                <a:ea typeface="Courier New" pitchFamily="34" charset="-122"/>
                <a:cs typeface="Courier New" pitchFamily="34" charset="-120"/>
              </a:rPr>
              <a:t> </a:t>
            </a:r>
            <a:r>
              <a:rPr lang="en-US" sz="1300" dirty="0">
                <a:solidFill>
                  <a:srgbClr val="FFFFFF"/>
                </a:solidFill>
                <a:latin typeface="Courier New" pitchFamily="34" charset="0"/>
                <a:ea typeface="Courier New" pitchFamily="34" charset="-122"/>
                <a:cs typeface="Courier New" pitchFamily="34" charset="-120"/>
              </a:rPr>
              <a:t>FL300</a:t>
            </a:r>
            <a:r>
              <a:rPr lang="en-US" sz="1300" dirty="0">
                <a:solidFill>
                  <a:srgbClr val="DCE6F2"/>
                </a:solidFill>
                <a:latin typeface="Courier New" pitchFamily="34" charset="0"/>
                <a:ea typeface="Courier New" pitchFamily="34" charset="-122"/>
                <a:cs typeface="Courier New" pitchFamily="34" charset="-120"/>
              </a:rPr>
              <a:t> </a:t>
            </a:r>
            <a:r>
              <a:rPr lang="en-US" sz="1300" b="1" dirty="0">
                <a:solidFill>
                  <a:srgbClr val="35C6A8"/>
                </a:solidFill>
                <a:latin typeface="Courier New" pitchFamily="34" charset="0"/>
                <a:ea typeface="Courier New" pitchFamily="34" charset="-122"/>
                <a:cs typeface="Courier New" pitchFamily="34" charset="-120"/>
              </a:rPr>
              <a:t>do</a:t>
            </a:r>
            <a:endParaRPr lang="en-US" sz="1300" dirty="0"/>
          </a:p>
          <a:p>
            <a:pPr indent="0" marL="0">
              <a:lnSpc>
                <a:spcPts val="1716"/>
              </a:lnSpc>
              <a:buNone/>
            </a:pPr>
            <a:r>
              <a:rPr lang="en-US" sz="1300" dirty="0">
                <a:solidFill>
                  <a:srgbClr val="DCE6F2"/>
                </a:solidFill>
                <a:latin typeface="Courier New" pitchFamily="34" charset="0"/>
                <a:ea typeface="Courier New" pitchFamily="34" charset="-122"/>
                <a:cs typeface="Courier New" pitchFamily="34" charset="-120"/>
              </a:rPr>
              <a:t>  </a:t>
            </a:r>
            <a:r>
              <a:rPr lang="en-US" sz="1300" b="1" dirty="0">
                <a:solidFill>
                  <a:srgbClr val="35C6A8"/>
                </a:solidFill>
                <a:latin typeface="Courier New" pitchFamily="34" charset="0"/>
                <a:ea typeface="Courier New" pitchFamily="34" charset="-122"/>
                <a:cs typeface="Courier New" pitchFamily="34" charset="-120"/>
              </a:rPr>
              <a:t>advance</a:t>
            </a:r>
            <a:r>
              <a:rPr lang="en-US" sz="1300" dirty="0">
                <a:solidFill>
                  <a:srgbClr val="DCE6F2"/>
                </a:solidFill>
                <a:latin typeface="Courier New" pitchFamily="34" charset="0"/>
                <a:ea typeface="Courier New" pitchFamily="34" charset="-122"/>
                <a:cs typeface="Courier New" pitchFamily="34" charset="-120"/>
              </a:rPr>
              <a:t> </a:t>
            </a:r>
            <a:r>
              <a:rPr lang="en-US" sz="1300" dirty="0">
                <a:solidFill>
                  <a:srgbClr val="FFFFFF"/>
                </a:solidFill>
                <a:latin typeface="Courier New" pitchFamily="34" charset="0"/>
                <a:ea typeface="Courier New" pitchFamily="34" charset="-122"/>
                <a:cs typeface="Courier New" pitchFamily="34" charset="-120"/>
              </a:rPr>
              <a:t>10</a:t>
            </a:r>
            <a:endParaRPr lang="en-US" sz="1300" dirty="0"/>
          </a:p>
          <a:p>
            <a:pPr indent="0" marL="0">
              <a:lnSpc>
                <a:spcPts val="1716"/>
              </a:lnSpc>
              <a:buNone/>
            </a:pPr>
            <a:r>
              <a:rPr lang="en-US" sz="1300" b="1" dirty="0">
                <a:solidFill>
                  <a:srgbClr val="35C6A8"/>
                </a:solidFill>
                <a:latin typeface="Courier New" pitchFamily="34" charset="0"/>
                <a:ea typeface="Courier New" pitchFamily="34" charset="-122"/>
                <a:cs typeface="Courier New" pitchFamily="34" charset="-120"/>
              </a:rPr>
              <a:t>end</a:t>
            </a:r>
            <a:endParaRPr lang="en-US" sz="1300" dirty="0"/>
          </a:p>
        </p:txBody>
      </p:sp>
      <p:sp>
        <p:nvSpPr>
          <p:cNvPr id="7" name="b_bad"/>
          <p:cNvSpPr/>
          <p:nvPr/>
        </p:nvSpPr>
        <p:spPr>
          <a:xfrm>
            <a:off x="566928" y="3054096"/>
            <a:ext cx="5120640" cy="1280160"/>
          </a:xfrm>
          <a:prstGeom prst="roundRect">
            <a:avLst>
              <a:gd name="adj" fmla="val 5000"/>
            </a:avLst>
          </a:prstGeom>
          <a:solidFill>
            <a:srgbClr val="16233A"/>
          </a:solidFill>
          <a:ln w="12700">
            <a:solidFill>
              <a:srgbClr val="22344F"/>
            </a:solidFill>
            <a:prstDash val="solid"/>
          </a:ln>
        </p:spPr>
      </p:sp>
      <p:sp>
        <p:nvSpPr>
          <p:cNvPr id="8" name="b_bad_h"/>
          <p:cNvSpPr txBox="1"/>
          <p:nvPr/>
        </p:nvSpPr>
        <p:spPr>
          <a:xfrm>
            <a:off x="749808" y="3200400"/>
            <a:ext cx="4754880" cy="274320"/>
          </a:xfrm>
          <a:prstGeom prst="rect">
            <a:avLst/>
          </a:prstGeom>
          <a:noFill/>
          <a:ln/>
        </p:spPr>
        <p:txBody>
          <a:bodyPr wrap="square" lIns="0" tIns="0" rIns="0" bIns="0" rtlCol="0" anchor="ctr"/>
          <a:lstStyle/>
          <a:p>
            <a:pPr indent="0" marL="0">
              <a:buNone/>
            </a:pPr>
            <a:r>
              <a:rPr lang="en-US" sz="1300" b="1" dirty="0">
                <a:solidFill>
                  <a:srgbClr val="E85D75"/>
                </a:solidFill>
              </a:rPr>
              <a:t>What a textbook optimiser would do</a:t>
            </a:r>
            <a:endParaRPr lang="en-US" sz="1300" dirty="0"/>
          </a:p>
        </p:txBody>
      </p:sp>
      <p:sp>
        <p:nvSpPr>
          <p:cNvPr id="9" name="b_bad_b"/>
          <p:cNvSpPr txBox="1"/>
          <p:nvPr/>
        </p:nvSpPr>
        <p:spPr>
          <a:xfrm>
            <a:off x="749808" y="3529584"/>
            <a:ext cx="4754880" cy="658368"/>
          </a:xfrm>
          <a:prstGeom prst="rect">
            <a:avLst/>
          </a:prstGeom>
          <a:noFill/>
          <a:ln/>
        </p:spPr>
        <p:txBody>
          <a:bodyPr wrap="square" lIns="0" tIns="0" rIns="0" bIns="0" rtlCol="0" anchor="t"/>
          <a:lstStyle/>
          <a:p>
            <a:pPr indent="0" marL="0">
              <a:lnSpc>
                <a:spcPts val="1663"/>
              </a:lnSpc>
              <a:buNone/>
            </a:pPr>
            <a:r>
              <a:rPr lang="en-US" sz="1250" dirty="0">
                <a:solidFill>
                  <a:srgbClr val="DCE6F2"/>
                </a:solidFill>
              </a:rPr>
              <a:t>AI202.alt looks loop-invariant: same operands, nothing in the loop assigns to it. Hoist it, evaluate once — and the loop never terminates.</a:t>
            </a:r>
            <a:endParaRPr lang="en-US" sz="1250" dirty="0"/>
          </a:p>
        </p:txBody>
      </p:sp>
      <p:sp>
        <p:nvSpPr>
          <p:cNvPr id="10" name="b_rule"/>
          <p:cNvSpPr/>
          <p:nvPr/>
        </p:nvSpPr>
        <p:spPr>
          <a:xfrm>
            <a:off x="5961888" y="1572768"/>
            <a:ext cx="5662879" cy="1316736"/>
          </a:xfrm>
          <a:prstGeom prst="roundRect">
            <a:avLst>
              <a:gd name="adj" fmla="val 4861"/>
            </a:avLst>
          </a:prstGeom>
          <a:solidFill>
            <a:srgbClr val="16233A"/>
          </a:solidFill>
          <a:ln w="12700">
            <a:solidFill>
              <a:srgbClr val="22344F"/>
            </a:solidFill>
            <a:prstDash val="solid"/>
          </a:ln>
        </p:spPr>
      </p:sp>
      <p:sp>
        <p:nvSpPr>
          <p:cNvPr id="11" name="b_rule_h"/>
          <p:cNvSpPr txBox="1"/>
          <p:nvPr/>
        </p:nvSpPr>
        <p:spPr>
          <a:xfrm>
            <a:off x="6144768" y="1719072"/>
            <a:ext cx="5297119" cy="274320"/>
          </a:xfrm>
          <a:prstGeom prst="rect">
            <a:avLst/>
          </a:prstGeom>
          <a:noFill/>
          <a:ln/>
        </p:spPr>
        <p:txBody>
          <a:bodyPr wrap="square" lIns="0" tIns="0" rIns="0" bIns="0" rtlCol="0" anchor="ctr"/>
          <a:lstStyle/>
          <a:p>
            <a:pPr indent="0" marL="0">
              <a:buNone/>
            </a:pPr>
            <a:r>
              <a:rPr lang="en-US" sz="1300" b="1" dirty="0">
                <a:solidFill>
                  <a:srgbClr val="35C6A8"/>
                </a:solidFill>
              </a:rPr>
              <a:t>The rule</a:t>
            </a:r>
            <a:endParaRPr lang="en-US" sz="1300" dirty="0"/>
          </a:p>
        </p:txBody>
      </p:sp>
      <p:sp>
        <p:nvSpPr>
          <p:cNvPr id="12" name="b_rule_b"/>
          <p:cNvSpPr txBox="1"/>
          <p:nvPr/>
        </p:nvSpPr>
        <p:spPr>
          <a:xfrm>
            <a:off x="6144768" y="2048256"/>
            <a:ext cx="5297119" cy="694944"/>
          </a:xfrm>
          <a:prstGeom prst="rect">
            <a:avLst/>
          </a:prstGeom>
          <a:noFill/>
          <a:ln/>
        </p:spPr>
        <p:txBody>
          <a:bodyPr wrap="square" lIns="0" tIns="0" rIns="0" bIns="0" rtlCol="0" anchor="t"/>
          <a:lstStyle/>
          <a:p>
            <a:pPr indent="0" marL="0">
              <a:lnSpc>
                <a:spcPts val="1729"/>
              </a:lnSpc>
              <a:buNone/>
            </a:pPr>
            <a:r>
              <a:rPr lang="en-US" sz="1300" dirty="0">
                <a:solidFill>
                  <a:srgbClr val="DCE6F2"/>
                </a:solidFill>
              </a:rPr>
              <a:t>clear, advance, enter and call change the simulated world. They are barriers, and a read of that world never moves across one.</a:t>
            </a:r>
            <a:endParaRPr lang="en-US" sz="1300" dirty="0"/>
          </a:p>
        </p:txBody>
      </p:sp>
      <p:sp>
        <p:nvSpPr>
          <p:cNvPr id="13" name="b_code"/>
          <p:cNvSpPr/>
          <p:nvPr/>
        </p:nvSpPr>
        <p:spPr>
          <a:xfrm>
            <a:off x="5961888" y="3017520"/>
            <a:ext cx="5662879" cy="1792224"/>
          </a:xfrm>
          <a:prstGeom prst="roundRect">
            <a:avLst>
              <a:gd name="adj" fmla="val 3061"/>
            </a:avLst>
          </a:prstGeom>
          <a:solidFill>
            <a:srgbClr val="16233A"/>
          </a:solidFill>
          <a:ln w="12700">
            <a:solidFill>
              <a:srgbClr val="22344F"/>
            </a:solidFill>
            <a:prstDash val="solid"/>
          </a:ln>
        </p:spPr>
      </p:sp>
      <p:sp>
        <p:nvSpPr>
          <p:cNvPr id="14" name="b_code_label"/>
          <p:cNvSpPr txBox="1"/>
          <p:nvPr/>
        </p:nvSpPr>
        <p:spPr>
          <a:xfrm>
            <a:off x="6126480" y="3136392"/>
            <a:ext cx="5333695" cy="237744"/>
          </a:xfrm>
          <a:prstGeom prst="rect">
            <a:avLst/>
          </a:prstGeom>
          <a:noFill/>
          <a:ln/>
        </p:spPr>
        <p:txBody>
          <a:bodyPr wrap="square" lIns="0" tIns="0" rIns="0" bIns="0" rtlCol="0" anchor="ctr"/>
          <a:lstStyle/>
          <a:p>
            <a:pPr indent="0" marL="0">
              <a:buNone/>
            </a:pPr>
            <a:r>
              <a:rPr lang="en-US" sz="1050" b="1" spc="120" kern="0" dirty="0">
                <a:solidFill>
                  <a:srgbClr val="8D9CAF"/>
                </a:solidFill>
              </a:rPr>
              <a:t>src/cfg.c</a:t>
            </a:r>
            <a:endParaRPr lang="en-US" sz="1050" dirty="0"/>
          </a:p>
        </p:txBody>
      </p:sp>
      <p:sp>
        <p:nvSpPr>
          <p:cNvPr id="15" name="b_code_text"/>
          <p:cNvSpPr txBox="1"/>
          <p:nvPr/>
        </p:nvSpPr>
        <p:spPr>
          <a:xfrm>
            <a:off x="6126480" y="3447288"/>
            <a:ext cx="5333695" cy="1252728"/>
          </a:xfrm>
          <a:prstGeom prst="rect">
            <a:avLst/>
          </a:prstGeom>
          <a:noFill/>
          <a:ln/>
        </p:spPr>
        <p:txBody>
          <a:bodyPr wrap="square" lIns="0" tIns="0" rIns="0" bIns="0" rtlCol="0" anchor="t"/>
          <a:lstStyle/>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int ir_is_barrier(const Ir *ir) {</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switch (ir-&gt;op) {</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case </a:t>
            </a:r>
            <a:r>
              <a:rPr lang="en-US" sz="1100" b="1" dirty="0">
                <a:solidFill>
                  <a:srgbClr val="E8A33D"/>
                </a:solidFill>
                <a:latin typeface="Courier New" pitchFamily="34" charset="0"/>
                <a:ea typeface="Courier New" pitchFamily="34" charset="-122"/>
                <a:cs typeface="Courier New" pitchFamily="34" charset="-120"/>
              </a:rPr>
              <a:t>IR_ADVANCE</a:t>
            </a:r>
            <a:r>
              <a:rPr lang="en-US" sz="1100" dirty="0">
                <a:solidFill>
                  <a:srgbClr val="DCE6F2"/>
                </a:solidFill>
                <a:latin typeface="Courier New" pitchFamily="34" charset="0"/>
                <a:ea typeface="Courier New" pitchFamily="34" charset="-122"/>
                <a:cs typeface="Courier New" pitchFamily="34" charset="-120"/>
              </a:rPr>
              <a:t>: case </a:t>
            </a:r>
            <a:r>
              <a:rPr lang="en-US" sz="1100" b="1" dirty="0">
                <a:solidFill>
                  <a:srgbClr val="E8A33D"/>
                </a:solidFill>
                <a:latin typeface="Courier New" pitchFamily="34" charset="0"/>
                <a:ea typeface="Courier New" pitchFamily="34" charset="-122"/>
                <a:cs typeface="Courier New" pitchFamily="34" charset="-120"/>
              </a:rPr>
              <a:t>IR_CLEAR</a:t>
            </a:r>
            <a:r>
              <a:rPr lang="en-US" sz="1100" dirty="0">
                <a:solidFill>
                  <a:srgbClr val="DCE6F2"/>
                </a:solidFill>
                <a:latin typeface="Courier New" pitchFamily="34" charset="0"/>
                <a:ea typeface="Courier New" pitchFamily="34" charset="-122"/>
                <a:cs typeface="Courier New" pitchFamily="34" charset="-120"/>
              </a:rPr>
              <a:t>:</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case </a:t>
            </a:r>
            <a:r>
              <a:rPr lang="en-US" sz="1100" b="1" dirty="0">
                <a:solidFill>
                  <a:srgbClr val="E8A33D"/>
                </a:solidFill>
                <a:latin typeface="Courier New" pitchFamily="34" charset="0"/>
                <a:ea typeface="Courier New" pitchFamily="34" charset="-122"/>
                <a:cs typeface="Courier New" pitchFamily="34" charset="-120"/>
              </a:rPr>
              <a:t>IR_ENTER</a:t>
            </a:r>
            <a:r>
              <a:rPr lang="en-US" sz="1100" dirty="0">
                <a:solidFill>
                  <a:srgbClr val="DCE6F2"/>
                </a:solidFill>
                <a:latin typeface="Courier New" pitchFamily="34" charset="0"/>
                <a:ea typeface="Courier New" pitchFamily="34" charset="-122"/>
                <a:cs typeface="Courier New" pitchFamily="34" charset="-120"/>
              </a:rPr>
              <a:t>:   case </a:t>
            </a:r>
            <a:r>
              <a:rPr lang="en-US" sz="1100" b="1" dirty="0">
                <a:solidFill>
                  <a:srgbClr val="E8A33D"/>
                </a:solidFill>
                <a:latin typeface="Courier New" pitchFamily="34" charset="0"/>
                <a:ea typeface="Courier New" pitchFamily="34" charset="-122"/>
                <a:cs typeface="Courier New" pitchFamily="34" charset="-120"/>
              </a:rPr>
              <a:t>IR_CALL</a:t>
            </a:r>
            <a:r>
              <a:rPr lang="en-US" sz="1100" dirty="0">
                <a:solidFill>
                  <a:srgbClr val="DCE6F2"/>
                </a:solidFill>
                <a:latin typeface="Courier New" pitchFamily="34" charset="0"/>
                <a:ea typeface="Courier New" pitchFamily="34" charset="-122"/>
                <a:cs typeface="Courier New" pitchFamily="34" charset="-120"/>
              </a:rPr>
              <a:t>:  return 1;</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default: return 0;</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 }</a:t>
            </a:r>
            <a:endParaRPr lang="en-US" sz="1100" dirty="0"/>
          </a:p>
        </p:txBody>
      </p:sp>
      <p:sp>
        <p:nvSpPr>
          <p:cNvPr id="16" name="b_proof"/>
          <p:cNvSpPr/>
          <p:nvPr/>
        </p:nvSpPr>
        <p:spPr>
          <a:xfrm>
            <a:off x="566928" y="4992624"/>
            <a:ext cx="11057839" cy="1060704"/>
          </a:xfrm>
          <a:prstGeom prst="roundRect">
            <a:avLst>
              <a:gd name="adj" fmla="val 6034"/>
            </a:avLst>
          </a:prstGeom>
          <a:solidFill>
            <a:srgbClr val="16233A"/>
          </a:solidFill>
          <a:ln w="12700">
            <a:solidFill>
              <a:srgbClr val="22344F"/>
            </a:solidFill>
            <a:prstDash val="solid"/>
          </a:ln>
        </p:spPr>
      </p:sp>
      <p:sp>
        <p:nvSpPr>
          <p:cNvPr id="17" name="b_proof_h"/>
          <p:cNvSpPr txBox="1"/>
          <p:nvPr/>
        </p:nvSpPr>
        <p:spPr>
          <a:xfrm>
            <a:off x="749808" y="5138928"/>
            <a:ext cx="10692079" cy="274320"/>
          </a:xfrm>
          <a:prstGeom prst="rect">
            <a:avLst/>
          </a:prstGeom>
          <a:noFill/>
          <a:ln/>
        </p:spPr>
        <p:txBody>
          <a:bodyPr wrap="square" lIns="0" tIns="0" rIns="0" bIns="0" rtlCol="0" anchor="ctr"/>
          <a:lstStyle/>
          <a:p>
            <a:pPr indent="0" marL="0">
              <a:buNone/>
            </a:pPr>
            <a:r>
              <a:rPr lang="en-US" sz="1300" b="1" dirty="0">
                <a:solidFill>
                  <a:srgbClr val="E8A33D"/>
                </a:solidFill>
              </a:rPr>
              <a:t>And it is checked, not just asserted</a:t>
            </a:r>
            <a:endParaRPr lang="en-US" sz="1300" dirty="0"/>
          </a:p>
        </p:txBody>
      </p:sp>
      <p:sp>
        <p:nvSpPr>
          <p:cNvPr id="18" name="b_proof_b"/>
          <p:cNvSpPr txBox="1"/>
          <p:nvPr/>
        </p:nvSpPr>
        <p:spPr>
          <a:xfrm>
            <a:off x="749808" y="5468112"/>
            <a:ext cx="10692079" cy="438912"/>
          </a:xfrm>
          <a:prstGeom prst="rect">
            <a:avLst/>
          </a:prstGeom>
          <a:noFill/>
          <a:ln/>
        </p:spPr>
        <p:txBody>
          <a:bodyPr wrap="square" lIns="0" tIns="0" rIns="0" bIns="0" rtlCol="0" anchor="t"/>
          <a:lstStyle/>
          <a:p>
            <a:pPr indent="0" marL="0">
              <a:lnSpc>
                <a:spcPts val="1663"/>
              </a:lnSpc>
              <a:buNone/>
            </a:pPr>
            <a:r>
              <a:rPr lang="en-US" sz="1250" dirty="0">
                <a:solidFill>
                  <a:srgbClr val="DCE6F2"/>
                </a:solidFill>
              </a:rPr>
              <a:t>Eighteen scenarios run twice — with the optimiser and without. Diagnostics, the whole event trace and every aircraft's final state must match exactly.</a:t>
            </a:r>
            <a:endParaRPr lang="en-US" sz="125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What the compiler catches, and when</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Three layers. Each message below is copied from a run, not written for the slide.</a:t>
            </a:r>
            <a:endParaRPr lang="en-US" sz="1500" dirty="0"/>
          </a:p>
        </p:txBody>
      </p:sp>
      <p:sp>
        <p:nvSpPr>
          <p:cNvPr id="4" name="e_src"/>
          <p:cNvSpPr/>
          <p:nvPr/>
        </p:nvSpPr>
        <p:spPr>
          <a:xfrm>
            <a:off x="566928" y="1572768"/>
            <a:ext cx="5394960" cy="2670048"/>
          </a:xfrm>
          <a:prstGeom prst="roundRect">
            <a:avLst>
              <a:gd name="adj" fmla="val 2055"/>
            </a:avLst>
          </a:prstGeom>
          <a:solidFill>
            <a:srgbClr val="16233A"/>
          </a:solidFill>
          <a:ln w="12700">
            <a:solidFill>
              <a:srgbClr val="22344F"/>
            </a:solidFill>
            <a:prstDash val="solid"/>
          </a:ln>
        </p:spPr>
      </p:sp>
      <p:sp>
        <p:nvSpPr>
          <p:cNvPr id="5" name="e_src_label"/>
          <p:cNvSpPr txBox="1"/>
          <p:nvPr/>
        </p:nvSpPr>
        <p:spPr>
          <a:xfrm>
            <a:off x="731520" y="1691640"/>
            <a:ext cx="5065776" cy="237744"/>
          </a:xfrm>
          <a:prstGeom prst="rect">
            <a:avLst/>
          </a:prstGeom>
          <a:noFill/>
          <a:ln/>
        </p:spPr>
        <p:txBody>
          <a:bodyPr wrap="square" lIns="0" tIns="0" rIns="0" bIns="0" rtlCol="0" anchor="ctr"/>
          <a:lstStyle/>
          <a:p>
            <a:pPr indent="0" marL="0">
              <a:buNone/>
            </a:pPr>
            <a:r>
              <a:rPr lang="en-US" sz="1050" b="1" spc="120" kern="0" dirty="0">
                <a:solidFill>
                  <a:srgbClr val="E85D75"/>
                </a:solidFill>
              </a:rPr>
              <a:t>examples/14_review_errors.aero   (LINES 8-18, HEADER OMITTED)</a:t>
            </a:r>
            <a:endParaRPr lang="en-US" sz="1050" dirty="0"/>
          </a:p>
        </p:txBody>
      </p:sp>
      <p:sp>
        <p:nvSpPr>
          <p:cNvPr id="6" name="e_src_text"/>
          <p:cNvSpPr txBox="1"/>
          <p:nvPr/>
        </p:nvSpPr>
        <p:spPr>
          <a:xfrm>
            <a:off x="731520" y="2002536"/>
            <a:ext cx="5065776" cy="2130552"/>
          </a:xfrm>
          <a:prstGeom prst="rect">
            <a:avLst/>
          </a:prstGeom>
          <a:noFill/>
          <a:ln/>
        </p:spPr>
        <p:txBody>
          <a:bodyPr wrap="square" lIns="0" tIns="0" rIns="0" bIns="0" rtlCol="0" anchor="t"/>
          <a:lstStyle/>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8</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scenario</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7FA3DB"/>
                </a:solidFill>
                <a:latin typeface="Courier New" pitchFamily="34" charset="0"/>
                <a:ea typeface="Courier New" pitchFamily="34" charset="-122"/>
                <a:cs typeface="Courier New" pitchFamily="34" charset="-120"/>
              </a:rPr>
              <a:t>"Errors"</a:t>
            </a:r>
            <a:endParaRPr lang="en-US" sz="1150" dirty="0"/>
          </a:p>
          <a:p>
            <a:pPr indent="0" marL="0">
              <a:lnSpc>
                <a:spcPts val="1518"/>
              </a:lnSpc>
              <a:buNone/>
            </a:pPr>
            <a:r>
              <a:rPr lang="en-US" sz="1150" dirty="0">
                <a:solidFill>
                  <a:srgbClr val="FFFFFF"/>
                </a:solidFill>
                <a:latin typeface="Courier New" pitchFamily="34" charset="0"/>
                <a:ea typeface="Courier New" pitchFamily="34" charset="-122"/>
                <a:cs typeface="Courier New" pitchFamily="34" charset="-120"/>
              </a:rPr>
              <a:t>10</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fix</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E8A33D"/>
                </a:solidFill>
                <a:latin typeface="Courier New" pitchFamily="34" charset="0"/>
                <a:ea typeface="Courier New" pitchFamily="34" charset="-122"/>
                <a:cs typeface="Courier New" pitchFamily="34" charset="-120"/>
              </a:rPr>
              <a:t>VOMAN</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12.95</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77.67</a:t>
            </a:r>
            <a:endParaRPr lang="en-US" sz="1150" dirty="0"/>
          </a:p>
          <a:p>
            <a:pPr indent="0" marL="0">
              <a:lnSpc>
                <a:spcPts val="1518"/>
              </a:lnSpc>
              <a:buNone/>
            </a:pPr>
            <a:r>
              <a:rPr lang="en-US" sz="1150" dirty="0">
                <a:solidFill>
                  <a:srgbClr val="FFFFFF"/>
                </a:solidFill>
                <a:latin typeface="Courier New" pitchFamily="34" charset="0"/>
                <a:ea typeface="Courier New" pitchFamily="34" charset="-122"/>
                <a:cs typeface="Courier New" pitchFamily="34" charset="-120"/>
              </a:rPr>
              <a:t>11</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flight</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E8A33D"/>
                </a:solidFill>
                <a:latin typeface="Courier New" pitchFamily="34" charset="0"/>
                <a:ea typeface="Courier New" pitchFamily="34" charset="-122"/>
                <a:cs typeface="Courier New" pitchFamily="34" charset="-120"/>
              </a:rPr>
              <a:t>AI202</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type</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E8A33D"/>
                </a:solidFill>
                <a:latin typeface="Courier New" pitchFamily="34" charset="0"/>
                <a:ea typeface="Courier New" pitchFamily="34" charset="-122"/>
                <a:cs typeface="Courier New" pitchFamily="34" charset="-120"/>
              </a:rPr>
              <a:t>A320</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enter</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E8A33D"/>
                </a:solidFill>
                <a:latin typeface="Courier New" pitchFamily="34" charset="0"/>
                <a:ea typeface="Courier New" pitchFamily="34" charset="-122"/>
                <a:cs typeface="Courier New" pitchFamily="34" charset="-120"/>
              </a:rPr>
              <a:t>VOMAN</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alt</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FL240</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hdg</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090</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spd</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280</a:t>
            </a:r>
            <a:r>
              <a:rPr lang="en-US" sz="1150" dirty="0">
                <a:solidFill>
                  <a:srgbClr val="E8A33D"/>
                </a:solidFill>
                <a:latin typeface="Courier New" pitchFamily="34" charset="0"/>
                <a:ea typeface="Courier New" pitchFamily="34" charset="-122"/>
                <a:cs typeface="Courier New" pitchFamily="34" charset="-120"/>
              </a:rPr>
              <a:t>KT</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a:t>
            </a:r>
            <a:endParaRPr lang="en-US" sz="1150" dirty="0"/>
          </a:p>
          <a:p>
            <a:pPr indent="0" marL="0">
              <a:lnSpc>
                <a:spcPts val="1518"/>
              </a:lnSpc>
              <a:buNone/>
            </a:pPr>
            <a:r>
              <a:rPr lang="en-US" sz="1150" dirty="0">
                <a:solidFill>
                  <a:srgbClr val="FFFFFF"/>
                </a:solidFill>
                <a:latin typeface="Courier New" pitchFamily="34" charset="0"/>
                <a:ea typeface="Courier New" pitchFamily="34" charset="-122"/>
                <a:cs typeface="Courier New" pitchFamily="34" charset="-120"/>
              </a:rPr>
              <a:t>13</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let</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DCE6F2"/>
                </a:solidFill>
                <a:latin typeface="Courier New" pitchFamily="34" charset="0"/>
                <a:ea typeface="Courier New" pitchFamily="34" charset="-122"/>
                <a:cs typeface="Courier New" pitchFamily="34" charset="-120"/>
              </a:rPr>
              <a:t>turn</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8D9CAF"/>
                </a:solidFill>
                <a:latin typeface="Courier New" pitchFamily="34" charset="0"/>
                <a:ea typeface="Courier New" pitchFamily="34" charset="-122"/>
                <a:cs typeface="Courier New" pitchFamily="34" charset="-120"/>
              </a:rPr>
              <a:t>=</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450</a:t>
            </a:r>
            <a:endParaRPr lang="en-US" sz="1150" dirty="0"/>
          </a:p>
          <a:p>
            <a:pPr indent="0" marL="0">
              <a:lnSpc>
                <a:spcPts val="1518"/>
              </a:lnSpc>
              <a:buNone/>
            </a:pPr>
            <a:r>
              <a:rPr lang="en-US" sz="1150" dirty="0">
                <a:solidFill>
                  <a:srgbClr val="FFFFFF"/>
                </a:solidFill>
                <a:latin typeface="Courier New" pitchFamily="34" charset="0"/>
                <a:ea typeface="Courier New" pitchFamily="34" charset="-122"/>
                <a:cs typeface="Courier New" pitchFamily="34" charset="-120"/>
              </a:rPr>
              <a:t>14</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clear</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E8A33D"/>
                </a:solidFill>
                <a:latin typeface="Courier New" pitchFamily="34" charset="0"/>
                <a:ea typeface="Courier New" pitchFamily="34" charset="-122"/>
                <a:cs typeface="Courier New" pitchFamily="34" charset="-120"/>
              </a:rPr>
              <a:t>AI202</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heading</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DCE6F2"/>
                </a:solidFill>
                <a:latin typeface="Courier New" pitchFamily="34" charset="0"/>
                <a:ea typeface="Courier New" pitchFamily="34" charset="-122"/>
                <a:cs typeface="Courier New" pitchFamily="34" charset="-120"/>
              </a:rPr>
              <a:t>turn</a:t>
            </a:r>
            <a:endParaRPr lang="en-US" sz="1150" dirty="0"/>
          </a:p>
          <a:p>
            <a:pPr indent="0" marL="0">
              <a:lnSpc>
                <a:spcPts val="1518"/>
              </a:lnSpc>
              <a:buNone/>
            </a:pPr>
            <a:r>
              <a:rPr lang="en-US" sz="1150" dirty="0">
                <a:solidFill>
                  <a:srgbClr val="DCE6F2"/>
                </a:solidFill>
                <a:latin typeface="Courier New" pitchFamily="34" charset="0"/>
                <a:ea typeface="Courier New" pitchFamily="34" charset="-122"/>
                <a:cs typeface="Courier New" pitchFamily="34" charset="-120"/>
              </a:rPr>
              <a:t> </a:t>
            </a:r>
            <a:endParaRPr lang="en-US" sz="1150" dirty="0"/>
          </a:p>
          <a:p>
            <a:pPr indent="0" marL="0">
              <a:lnSpc>
                <a:spcPts val="1518"/>
              </a:lnSpc>
              <a:buNone/>
            </a:pPr>
            <a:r>
              <a:rPr lang="en-US" sz="1150" dirty="0">
                <a:solidFill>
                  <a:srgbClr val="FFFFFF"/>
                </a:solidFill>
                <a:latin typeface="Courier New" pitchFamily="34" charset="0"/>
                <a:ea typeface="Courier New" pitchFamily="34" charset="-122"/>
                <a:cs typeface="Courier New" pitchFamily="34" charset="-120"/>
              </a:rPr>
              <a:t>16</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clear</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E8A33D"/>
                </a:solidFill>
                <a:latin typeface="Courier New" pitchFamily="34" charset="0"/>
                <a:ea typeface="Courier New" pitchFamily="34" charset="-122"/>
                <a:cs typeface="Courier New" pitchFamily="34" charset="-120"/>
              </a:rPr>
              <a:t>AI202</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climb</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FL320</a:t>
            </a:r>
            <a:endParaRPr lang="en-US" sz="1150" dirty="0"/>
          </a:p>
          <a:p>
            <a:pPr indent="0" marL="0">
              <a:lnSpc>
                <a:spcPts val="1518"/>
              </a:lnSpc>
              <a:buNone/>
            </a:pPr>
            <a:r>
              <a:rPr lang="en-US" sz="1150" dirty="0">
                <a:solidFill>
                  <a:srgbClr val="FFFFFF"/>
                </a:solidFill>
                <a:latin typeface="Courier New" pitchFamily="34" charset="0"/>
                <a:ea typeface="Courier New" pitchFamily="34" charset="-122"/>
                <a:cs typeface="Courier New" pitchFamily="34" charset="-120"/>
              </a:rPr>
              <a:t>17</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clear</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E8A33D"/>
                </a:solidFill>
                <a:latin typeface="Courier New" pitchFamily="34" charset="0"/>
                <a:ea typeface="Courier New" pitchFamily="34" charset="-122"/>
                <a:cs typeface="Courier New" pitchFamily="34" charset="-120"/>
              </a:rPr>
              <a:t>AI202</a:t>
            </a:r>
            <a:r>
              <a:rPr lang="en-US" sz="1150" dirty="0">
                <a:solidFill>
                  <a:srgbClr val="DCE6F2"/>
                </a:solidFill>
                <a:latin typeface="Courier New" pitchFamily="34" charset="0"/>
                <a:ea typeface="Courier New" pitchFamily="34" charset="-122"/>
                <a:cs typeface="Courier New" pitchFamily="34" charset="-120"/>
              </a:rPr>
              <a:t> </a:t>
            </a:r>
            <a:r>
              <a:rPr lang="en-US" sz="1150" b="1" dirty="0">
                <a:solidFill>
                  <a:srgbClr val="35C6A8"/>
                </a:solidFill>
                <a:latin typeface="Courier New" pitchFamily="34" charset="0"/>
                <a:ea typeface="Courier New" pitchFamily="34" charset="-122"/>
                <a:cs typeface="Courier New" pitchFamily="34" charset="-120"/>
              </a:rPr>
              <a:t>descend</a:t>
            </a:r>
            <a:r>
              <a:rPr lang="en-US" sz="1150" dirty="0">
                <a:solidFill>
                  <a:srgbClr val="DCE6F2"/>
                </a:solidFill>
                <a:latin typeface="Courier New" pitchFamily="34" charset="0"/>
                <a:ea typeface="Courier New" pitchFamily="34" charset="-122"/>
                <a:cs typeface="Courier New" pitchFamily="34" charset="-120"/>
              </a:rPr>
              <a:t> </a:t>
            </a:r>
            <a:r>
              <a:rPr lang="en-US" sz="1150" dirty="0">
                <a:solidFill>
                  <a:srgbClr val="FFFFFF"/>
                </a:solidFill>
                <a:latin typeface="Courier New" pitchFamily="34" charset="0"/>
                <a:ea typeface="Courier New" pitchFamily="34" charset="-122"/>
                <a:cs typeface="Courier New" pitchFamily="34" charset="-120"/>
              </a:rPr>
              <a:t>FL280</a:t>
            </a:r>
            <a:endParaRPr lang="en-US" sz="1150" dirty="0"/>
          </a:p>
        </p:txBody>
      </p:sp>
      <p:sp>
        <p:nvSpPr>
          <p:cNvPr id="7" name="e_out"/>
          <p:cNvSpPr/>
          <p:nvPr/>
        </p:nvSpPr>
        <p:spPr>
          <a:xfrm>
            <a:off x="6236208" y="1572768"/>
            <a:ext cx="5388559" cy="2304288"/>
          </a:xfrm>
          <a:prstGeom prst="roundRect">
            <a:avLst>
              <a:gd name="adj" fmla="val 2381"/>
            </a:avLst>
          </a:prstGeom>
          <a:solidFill>
            <a:srgbClr val="16233A"/>
          </a:solidFill>
          <a:ln w="12700">
            <a:solidFill>
              <a:srgbClr val="22344F"/>
            </a:solidFill>
            <a:prstDash val="solid"/>
          </a:ln>
        </p:spPr>
      </p:sp>
      <p:sp>
        <p:nvSpPr>
          <p:cNvPr id="8" name="e_out_label"/>
          <p:cNvSpPr txBox="1"/>
          <p:nvPr/>
        </p:nvSpPr>
        <p:spPr>
          <a:xfrm>
            <a:off x="6400800" y="1691640"/>
            <a:ext cx="5059375" cy="237744"/>
          </a:xfrm>
          <a:prstGeom prst="rect">
            <a:avLst/>
          </a:prstGeom>
          <a:noFill/>
          <a:ln/>
        </p:spPr>
        <p:txBody>
          <a:bodyPr wrap="square" lIns="0" tIns="0" rIns="0" bIns="0" rtlCol="0" anchor="ctr"/>
          <a:lstStyle/>
          <a:p>
            <a:pPr indent="0" marL="0">
              <a:buNone/>
            </a:pPr>
            <a:r>
              <a:rPr lang="en-US" sz="1050" b="1" spc="120" kern="0" dirty="0">
                <a:solidFill>
                  <a:srgbClr val="E85D75"/>
                </a:solidFill>
              </a:rPr>
              <a:t>./aerodsl examples/14_review_errors.aero</a:t>
            </a:r>
            <a:endParaRPr lang="en-US" sz="1050" dirty="0"/>
          </a:p>
        </p:txBody>
      </p:sp>
      <p:sp>
        <p:nvSpPr>
          <p:cNvPr id="9" name="e_out_text"/>
          <p:cNvSpPr txBox="1"/>
          <p:nvPr/>
        </p:nvSpPr>
        <p:spPr>
          <a:xfrm>
            <a:off x="6400800" y="2002536"/>
            <a:ext cx="5059375" cy="1764792"/>
          </a:xfrm>
          <a:prstGeom prst="rect">
            <a:avLst/>
          </a:prstGeom>
          <a:noFill/>
          <a:ln/>
        </p:spPr>
        <p:txBody>
          <a:bodyPr wrap="square" lIns="0" tIns="0" rIns="0" bIns="0" rtlCol="0" anchor="t"/>
          <a:lstStyle/>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14:1: </a:t>
            </a:r>
            <a:r>
              <a:rPr lang="en-US" sz="1050" b="1" dirty="0">
                <a:solidFill>
                  <a:srgbClr val="E8A33D"/>
                </a:solidFill>
                <a:latin typeface="Courier New" pitchFamily="34" charset="0"/>
                <a:ea typeface="Courier New" pitchFamily="34" charset="-122"/>
                <a:cs typeface="Courier New" pitchFamily="34" charset="-120"/>
              </a:rPr>
              <a:t>semantic error</a:t>
            </a:r>
            <a:r>
              <a:rPr lang="en-US" sz="1050" dirty="0">
                <a:solidFill>
                  <a:srgbClr val="DCE6F2"/>
                </a:solidFill>
                <a:latin typeface="Courier New" pitchFamily="34" charset="0"/>
                <a:ea typeface="Courier New" pitchFamily="34" charset="-122"/>
                <a:cs typeface="Courier New" pitchFamily="34" charset="-120"/>
              </a:rPr>
              <a:t>: the operand of 'heading'</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      must be between 0 and 360 deg, found </a:t>
            </a:r>
            <a:r>
              <a:rPr lang="en-US" sz="1050" b="1" dirty="0">
                <a:solidFill>
                  <a:srgbClr val="E8A33D"/>
                </a:solidFill>
                <a:latin typeface="Courier New" pitchFamily="34" charset="0"/>
                <a:ea typeface="Courier New" pitchFamily="34" charset="-122"/>
                <a:cs typeface="Courier New" pitchFamily="34" charset="-120"/>
              </a:rPr>
              <a:t>450</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 </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17:1: </a:t>
            </a:r>
            <a:r>
              <a:rPr lang="en-US" sz="1050" b="1" dirty="0">
                <a:solidFill>
                  <a:srgbClr val="E8A33D"/>
                </a:solidFill>
                <a:latin typeface="Courier New" pitchFamily="34" charset="0"/>
                <a:ea typeface="Courier New" pitchFamily="34" charset="-122"/>
                <a:cs typeface="Courier New" pitchFamily="34" charset="-120"/>
              </a:rPr>
              <a:t>semantic warning</a:t>
            </a:r>
            <a:r>
              <a:rPr lang="en-US" sz="1050" dirty="0">
                <a:solidFill>
                  <a:srgbClr val="DCE6F2"/>
                </a:solidFill>
                <a:latin typeface="Courier New" pitchFamily="34" charset="0"/>
                <a:ea typeface="Courier New" pitchFamily="34" charset="-122"/>
                <a:cs typeface="Courier New" pitchFamily="34" charset="-120"/>
              </a:rPr>
              <a:t>: AI202 was cleared 'climb'</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      at line 16 and 'descend' here with no 'advance'</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      between them: the two contradict each other</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 </a:t>
            </a:r>
            <a:endParaRPr lang="en-US" sz="1050" dirty="0"/>
          </a:p>
          <a:p>
            <a:pPr indent="0" marL="0">
              <a:lnSpc>
                <a:spcPts val="1386"/>
              </a:lnSpc>
              <a:buNone/>
            </a:pPr>
            <a:r>
              <a:rPr lang="en-US" sz="1050" dirty="0">
                <a:solidFill>
                  <a:srgbClr val="DCE6F2"/>
                </a:solidFill>
                <a:latin typeface="Courier New" pitchFamily="34" charset="0"/>
                <a:ea typeface="Courier New" pitchFamily="34" charset="-122"/>
                <a:cs typeface="Courier New" pitchFamily="34" charset="-120"/>
              </a:rPr>
              <a:t>exit status 1</a:t>
            </a:r>
            <a:endParaRPr lang="en-US" sz="1050" dirty="0"/>
          </a:p>
        </p:txBody>
      </p:sp>
      <p:sp>
        <p:nvSpPr>
          <p:cNvPr id="10" name="l1"/>
          <p:cNvSpPr/>
          <p:nvPr/>
        </p:nvSpPr>
        <p:spPr>
          <a:xfrm>
            <a:off x="566928" y="4370832"/>
            <a:ext cx="3503066" cy="1645920"/>
          </a:xfrm>
          <a:prstGeom prst="roundRect">
            <a:avLst>
              <a:gd name="adj" fmla="val 3889"/>
            </a:avLst>
          </a:prstGeom>
          <a:solidFill>
            <a:srgbClr val="16233A"/>
          </a:solidFill>
          <a:ln w="12700">
            <a:solidFill>
              <a:srgbClr val="22344F"/>
            </a:solidFill>
            <a:prstDash val="solid"/>
          </a:ln>
        </p:spPr>
      </p:sp>
      <p:sp>
        <p:nvSpPr>
          <p:cNvPr id="11" name="l1_h"/>
          <p:cNvSpPr txBox="1"/>
          <p:nvPr/>
        </p:nvSpPr>
        <p:spPr>
          <a:xfrm>
            <a:off x="749808" y="4517136"/>
            <a:ext cx="3137306" cy="274320"/>
          </a:xfrm>
          <a:prstGeom prst="rect">
            <a:avLst/>
          </a:prstGeom>
          <a:noFill/>
          <a:ln/>
        </p:spPr>
        <p:txBody>
          <a:bodyPr wrap="square" lIns="0" tIns="0" rIns="0" bIns="0" rtlCol="0" anchor="ctr"/>
          <a:lstStyle/>
          <a:p>
            <a:pPr indent="0" marL="0">
              <a:buNone/>
            </a:pPr>
            <a:r>
              <a:rPr lang="en-US" sz="1300" b="1" dirty="0">
                <a:solidFill>
                  <a:srgbClr val="7FA3DB"/>
                </a:solidFill>
              </a:rPr>
              <a:t>Lexical and syntax</a:t>
            </a:r>
            <a:endParaRPr lang="en-US" sz="1300" dirty="0"/>
          </a:p>
        </p:txBody>
      </p:sp>
      <p:sp>
        <p:nvSpPr>
          <p:cNvPr id="12" name="l1_b"/>
          <p:cNvSpPr txBox="1"/>
          <p:nvPr/>
        </p:nvSpPr>
        <p:spPr>
          <a:xfrm>
            <a:off x="749808" y="4846320"/>
            <a:ext cx="3137306" cy="1024128"/>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Malformed tokens and broken grammar. Every one is reported — the parser recovers at the next statement.</a:t>
            </a:r>
            <a:endParaRPr lang="en-US" sz="1200" dirty="0"/>
          </a:p>
        </p:txBody>
      </p:sp>
      <p:sp>
        <p:nvSpPr>
          <p:cNvPr id="13" name="l2"/>
          <p:cNvSpPr/>
          <p:nvPr/>
        </p:nvSpPr>
        <p:spPr>
          <a:xfrm>
            <a:off x="4344314" y="4370832"/>
            <a:ext cx="3503066" cy="1645920"/>
          </a:xfrm>
          <a:prstGeom prst="roundRect">
            <a:avLst>
              <a:gd name="adj" fmla="val 3889"/>
            </a:avLst>
          </a:prstGeom>
          <a:solidFill>
            <a:srgbClr val="16233A"/>
          </a:solidFill>
          <a:ln w="12700">
            <a:solidFill>
              <a:srgbClr val="22344F"/>
            </a:solidFill>
            <a:prstDash val="solid"/>
          </a:ln>
        </p:spPr>
      </p:sp>
      <p:sp>
        <p:nvSpPr>
          <p:cNvPr id="14" name="l2_h"/>
          <p:cNvSpPr txBox="1"/>
          <p:nvPr/>
        </p:nvSpPr>
        <p:spPr>
          <a:xfrm>
            <a:off x="4527194" y="4517136"/>
            <a:ext cx="3137306" cy="274320"/>
          </a:xfrm>
          <a:prstGeom prst="rect">
            <a:avLst/>
          </a:prstGeom>
          <a:noFill/>
          <a:ln/>
        </p:spPr>
        <p:txBody>
          <a:bodyPr wrap="square" lIns="0" tIns="0" rIns="0" bIns="0" rtlCol="0" anchor="ctr"/>
          <a:lstStyle/>
          <a:p>
            <a:pPr indent="0" marL="0">
              <a:buNone/>
            </a:pPr>
            <a:r>
              <a:rPr lang="en-US" sz="1300" b="1" dirty="0">
                <a:solidFill>
                  <a:srgbClr val="35C6A8"/>
                </a:solidFill>
              </a:rPr>
              <a:t>Semantic</a:t>
            </a:r>
            <a:endParaRPr lang="en-US" sz="1300" dirty="0"/>
          </a:p>
        </p:txBody>
      </p:sp>
      <p:sp>
        <p:nvSpPr>
          <p:cNvPr id="15" name="l2_b"/>
          <p:cNvSpPr txBox="1"/>
          <p:nvPr/>
        </p:nvSpPr>
        <p:spPr>
          <a:xfrm>
            <a:off x="4527194" y="4846320"/>
            <a:ext cx="3137306" cy="1024128"/>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Types, arity, scope. No implicit bool: if AI202.alt then is rejected, because “non-zero is true” is a trap here.</a:t>
            </a:r>
            <a:endParaRPr lang="en-US" sz="1200" dirty="0"/>
          </a:p>
        </p:txBody>
      </p:sp>
      <p:sp>
        <p:nvSpPr>
          <p:cNvPr id="16" name="l3"/>
          <p:cNvSpPr/>
          <p:nvPr/>
        </p:nvSpPr>
        <p:spPr>
          <a:xfrm>
            <a:off x="8121701" y="4370832"/>
            <a:ext cx="3503066" cy="1645920"/>
          </a:xfrm>
          <a:prstGeom prst="roundRect">
            <a:avLst>
              <a:gd name="adj" fmla="val 3889"/>
            </a:avLst>
          </a:prstGeom>
          <a:solidFill>
            <a:srgbClr val="16233A"/>
          </a:solidFill>
          <a:ln w="12700">
            <a:solidFill>
              <a:srgbClr val="22344F"/>
            </a:solidFill>
            <a:prstDash val="solid"/>
          </a:ln>
        </p:spPr>
      </p:sp>
      <p:sp>
        <p:nvSpPr>
          <p:cNvPr id="17" name="l3_h"/>
          <p:cNvSpPr txBox="1"/>
          <p:nvPr/>
        </p:nvSpPr>
        <p:spPr>
          <a:xfrm>
            <a:off x="8304581" y="4517136"/>
            <a:ext cx="3137306" cy="274320"/>
          </a:xfrm>
          <a:prstGeom prst="rect">
            <a:avLst/>
          </a:prstGeom>
          <a:noFill/>
          <a:ln/>
        </p:spPr>
        <p:txBody>
          <a:bodyPr wrap="square" lIns="0" tIns="0" rIns="0" bIns="0" rtlCol="0" anchor="ctr"/>
          <a:lstStyle/>
          <a:p>
            <a:pPr indent="0" marL="0">
              <a:buNone/>
            </a:pPr>
            <a:r>
              <a:rPr lang="en-US" sz="1300" b="1" dirty="0">
                <a:solidFill>
                  <a:srgbClr val="E8A33D"/>
                </a:solidFill>
              </a:rPr>
              <a:t>Domain</a:t>
            </a:r>
            <a:endParaRPr lang="en-US" sz="1300" dirty="0"/>
          </a:p>
        </p:txBody>
      </p:sp>
      <p:sp>
        <p:nvSpPr>
          <p:cNvPr id="18" name="l3_b"/>
          <p:cNvSpPr txBox="1"/>
          <p:nvPr/>
        </p:nvSpPr>
        <p:spPr>
          <a:xfrm>
            <a:off x="8304581" y="4846320"/>
            <a:ext cx="3137306" cy="1024128"/>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Operand ranges and clearance consistency. The layer a general-purpose compiler could not have.</a:t>
            </a:r>
            <a:endParaRPr lang="en-US" sz="12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Running it: the VM, the monitor, the assertion</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The target is a virtual machine because the scenario must run to produce its own timeline.</a:t>
            </a:r>
            <a:endParaRPr lang="en-US" sz="1500" dirty="0"/>
          </a:p>
        </p:txBody>
      </p:sp>
      <p:sp>
        <p:nvSpPr>
          <p:cNvPr id="4" name="v1"/>
          <p:cNvSpPr/>
          <p:nvPr/>
        </p:nvSpPr>
        <p:spPr>
          <a:xfrm>
            <a:off x="566928" y="1572768"/>
            <a:ext cx="3511296" cy="1280160"/>
          </a:xfrm>
          <a:prstGeom prst="roundRect">
            <a:avLst>
              <a:gd name="adj" fmla="val 5000"/>
            </a:avLst>
          </a:prstGeom>
          <a:solidFill>
            <a:srgbClr val="16233A"/>
          </a:solidFill>
          <a:ln w="12700">
            <a:solidFill>
              <a:srgbClr val="22344F"/>
            </a:solidFill>
            <a:prstDash val="solid"/>
          </a:ln>
        </p:spPr>
      </p:sp>
      <p:sp>
        <p:nvSpPr>
          <p:cNvPr id="5" name="v1_h"/>
          <p:cNvSpPr txBox="1"/>
          <p:nvPr/>
        </p:nvSpPr>
        <p:spPr>
          <a:xfrm>
            <a:off x="749808" y="1719072"/>
            <a:ext cx="3145536" cy="274320"/>
          </a:xfrm>
          <a:prstGeom prst="rect">
            <a:avLst/>
          </a:prstGeom>
          <a:noFill/>
          <a:ln/>
        </p:spPr>
        <p:txBody>
          <a:bodyPr wrap="square" lIns="0" tIns="0" rIns="0" bIns="0" rtlCol="0" anchor="ctr"/>
          <a:lstStyle/>
          <a:p>
            <a:pPr indent="0" marL="0">
              <a:buNone/>
            </a:pPr>
            <a:r>
              <a:rPr lang="en-US" sz="1300" b="1" dirty="0">
                <a:solidFill>
                  <a:srgbClr val="35C6A8"/>
                </a:solidFill>
              </a:rPr>
              <a:t>A register machine</a:t>
            </a:r>
            <a:endParaRPr lang="en-US" sz="1300" dirty="0"/>
          </a:p>
        </p:txBody>
      </p:sp>
      <p:sp>
        <p:nvSpPr>
          <p:cNvPr id="6" name="v1_b"/>
          <p:cNvSpPr txBox="1"/>
          <p:nvPr/>
        </p:nvSpPr>
        <p:spPr>
          <a:xfrm>
            <a:off x="749808" y="2048256"/>
            <a:ext cx="3145536" cy="658368"/>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16 registers per activation record, frame slots for spills. Recursion works, capped at depth 256.</a:t>
            </a:r>
            <a:endParaRPr lang="en-US" sz="1200" dirty="0"/>
          </a:p>
        </p:txBody>
      </p:sp>
      <p:sp>
        <p:nvSpPr>
          <p:cNvPr id="7" name="v2"/>
          <p:cNvSpPr/>
          <p:nvPr/>
        </p:nvSpPr>
        <p:spPr>
          <a:xfrm>
            <a:off x="4352544" y="1572768"/>
            <a:ext cx="3511296" cy="1280160"/>
          </a:xfrm>
          <a:prstGeom prst="roundRect">
            <a:avLst>
              <a:gd name="adj" fmla="val 5000"/>
            </a:avLst>
          </a:prstGeom>
          <a:solidFill>
            <a:srgbClr val="16233A"/>
          </a:solidFill>
          <a:ln w="12700">
            <a:solidFill>
              <a:srgbClr val="22344F"/>
            </a:solidFill>
            <a:prstDash val="solid"/>
          </a:ln>
        </p:spPr>
      </p:sp>
      <p:sp>
        <p:nvSpPr>
          <p:cNvPr id="8" name="v2_h"/>
          <p:cNvSpPr txBox="1"/>
          <p:nvPr/>
        </p:nvSpPr>
        <p:spPr>
          <a:xfrm>
            <a:off x="4535424" y="1719072"/>
            <a:ext cx="3145536" cy="274320"/>
          </a:xfrm>
          <a:prstGeom prst="rect">
            <a:avLst/>
          </a:prstGeom>
          <a:noFill/>
          <a:ln/>
        </p:spPr>
        <p:txBody>
          <a:bodyPr wrap="square" lIns="0" tIns="0" rIns="0" bIns="0" rtlCol="0" anchor="ctr"/>
          <a:lstStyle/>
          <a:p>
            <a:pPr indent="0" marL="0">
              <a:buNone/>
            </a:pPr>
            <a:r>
              <a:rPr lang="en-US" sz="1300" b="1" dirty="0">
                <a:solidFill>
                  <a:srgbClr val="35C6A8"/>
                </a:solidFill>
              </a:rPr>
              <a:t>A flight model</a:t>
            </a:r>
            <a:endParaRPr lang="en-US" sz="1300" dirty="0"/>
          </a:p>
        </p:txBody>
      </p:sp>
      <p:sp>
        <p:nvSpPr>
          <p:cNvPr id="9" name="v2_b"/>
          <p:cNvSpPr txBox="1"/>
          <p:nvPr/>
        </p:nvSpPr>
        <p:spPr>
          <a:xfrm>
            <a:off x="4535424" y="2048256"/>
            <a:ext cx="3145536" cy="658368"/>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advance integrates one simulated second at a time: 1800 ft/min, 3°/s, 1 kt/s. Kinematic and crude.</a:t>
            </a:r>
            <a:endParaRPr lang="en-US" sz="1200" dirty="0"/>
          </a:p>
        </p:txBody>
      </p:sp>
      <p:sp>
        <p:nvSpPr>
          <p:cNvPr id="10" name="v3"/>
          <p:cNvSpPr/>
          <p:nvPr/>
        </p:nvSpPr>
        <p:spPr>
          <a:xfrm>
            <a:off x="8138160" y="1572768"/>
            <a:ext cx="3486607" cy="1280160"/>
          </a:xfrm>
          <a:prstGeom prst="roundRect">
            <a:avLst>
              <a:gd name="adj" fmla="val 5000"/>
            </a:avLst>
          </a:prstGeom>
          <a:solidFill>
            <a:srgbClr val="16233A"/>
          </a:solidFill>
          <a:ln w="12700">
            <a:solidFill>
              <a:srgbClr val="22344F"/>
            </a:solidFill>
            <a:prstDash val="solid"/>
          </a:ln>
        </p:spPr>
      </p:sp>
      <p:sp>
        <p:nvSpPr>
          <p:cNvPr id="11" name="v3_h"/>
          <p:cNvSpPr txBox="1"/>
          <p:nvPr/>
        </p:nvSpPr>
        <p:spPr>
          <a:xfrm>
            <a:off x="8321040" y="1719072"/>
            <a:ext cx="3120847" cy="274320"/>
          </a:xfrm>
          <a:prstGeom prst="rect">
            <a:avLst/>
          </a:prstGeom>
          <a:noFill/>
          <a:ln/>
        </p:spPr>
        <p:txBody>
          <a:bodyPr wrap="square" lIns="0" tIns="0" rIns="0" bIns="0" rtlCol="0" anchor="ctr"/>
          <a:lstStyle/>
          <a:p>
            <a:pPr indent="0" marL="0">
              <a:buNone/>
            </a:pPr>
            <a:r>
              <a:rPr lang="en-US" sz="1300" b="1" dirty="0">
                <a:solidFill>
                  <a:srgbClr val="E8A33D"/>
                </a:solidFill>
              </a:rPr>
              <a:t>A separation monitor</a:t>
            </a:r>
            <a:endParaRPr lang="en-US" sz="1300" dirty="0"/>
          </a:p>
        </p:txBody>
      </p:sp>
      <p:sp>
        <p:nvSpPr>
          <p:cNvPr id="12" name="v3_b"/>
          <p:cNvSpPr txBox="1"/>
          <p:nvPr/>
        </p:nvSpPr>
        <p:spPr>
          <a:xfrm>
            <a:off x="8321040" y="2048256"/>
            <a:ext cx="3120847" cy="658368"/>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Every simulated second, every pair. A loss is anything inside 5 NM and 1000 ft.</a:t>
            </a:r>
            <a:endParaRPr lang="en-US" sz="1200" dirty="0"/>
          </a:p>
        </p:txBody>
      </p:sp>
      <p:sp>
        <p:nvSpPr>
          <p:cNvPr id="13" name="v_tr"/>
          <p:cNvSpPr/>
          <p:nvPr/>
        </p:nvSpPr>
        <p:spPr>
          <a:xfrm>
            <a:off x="566928" y="3017520"/>
            <a:ext cx="6766560" cy="2066544"/>
          </a:xfrm>
          <a:prstGeom prst="roundRect">
            <a:avLst>
              <a:gd name="adj" fmla="val 2655"/>
            </a:avLst>
          </a:prstGeom>
          <a:solidFill>
            <a:srgbClr val="16233A"/>
          </a:solidFill>
          <a:ln w="12700">
            <a:solidFill>
              <a:srgbClr val="22344F"/>
            </a:solidFill>
            <a:prstDash val="solid"/>
          </a:ln>
        </p:spPr>
      </p:sp>
      <p:sp>
        <p:nvSpPr>
          <p:cNvPr id="14" name="v_tr_label"/>
          <p:cNvSpPr txBox="1"/>
          <p:nvPr/>
        </p:nvSpPr>
        <p:spPr>
          <a:xfrm>
            <a:off x="731520" y="3136392"/>
            <a:ext cx="6437376" cy="237744"/>
          </a:xfrm>
          <a:prstGeom prst="rect">
            <a:avLst/>
          </a:prstGeom>
          <a:noFill/>
          <a:ln/>
        </p:spPr>
        <p:txBody>
          <a:bodyPr wrap="square" lIns="0" tIns="0" rIns="0" bIns="0" rtlCol="0" anchor="ctr"/>
          <a:lstStyle/>
          <a:p>
            <a:pPr indent="0" marL="0">
              <a:buNone/>
            </a:pPr>
            <a:r>
              <a:rPr lang="en-US" sz="1050" b="1" spc="120" kern="0" dirty="0">
                <a:solidFill>
                  <a:srgbClr val="35C6A8"/>
                </a:solidFill>
              </a:rPr>
              <a:t>examples/02_converging.aero  ·  --trace</a:t>
            </a:r>
            <a:endParaRPr lang="en-US" sz="1050" dirty="0"/>
          </a:p>
        </p:txBody>
      </p:sp>
      <p:sp>
        <p:nvSpPr>
          <p:cNvPr id="15" name="v_tr_text"/>
          <p:cNvSpPr txBox="1"/>
          <p:nvPr/>
        </p:nvSpPr>
        <p:spPr>
          <a:xfrm>
            <a:off x="731520" y="3447288"/>
            <a:ext cx="6437376" cy="1527048"/>
          </a:xfrm>
          <a:prstGeom prst="rect">
            <a:avLst/>
          </a:prstGeom>
          <a:noFill/>
          <a:ln/>
        </p:spPr>
        <p:txBody>
          <a:bodyPr wrap="square" lIns="0" tIns="0" rIns="0" bIns="0" rtlCol="0" anchor="t"/>
          <a:lstStyle/>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00:00:00  AI202 enters the airspace</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00:00:00  BA117 enters the airspace</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00:01:35  </a:t>
            </a:r>
            <a:r>
              <a:rPr lang="en-US" sz="1100" b="1" dirty="0">
                <a:solidFill>
                  <a:srgbClr val="E8A33D"/>
                </a:solidFill>
                <a:latin typeface="Courier New" pitchFamily="34" charset="0"/>
                <a:ea typeface="Courier New" pitchFamily="34" charset="-122"/>
                <a:cs typeface="Courier New" pitchFamily="34" charset="-120"/>
              </a:rPr>
              <a:t>LOSS OF SEPARATION</a:t>
            </a:r>
            <a:r>
              <a:rPr lang="en-US" sz="1100" dirty="0">
                <a:solidFill>
                  <a:srgbClr val="DCE6F2"/>
                </a:solidFill>
                <a:latin typeface="Courier New" pitchFamily="34" charset="0"/>
                <a:ea typeface="Courier New" pitchFamily="34" charset="-122"/>
                <a:cs typeface="Courier New" pitchFamily="34" charset="-120"/>
              </a:rPr>
              <a:t>: AI202 and BA117:</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a:t>
            </a:r>
            <a:r>
              <a:rPr lang="en-US" sz="1100" b="1" dirty="0">
                <a:solidFill>
                  <a:srgbClr val="E8A33D"/>
                </a:solidFill>
                <a:latin typeface="Courier New" pitchFamily="34" charset="0"/>
                <a:ea typeface="Courier New" pitchFamily="34" charset="-122"/>
                <a:cs typeface="Courier New" pitchFamily="34" charset="-120"/>
              </a:rPr>
              <a:t>4.93 NM</a:t>
            </a:r>
            <a:r>
              <a:rPr lang="en-US" sz="1100" dirty="0">
                <a:solidFill>
                  <a:srgbClr val="DCE6F2"/>
                </a:solidFill>
                <a:latin typeface="Courier New" pitchFamily="34" charset="0"/>
                <a:ea typeface="Courier New" pitchFamily="34" charset="-122"/>
                <a:cs typeface="Courier New" pitchFamily="34" charset="-120"/>
              </a:rPr>
              <a:t> apart, 0 ft vertically</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00:10:00  print: closest approach: 1.34877 NM</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00:10:00  </a:t>
            </a:r>
            <a:r>
              <a:rPr lang="en-US" sz="1100" b="1" dirty="0">
                <a:solidFill>
                  <a:srgbClr val="E8A33D"/>
                </a:solidFill>
                <a:latin typeface="Courier New" pitchFamily="34" charset="0"/>
                <a:ea typeface="Courier New" pitchFamily="34" charset="-122"/>
                <a:cs typeface="Courier New" pitchFamily="34" charset="-120"/>
              </a:rPr>
              <a:t>assertion held</a:t>
            </a:r>
            <a:r>
              <a:rPr lang="en-US" sz="1100" dirty="0">
                <a:solidFill>
                  <a:srgbClr val="DCE6F2"/>
                </a:solidFill>
                <a:latin typeface="Courier New" pitchFamily="34" charset="0"/>
                <a:ea typeface="Courier New" pitchFamily="34" charset="-122"/>
                <a:cs typeface="Courier New" pitchFamily="34" charset="-120"/>
              </a:rPr>
              <a:t>: the pair must come</a:t>
            </a:r>
            <a:endParaRPr lang="en-US" sz="1100" dirty="0"/>
          </a:p>
          <a:p>
            <a:pPr indent="0" marL="0">
              <a:lnSpc>
                <a:spcPts val="1452"/>
              </a:lnSpc>
              <a:buNone/>
            </a:pPr>
            <a:r>
              <a:rPr lang="en-US" sz="1100" dirty="0">
                <a:solidFill>
                  <a:srgbClr val="DCE6F2"/>
                </a:solidFill>
                <a:latin typeface="Courier New" pitchFamily="34" charset="0"/>
                <a:ea typeface="Courier New" pitchFamily="34" charset="-122"/>
                <a:cs typeface="Courier New" pitchFamily="34" charset="-120"/>
              </a:rPr>
              <a:t>          within 5 NM, or there is no exercise</a:t>
            </a:r>
            <a:endParaRPr lang="en-US" sz="1100" dirty="0"/>
          </a:p>
        </p:txBody>
      </p:sp>
      <p:sp>
        <p:nvSpPr>
          <p:cNvPr id="16" name="v_pt"/>
          <p:cNvSpPr/>
          <p:nvPr/>
        </p:nvSpPr>
        <p:spPr>
          <a:xfrm>
            <a:off x="7607808" y="3017520"/>
            <a:ext cx="4016959" cy="2139696"/>
          </a:xfrm>
          <a:prstGeom prst="roundRect">
            <a:avLst>
              <a:gd name="adj" fmla="val 2991"/>
            </a:avLst>
          </a:prstGeom>
          <a:solidFill>
            <a:srgbClr val="16233A"/>
          </a:solidFill>
          <a:ln w="12700">
            <a:solidFill>
              <a:srgbClr val="22344F"/>
            </a:solidFill>
            <a:prstDash val="solid"/>
          </a:ln>
        </p:spPr>
      </p:sp>
      <p:sp>
        <p:nvSpPr>
          <p:cNvPr id="17" name="v_pt_h"/>
          <p:cNvSpPr txBox="1"/>
          <p:nvPr/>
        </p:nvSpPr>
        <p:spPr>
          <a:xfrm>
            <a:off x="7790688" y="3163824"/>
            <a:ext cx="3651199" cy="274320"/>
          </a:xfrm>
          <a:prstGeom prst="rect">
            <a:avLst/>
          </a:prstGeom>
          <a:noFill/>
          <a:ln/>
        </p:spPr>
        <p:txBody>
          <a:bodyPr wrap="square" lIns="0" tIns="0" rIns="0" bIns="0" rtlCol="0" anchor="ctr"/>
          <a:lstStyle/>
          <a:p>
            <a:pPr indent="0" marL="0">
              <a:buNone/>
            </a:pPr>
            <a:r>
              <a:rPr lang="en-US" sz="1300" b="1" dirty="0">
                <a:solidFill>
                  <a:srgbClr val="E8A33D"/>
                </a:solidFill>
              </a:rPr>
              <a:t>The part I would defend hardest</a:t>
            </a:r>
            <a:endParaRPr lang="en-US" sz="1300" dirty="0"/>
          </a:p>
        </p:txBody>
      </p:sp>
      <p:sp>
        <p:nvSpPr>
          <p:cNvPr id="18" name="v_pt_b"/>
          <p:cNvSpPr txBox="1"/>
          <p:nvPr/>
        </p:nvSpPr>
        <p:spPr>
          <a:xfrm>
            <a:off x="7790688" y="3493008"/>
            <a:ext cx="3651199" cy="1517904"/>
          </a:xfrm>
          <a:prstGeom prst="rect">
            <a:avLst/>
          </a:prstGeom>
          <a:noFill/>
          <a:ln/>
        </p:spPr>
        <p:txBody>
          <a:bodyPr wrap="square" lIns="0" tIns="0" rIns="0" bIns="0" rtlCol="0" anchor="t"/>
          <a:lstStyle/>
          <a:p>
            <a:pPr indent="0" marL="0">
              <a:lnSpc>
                <a:spcPts val="1663"/>
              </a:lnSpc>
              <a:buNone/>
            </a:pPr>
            <a:r>
              <a:rPr lang="en-US" sz="1250" dirty="0">
                <a:solidFill>
                  <a:srgbClr val="DCE6F2"/>
                </a:solidFill>
              </a:rPr>
              <a:t>The scenario states its own purpose, and the compiler checks it.</a:t>
            </a:r>
            <a:endParaRPr lang="en-US" sz="1250" dirty="0"/>
          </a:p>
          <a:p>
            <a:pPr indent="0" marL="0">
              <a:lnSpc>
                <a:spcPts val="1663"/>
              </a:lnSpc>
              <a:buNone/>
            </a:pPr>
            <a:endParaRPr lang="en-US" sz="1250" dirty="0"/>
          </a:p>
          <a:p>
            <a:pPr indent="0" marL="0">
              <a:lnSpc>
                <a:spcPts val="1663"/>
              </a:lnSpc>
              <a:buNone/>
            </a:pPr>
            <a:r>
              <a:rPr lang="en-US" sz="1250" dirty="0">
                <a:solidFill>
                  <a:srgbClr val="DCE6F2"/>
                </a:solidFill>
              </a:rPr>
              <a:t>examples/12 is the same geometry with a resolution applied and the opposite assertion. Both hold. Change the geometry and the compiler tells you.</a:t>
            </a:r>
            <a:endParaRPr lang="en-US" sz="1250" dirty="0"/>
          </a:p>
        </p:txBody>
      </p:sp>
      <p:sp>
        <p:nvSpPr>
          <p:cNvPr id="19" name="take13"/>
          <p:cNvSpPr/>
          <p:nvPr/>
        </p:nvSpPr>
        <p:spPr>
          <a:xfrm>
            <a:off x="566928" y="5358384"/>
            <a:ext cx="11057839" cy="731520"/>
          </a:xfrm>
          <a:prstGeom prst="roundRect">
            <a:avLst>
              <a:gd name="adj" fmla="val 8750"/>
            </a:avLst>
          </a:prstGeom>
          <a:solidFill>
            <a:srgbClr val="0F2B27"/>
          </a:solidFill>
          <a:ln w="15875">
            <a:solidFill>
              <a:srgbClr val="35C6A8"/>
            </a:solidFill>
            <a:prstDash val="solid"/>
          </a:ln>
        </p:spPr>
      </p:sp>
      <p:sp>
        <p:nvSpPr>
          <p:cNvPr id="20" name="take13_t"/>
          <p:cNvSpPr txBox="1"/>
          <p:nvPr/>
        </p:nvSpPr>
        <p:spPr>
          <a:xfrm>
            <a:off x="804672" y="5358384"/>
            <a:ext cx="10582351" cy="731520"/>
          </a:xfrm>
          <a:prstGeom prst="rect">
            <a:avLst/>
          </a:prstGeom>
          <a:noFill/>
          <a:ln/>
        </p:spPr>
        <p:txBody>
          <a:bodyPr wrap="square" lIns="0" tIns="0" rIns="0" bIns="0" rtlCol="0" anchor="ctr"/>
          <a:lstStyle/>
          <a:p>
            <a:pPr indent="0" marL="0">
              <a:buNone/>
            </a:pPr>
            <a:r>
              <a:rPr lang="en-US" sz="1400" dirty="0">
                <a:solidFill>
                  <a:srgbClr val="FFFFFF"/>
                </a:solidFill>
              </a:rPr>
              <a:t>No other phase can answer “did the scenario do what it was written to do?”. That is why the compiler ends in a simulator.</a:t>
            </a:r>
            <a:endParaRPr lang="en-US" sz="14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Implementation and evidence</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About 8,400 lines of C11 with no dependencies — no parser generator, no libraries</a:t>
            </a:r>
            <a:endParaRPr lang="en-US" sz="1500" dirty="0"/>
          </a:p>
        </p:txBody>
      </p:sp>
      <p:sp>
        <p:nvSpPr>
          <p:cNvPr id="4" name="fbox"/>
          <p:cNvSpPr/>
          <p:nvPr/>
        </p:nvSpPr>
        <p:spPr>
          <a:xfrm>
            <a:off x="566928" y="1572768"/>
            <a:ext cx="6309360" cy="4206240"/>
          </a:xfrm>
          <a:prstGeom prst="roundRect">
            <a:avLst>
              <a:gd name="adj" fmla="val 1522"/>
            </a:avLst>
          </a:prstGeom>
          <a:solidFill>
            <a:srgbClr val="16233A"/>
          </a:solidFill>
          <a:ln w="12700">
            <a:solidFill>
              <a:srgbClr val="22344F"/>
            </a:solidFill>
            <a:prstDash val="solid"/>
          </a:ln>
        </p:spPr>
      </p:sp>
      <p:sp>
        <p:nvSpPr>
          <p:cNvPr id="5" name="fbox_h"/>
          <p:cNvSpPr txBox="1"/>
          <p:nvPr/>
        </p:nvSpPr>
        <p:spPr>
          <a:xfrm>
            <a:off x="768096" y="1700784"/>
            <a:ext cx="5852160" cy="237744"/>
          </a:xfrm>
          <a:prstGeom prst="rect">
            <a:avLst/>
          </a:prstGeom>
          <a:noFill/>
          <a:ln/>
        </p:spPr>
        <p:txBody>
          <a:bodyPr wrap="square" lIns="0" tIns="0" rIns="0" bIns="0" rtlCol="0" anchor="ctr"/>
          <a:lstStyle/>
          <a:p>
            <a:pPr indent="0" marL="0">
              <a:buNone/>
            </a:pPr>
            <a:r>
              <a:rPr lang="en-US" sz="1050" b="1" spc="120" kern="0" dirty="0">
                <a:solidFill>
                  <a:srgbClr val="8D9CAF"/>
                </a:solidFill>
              </a:rPr>
              <a:t>SOURCE</a:t>
            </a:r>
            <a:endParaRPr lang="en-US" sz="1050" dirty="0"/>
          </a:p>
        </p:txBody>
      </p:sp>
      <p:sp>
        <p:nvSpPr>
          <p:cNvPr id="6" name="ff0"/>
          <p:cNvSpPr txBox="1"/>
          <p:nvPr/>
        </p:nvSpPr>
        <p:spPr>
          <a:xfrm>
            <a:off x="768096" y="2048256"/>
            <a:ext cx="1188720" cy="292608"/>
          </a:xfrm>
          <a:prstGeom prst="rect">
            <a:avLst/>
          </a:prstGeom>
          <a:noFill/>
          <a:ln/>
        </p:spPr>
        <p:txBody>
          <a:bodyPr wrap="square" lIns="0" tIns="0" rIns="0" bIns="0" rtlCol="0" anchor="ctr"/>
          <a:lstStyle/>
          <a:p>
            <a:pPr indent="0" marL="0">
              <a:buNone/>
            </a:pPr>
            <a:r>
              <a:rPr lang="en-US" sz="1100" dirty="0">
                <a:solidFill>
                  <a:srgbClr val="35C6A8"/>
                </a:solidFill>
                <a:latin typeface="Courier New" pitchFamily="34" charset="0"/>
                <a:ea typeface="Courier New" pitchFamily="34" charset="-122"/>
                <a:cs typeface="Courier New" pitchFamily="34" charset="-120"/>
              </a:rPr>
              <a:t>lexer.c</a:t>
            </a:r>
            <a:endParaRPr lang="en-US" sz="1100" dirty="0"/>
          </a:p>
        </p:txBody>
      </p:sp>
      <p:sp>
        <p:nvSpPr>
          <p:cNvPr id="7" name="fn0"/>
          <p:cNvSpPr txBox="1"/>
          <p:nvPr/>
        </p:nvSpPr>
        <p:spPr>
          <a:xfrm>
            <a:off x="1956816" y="2048256"/>
            <a:ext cx="457200" cy="292608"/>
          </a:xfrm>
          <a:prstGeom prst="rect">
            <a:avLst/>
          </a:prstGeom>
          <a:noFill/>
          <a:ln/>
        </p:spPr>
        <p:txBody>
          <a:bodyPr wrap="square" lIns="0" tIns="0" rIns="0" bIns="0" rtlCol="0" anchor="ctr"/>
          <a:lstStyle/>
          <a:p>
            <a:pPr algn="r" indent="0" marL="0">
              <a:buNone/>
            </a:pPr>
            <a:r>
              <a:rPr lang="en-US" sz="1050" dirty="0">
                <a:solidFill>
                  <a:srgbClr val="8D9CAF"/>
                </a:solidFill>
                <a:latin typeface="Courier New" pitchFamily="34" charset="0"/>
                <a:ea typeface="Courier New" pitchFamily="34" charset="-122"/>
                <a:cs typeface="Courier New" pitchFamily="34" charset="-120"/>
              </a:rPr>
              <a:t>296</a:t>
            </a:r>
            <a:endParaRPr lang="en-US" sz="1050" dirty="0"/>
          </a:p>
        </p:txBody>
      </p:sp>
      <p:sp>
        <p:nvSpPr>
          <p:cNvPr id="8" name="fd0"/>
          <p:cNvSpPr txBox="1"/>
          <p:nvPr/>
        </p:nvSpPr>
        <p:spPr>
          <a:xfrm>
            <a:off x="2578608" y="2048256"/>
            <a:ext cx="4114800" cy="292608"/>
          </a:xfrm>
          <a:prstGeom prst="rect">
            <a:avLst/>
          </a:prstGeom>
          <a:noFill/>
          <a:ln/>
        </p:spPr>
        <p:txBody>
          <a:bodyPr wrap="square" lIns="0" tIns="0" rIns="0" bIns="0" rtlCol="0" anchor="ctr"/>
          <a:lstStyle/>
          <a:p>
            <a:pPr indent="0" marL="0">
              <a:buNone/>
            </a:pPr>
            <a:r>
              <a:rPr lang="en-US" sz="1100" dirty="0">
                <a:solidFill>
                  <a:srgbClr val="DCE6F2"/>
                </a:solidFill>
              </a:rPr>
              <a:t>scanner, typed tokens, positions</a:t>
            </a:r>
            <a:endParaRPr lang="en-US" sz="1100" dirty="0"/>
          </a:p>
        </p:txBody>
      </p:sp>
      <p:sp>
        <p:nvSpPr>
          <p:cNvPr id="9" name="ff1"/>
          <p:cNvSpPr txBox="1"/>
          <p:nvPr/>
        </p:nvSpPr>
        <p:spPr>
          <a:xfrm>
            <a:off x="768096" y="2414016"/>
            <a:ext cx="1188720" cy="292608"/>
          </a:xfrm>
          <a:prstGeom prst="rect">
            <a:avLst/>
          </a:prstGeom>
          <a:noFill/>
          <a:ln/>
        </p:spPr>
        <p:txBody>
          <a:bodyPr wrap="square" lIns="0" tIns="0" rIns="0" bIns="0" rtlCol="0" anchor="ctr"/>
          <a:lstStyle/>
          <a:p>
            <a:pPr indent="0" marL="0">
              <a:buNone/>
            </a:pPr>
            <a:r>
              <a:rPr lang="en-US" sz="1100" dirty="0">
                <a:solidFill>
                  <a:srgbClr val="35C6A8"/>
                </a:solidFill>
                <a:latin typeface="Courier New" pitchFamily="34" charset="0"/>
                <a:ea typeface="Courier New" pitchFamily="34" charset="-122"/>
                <a:cs typeface="Courier New" pitchFamily="34" charset="-120"/>
              </a:rPr>
              <a:t>parser.c</a:t>
            </a:r>
            <a:endParaRPr lang="en-US" sz="1100" dirty="0"/>
          </a:p>
        </p:txBody>
      </p:sp>
      <p:sp>
        <p:nvSpPr>
          <p:cNvPr id="10" name="fn1"/>
          <p:cNvSpPr txBox="1"/>
          <p:nvPr/>
        </p:nvSpPr>
        <p:spPr>
          <a:xfrm>
            <a:off x="1956816" y="2414016"/>
            <a:ext cx="457200" cy="292608"/>
          </a:xfrm>
          <a:prstGeom prst="rect">
            <a:avLst/>
          </a:prstGeom>
          <a:noFill/>
          <a:ln/>
        </p:spPr>
        <p:txBody>
          <a:bodyPr wrap="square" lIns="0" tIns="0" rIns="0" bIns="0" rtlCol="0" anchor="ctr"/>
          <a:lstStyle/>
          <a:p>
            <a:pPr algn="r" indent="0" marL="0">
              <a:buNone/>
            </a:pPr>
            <a:r>
              <a:rPr lang="en-US" sz="1050" dirty="0">
                <a:solidFill>
                  <a:srgbClr val="8D9CAF"/>
                </a:solidFill>
                <a:latin typeface="Courier New" pitchFamily="34" charset="0"/>
                <a:ea typeface="Courier New" pitchFamily="34" charset="-122"/>
                <a:cs typeface="Courier New" pitchFamily="34" charset="-120"/>
              </a:rPr>
              <a:t>925</a:t>
            </a:r>
            <a:endParaRPr lang="en-US" sz="1050" dirty="0"/>
          </a:p>
        </p:txBody>
      </p:sp>
      <p:sp>
        <p:nvSpPr>
          <p:cNvPr id="11" name="fd1"/>
          <p:cNvSpPr txBox="1"/>
          <p:nvPr/>
        </p:nvSpPr>
        <p:spPr>
          <a:xfrm>
            <a:off x="2578608" y="2414016"/>
            <a:ext cx="4114800" cy="292608"/>
          </a:xfrm>
          <a:prstGeom prst="rect">
            <a:avLst/>
          </a:prstGeom>
          <a:noFill/>
          <a:ln/>
        </p:spPr>
        <p:txBody>
          <a:bodyPr wrap="square" lIns="0" tIns="0" rIns="0" bIns="0" rtlCol="0" anchor="ctr"/>
          <a:lstStyle/>
          <a:p>
            <a:pPr indent="0" marL="0">
              <a:buNone/>
            </a:pPr>
            <a:r>
              <a:rPr lang="en-US" sz="1100" dirty="0">
                <a:solidFill>
                  <a:srgbClr val="DCE6F2"/>
                </a:solidFill>
              </a:rPr>
              <a:t>recursive descent, one function per production</a:t>
            </a:r>
            <a:endParaRPr lang="en-US" sz="1100" dirty="0"/>
          </a:p>
        </p:txBody>
      </p:sp>
      <p:sp>
        <p:nvSpPr>
          <p:cNvPr id="12" name="ff2"/>
          <p:cNvSpPr txBox="1"/>
          <p:nvPr/>
        </p:nvSpPr>
        <p:spPr>
          <a:xfrm>
            <a:off x="768096" y="2779776"/>
            <a:ext cx="1188720" cy="292608"/>
          </a:xfrm>
          <a:prstGeom prst="rect">
            <a:avLst/>
          </a:prstGeom>
          <a:noFill/>
          <a:ln/>
        </p:spPr>
        <p:txBody>
          <a:bodyPr wrap="square" lIns="0" tIns="0" rIns="0" bIns="0" rtlCol="0" anchor="ctr"/>
          <a:lstStyle/>
          <a:p>
            <a:pPr indent="0" marL="0">
              <a:buNone/>
            </a:pPr>
            <a:r>
              <a:rPr lang="en-US" sz="1100" dirty="0">
                <a:solidFill>
                  <a:srgbClr val="35C6A8"/>
                </a:solidFill>
                <a:latin typeface="Courier New" pitchFamily="34" charset="0"/>
                <a:ea typeface="Courier New" pitchFamily="34" charset="-122"/>
                <a:cs typeface="Courier New" pitchFamily="34" charset="-120"/>
              </a:rPr>
              <a:t>sema.c</a:t>
            </a:r>
            <a:endParaRPr lang="en-US" sz="1100" dirty="0"/>
          </a:p>
        </p:txBody>
      </p:sp>
      <p:sp>
        <p:nvSpPr>
          <p:cNvPr id="13" name="fn2"/>
          <p:cNvSpPr txBox="1"/>
          <p:nvPr/>
        </p:nvSpPr>
        <p:spPr>
          <a:xfrm>
            <a:off x="1956816" y="2779776"/>
            <a:ext cx="457200" cy="292608"/>
          </a:xfrm>
          <a:prstGeom prst="rect">
            <a:avLst/>
          </a:prstGeom>
          <a:noFill/>
          <a:ln/>
        </p:spPr>
        <p:txBody>
          <a:bodyPr wrap="square" lIns="0" tIns="0" rIns="0" bIns="0" rtlCol="0" anchor="ctr"/>
          <a:lstStyle/>
          <a:p>
            <a:pPr algn="r" indent="0" marL="0">
              <a:buNone/>
            </a:pPr>
            <a:r>
              <a:rPr lang="en-US" sz="1050" dirty="0">
                <a:solidFill>
                  <a:srgbClr val="8D9CAF"/>
                </a:solidFill>
                <a:latin typeface="Courier New" pitchFamily="34" charset="0"/>
                <a:ea typeface="Courier New" pitchFamily="34" charset="-122"/>
                <a:cs typeface="Courier New" pitchFamily="34" charset="-120"/>
              </a:rPr>
              <a:t>482</a:t>
            </a:r>
            <a:endParaRPr lang="en-US" sz="1050" dirty="0"/>
          </a:p>
        </p:txBody>
      </p:sp>
      <p:sp>
        <p:nvSpPr>
          <p:cNvPr id="14" name="fd2"/>
          <p:cNvSpPr txBox="1"/>
          <p:nvPr/>
        </p:nvSpPr>
        <p:spPr>
          <a:xfrm>
            <a:off x="2578608" y="2779776"/>
            <a:ext cx="4114800" cy="292608"/>
          </a:xfrm>
          <a:prstGeom prst="rect">
            <a:avLst/>
          </a:prstGeom>
          <a:noFill/>
          <a:ln/>
        </p:spPr>
        <p:txBody>
          <a:bodyPr wrap="square" lIns="0" tIns="0" rIns="0" bIns="0" rtlCol="0" anchor="ctr"/>
          <a:lstStyle/>
          <a:p>
            <a:pPr indent="0" marL="0">
              <a:buNone/>
            </a:pPr>
            <a:r>
              <a:rPr lang="en-US" sz="1100" dirty="0">
                <a:solidFill>
                  <a:srgbClr val="DCE6F2"/>
                </a:solidFill>
              </a:rPr>
              <a:t>types, arity, scope, nine warnings</a:t>
            </a:r>
            <a:endParaRPr lang="en-US" sz="1100" dirty="0"/>
          </a:p>
        </p:txBody>
      </p:sp>
      <p:sp>
        <p:nvSpPr>
          <p:cNvPr id="15" name="ff3"/>
          <p:cNvSpPr txBox="1"/>
          <p:nvPr/>
        </p:nvSpPr>
        <p:spPr>
          <a:xfrm>
            <a:off x="768096" y="3145536"/>
            <a:ext cx="1188720" cy="292608"/>
          </a:xfrm>
          <a:prstGeom prst="rect">
            <a:avLst/>
          </a:prstGeom>
          <a:noFill/>
          <a:ln/>
        </p:spPr>
        <p:txBody>
          <a:bodyPr wrap="square" lIns="0" tIns="0" rIns="0" bIns="0" rtlCol="0" anchor="ctr"/>
          <a:lstStyle/>
          <a:p>
            <a:pPr indent="0" marL="0">
              <a:buNone/>
            </a:pPr>
            <a:r>
              <a:rPr lang="en-US" sz="1100" dirty="0">
                <a:solidFill>
                  <a:srgbClr val="35C6A8"/>
                </a:solidFill>
                <a:latin typeface="Courier New" pitchFamily="34" charset="0"/>
                <a:ea typeface="Courier New" pitchFamily="34" charset="-122"/>
                <a:cs typeface="Courier New" pitchFamily="34" charset="-120"/>
              </a:rPr>
              <a:t>ir.c</a:t>
            </a:r>
            <a:endParaRPr lang="en-US" sz="1100" dirty="0"/>
          </a:p>
        </p:txBody>
      </p:sp>
      <p:sp>
        <p:nvSpPr>
          <p:cNvPr id="16" name="fn3"/>
          <p:cNvSpPr txBox="1"/>
          <p:nvPr/>
        </p:nvSpPr>
        <p:spPr>
          <a:xfrm>
            <a:off x="1956816" y="3145536"/>
            <a:ext cx="457200" cy="292608"/>
          </a:xfrm>
          <a:prstGeom prst="rect">
            <a:avLst/>
          </a:prstGeom>
          <a:noFill/>
          <a:ln/>
        </p:spPr>
        <p:txBody>
          <a:bodyPr wrap="square" lIns="0" tIns="0" rIns="0" bIns="0" rtlCol="0" anchor="ctr"/>
          <a:lstStyle/>
          <a:p>
            <a:pPr algn="r" indent="0" marL="0">
              <a:buNone/>
            </a:pPr>
            <a:r>
              <a:rPr lang="en-US" sz="1050" dirty="0">
                <a:solidFill>
                  <a:srgbClr val="8D9CAF"/>
                </a:solidFill>
                <a:latin typeface="Courier New" pitchFamily="34" charset="0"/>
                <a:ea typeface="Courier New" pitchFamily="34" charset="-122"/>
                <a:cs typeface="Courier New" pitchFamily="34" charset="-120"/>
              </a:rPr>
              <a:t>639</a:t>
            </a:r>
            <a:endParaRPr lang="en-US" sz="1050" dirty="0"/>
          </a:p>
        </p:txBody>
      </p:sp>
      <p:sp>
        <p:nvSpPr>
          <p:cNvPr id="17" name="fd3"/>
          <p:cNvSpPr txBox="1"/>
          <p:nvPr/>
        </p:nvSpPr>
        <p:spPr>
          <a:xfrm>
            <a:off x="2578608" y="3145536"/>
            <a:ext cx="4114800" cy="292608"/>
          </a:xfrm>
          <a:prstGeom prst="rect">
            <a:avLst/>
          </a:prstGeom>
          <a:noFill/>
          <a:ln/>
        </p:spPr>
        <p:txBody>
          <a:bodyPr wrap="square" lIns="0" tIns="0" rIns="0" bIns="0" rtlCol="0" anchor="ctr"/>
          <a:lstStyle/>
          <a:p>
            <a:pPr indent="0" marL="0">
              <a:buNone/>
            </a:pPr>
            <a:r>
              <a:rPr lang="en-US" sz="1100" dirty="0">
                <a:solidFill>
                  <a:srgbClr val="DCE6F2"/>
                </a:solidFill>
              </a:rPr>
              <a:t>three-address code, backpatching</a:t>
            </a:r>
            <a:endParaRPr lang="en-US" sz="1100" dirty="0"/>
          </a:p>
        </p:txBody>
      </p:sp>
      <p:sp>
        <p:nvSpPr>
          <p:cNvPr id="18" name="ff4"/>
          <p:cNvSpPr txBox="1"/>
          <p:nvPr/>
        </p:nvSpPr>
        <p:spPr>
          <a:xfrm>
            <a:off x="768096" y="3511296"/>
            <a:ext cx="1188720" cy="292608"/>
          </a:xfrm>
          <a:prstGeom prst="rect">
            <a:avLst/>
          </a:prstGeom>
          <a:noFill/>
          <a:ln/>
        </p:spPr>
        <p:txBody>
          <a:bodyPr wrap="square" lIns="0" tIns="0" rIns="0" bIns="0" rtlCol="0" anchor="ctr"/>
          <a:lstStyle/>
          <a:p>
            <a:pPr indent="0" marL="0">
              <a:buNone/>
            </a:pPr>
            <a:r>
              <a:rPr lang="en-US" sz="1100" dirty="0">
                <a:solidFill>
                  <a:srgbClr val="35C6A8"/>
                </a:solidFill>
                <a:latin typeface="Courier New" pitchFamily="34" charset="0"/>
                <a:ea typeface="Courier New" pitchFamily="34" charset="-122"/>
                <a:cs typeface="Courier New" pitchFamily="34" charset="-120"/>
              </a:rPr>
              <a:t>cfg.c</a:t>
            </a:r>
            <a:endParaRPr lang="en-US" sz="1100" dirty="0"/>
          </a:p>
        </p:txBody>
      </p:sp>
      <p:sp>
        <p:nvSpPr>
          <p:cNvPr id="19" name="fn4"/>
          <p:cNvSpPr txBox="1"/>
          <p:nvPr/>
        </p:nvSpPr>
        <p:spPr>
          <a:xfrm>
            <a:off x="1956816" y="3511296"/>
            <a:ext cx="457200" cy="292608"/>
          </a:xfrm>
          <a:prstGeom prst="rect">
            <a:avLst/>
          </a:prstGeom>
          <a:noFill/>
          <a:ln/>
        </p:spPr>
        <p:txBody>
          <a:bodyPr wrap="square" lIns="0" tIns="0" rIns="0" bIns="0" rtlCol="0" anchor="ctr"/>
          <a:lstStyle/>
          <a:p>
            <a:pPr algn="r" indent="0" marL="0">
              <a:buNone/>
            </a:pPr>
            <a:r>
              <a:rPr lang="en-US" sz="1050" dirty="0">
                <a:solidFill>
                  <a:srgbClr val="8D9CAF"/>
                </a:solidFill>
                <a:latin typeface="Courier New" pitchFamily="34" charset="0"/>
                <a:ea typeface="Courier New" pitchFamily="34" charset="-122"/>
                <a:cs typeface="Courier New" pitchFamily="34" charset="-120"/>
              </a:rPr>
              <a:t>490</a:t>
            </a:r>
            <a:endParaRPr lang="en-US" sz="1050" dirty="0"/>
          </a:p>
        </p:txBody>
      </p:sp>
      <p:sp>
        <p:nvSpPr>
          <p:cNvPr id="20" name="fd4"/>
          <p:cNvSpPr txBox="1"/>
          <p:nvPr/>
        </p:nvSpPr>
        <p:spPr>
          <a:xfrm>
            <a:off x="2578608" y="3511296"/>
            <a:ext cx="4114800" cy="292608"/>
          </a:xfrm>
          <a:prstGeom prst="rect">
            <a:avLst/>
          </a:prstGeom>
          <a:noFill/>
          <a:ln/>
        </p:spPr>
        <p:txBody>
          <a:bodyPr wrap="square" lIns="0" tIns="0" rIns="0" bIns="0" rtlCol="0" anchor="ctr"/>
          <a:lstStyle/>
          <a:p>
            <a:pPr indent="0" marL="0">
              <a:buNone/>
            </a:pPr>
            <a:r>
              <a:rPr lang="en-US" sz="1100" dirty="0">
                <a:solidFill>
                  <a:srgbClr val="DCE6F2"/>
                </a:solidFill>
              </a:rPr>
              <a:t>blocks, dominators, loops, liveness</a:t>
            </a:r>
            <a:endParaRPr lang="en-US" sz="1100" dirty="0"/>
          </a:p>
        </p:txBody>
      </p:sp>
      <p:sp>
        <p:nvSpPr>
          <p:cNvPr id="21" name="ff5"/>
          <p:cNvSpPr txBox="1"/>
          <p:nvPr/>
        </p:nvSpPr>
        <p:spPr>
          <a:xfrm>
            <a:off x="768096" y="3877056"/>
            <a:ext cx="1188720" cy="292608"/>
          </a:xfrm>
          <a:prstGeom prst="rect">
            <a:avLst/>
          </a:prstGeom>
          <a:noFill/>
          <a:ln/>
        </p:spPr>
        <p:txBody>
          <a:bodyPr wrap="square" lIns="0" tIns="0" rIns="0" bIns="0" rtlCol="0" anchor="ctr"/>
          <a:lstStyle/>
          <a:p>
            <a:pPr indent="0" marL="0">
              <a:buNone/>
            </a:pPr>
            <a:r>
              <a:rPr lang="en-US" sz="1100" dirty="0">
                <a:solidFill>
                  <a:srgbClr val="35C6A8"/>
                </a:solidFill>
                <a:latin typeface="Courier New" pitchFamily="34" charset="0"/>
                <a:ea typeface="Courier New" pitchFamily="34" charset="-122"/>
                <a:cs typeface="Courier New" pitchFamily="34" charset="-120"/>
              </a:rPr>
              <a:t>ssa.c</a:t>
            </a:r>
            <a:endParaRPr lang="en-US" sz="1100" dirty="0"/>
          </a:p>
        </p:txBody>
      </p:sp>
      <p:sp>
        <p:nvSpPr>
          <p:cNvPr id="22" name="fn5"/>
          <p:cNvSpPr txBox="1"/>
          <p:nvPr/>
        </p:nvSpPr>
        <p:spPr>
          <a:xfrm>
            <a:off x="1956816" y="3877056"/>
            <a:ext cx="457200" cy="292608"/>
          </a:xfrm>
          <a:prstGeom prst="rect">
            <a:avLst/>
          </a:prstGeom>
          <a:noFill/>
          <a:ln/>
        </p:spPr>
        <p:txBody>
          <a:bodyPr wrap="square" lIns="0" tIns="0" rIns="0" bIns="0" rtlCol="0" anchor="ctr"/>
          <a:lstStyle/>
          <a:p>
            <a:pPr algn="r" indent="0" marL="0">
              <a:buNone/>
            </a:pPr>
            <a:r>
              <a:rPr lang="en-US" sz="1050" dirty="0">
                <a:solidFill>
                  <a:srgbClr val="8D9CAF"/>
                </a:solidFill>
                <a:latin typeface="Courier New" pitchFamily="34" charset="0"/>
                <a:ea typeface="Courier New" pitchFamily="34" charset="-122"/>
                <a:cs typeface="Courier New" pitchFamily="34" charset="-120"/>
              </a:rPr>
              <a:t>435</a:t>
            </a:r>
            <a:endParaRPr lang="en-US" sz="1050" dirty="0"/>
          </a:p>
        </p:txBody>
      </p:sp>
      <p:sp>
        <p:nvSpPr>
          <p:cNvPr id="23" name="fd5"/>
          <p:cNvSpPr txBox="1"/>
          <p:nvPr/>
        </p:nvSpPr>
        <p:spPr>
          <a:xfrm>
            <a:off x="2578608" y="3877056"/>
            <a:ext cx="4114800" cy="292608"/>
          </a:xfrm>
          <a:prstGeom prst="rect">
            <a:avLst/>
          </a:prstGeom>
          <a:noFill/>
          <a:ln/>
        </p:spPr>
        <p:txBody>
          <a:bodyPr wrap="square" lIns="0" tIns="0" rIns="0" bIns="0" rtlCol="0" anchor="ctr"/>
          <a:lstStyle/>
          <a:p>
            <a:pPr indent="0" marL="0">
              <a:buNone/>
            </a:pPr>
            <a:r>
              <a:rPr lang="en-US" sz="1100" dirty="0">
                <a:solidFill>
                  <a:srgbClr val="DCE6F2"/>
                </a:solidFill>
              </a:rPr>
              <a:t>dominance frontiers, pruned phis</a:t>
            </a:r>
            <a:endParaRPr lang="en-US" sz="1100" dirty="0"/>
          </a:p>
        </p:txBody>
      </p:sp>
      <p:sp>
        <p:nvSpPr>
          <p:cNvPr id="24" name="ff6"/>
          <p:cNvSpPr txBox="1"/>
          <p:nvPr/>
        </p:nvSpPr>
        <p:spPr>
          <a:xfrm>
            <a:off x="768096" y="4242816"/>
            <a:ext cx="1188720" cy="292608"/>
          </a:xfrm>
          <a:prstGeom prst="rect">
            <a:avLst/>
          </a:prstGeom>
          <a:noFill/>
          <a:ln/>
        </p:spPr>
        <p:txBody>
          <a:bodyPr wrap="square" lIns="0" tIns="0" rIns="0" bIns="0" rtlCol="0" anchor="ctr"/>
          <a:lstStyle/>
          <a:p>
            <a:pPr indent="0" marL="0">
              <a:buNone/>
            </a:pPr>
            <a:r>
              <a:rPr lang="en-US" sz="1100" dirty="0">
                <a:solidFill>
                  <a:srgbClr val="35C6A8"/>
                </a:solidFill>
                <a:latin typeface="Courier New" pitchFamily="34" charset="0"/>
                <a:ea typeface="Courier New" pitchFamily="34" charset="-122"/>
                <a:cs typeface="Courier New" pitchFamily="34" charset="-120"/>
              </a:rPr>
              <a:t>opt.c</a:t>
            </a:r>
            <a:endParaRPr lang="en-US" sz="1100" dirty="0"/>
          </a:p>
        </p:txBody>
      </p:sp>
      <p:sp>
        <p:nvSpPr>
          <p:cNvPr id="25" name="fn6"/>
          <p:cNvSpPr txBox="1"/>
          <p:nvPr/>
        </p:nvSpPr>
        <p:spPr>
          <a:xfrm>
            <a:off x="1956816" y="4242816"/>
            <a:ext cx="457200" cy="292608"/>
          </a:xfrm>
          <a:prstGeom prst="rect">
            <a:avLst/>
          </a:prstGeom>
          <a:noFill/>
          <a:ln/>
        </p:spPr>
        <p:txBody>
          <a:bodyPr wrap="square" lIns="0" tIns="0" rIns="0" bIns="0" rtlCol="0" anchor="ctr"/>
          <a:lstStyle/>
          <a:p>
            <a:pPr algn="r" indent="0" marL="0">
              <a:buNone/>
            </a:pPr>
            <a:r>
              <a:rPr lang="en-US" sz="1050" dirty="0">
                <a:solidFill>
                  <a:srgbClr val="8D9CAF"/>
                </a:solidFill>
                <a:latin typeface="Courier New" pitchFamily="34" charset="0"/>
                <a:ea typeface="Courier New" pitchFamily="34" charset="-122"/>
                <a:cs typeface="Courier New" pitchFamily="34" charset="-120"/>
              </a:rPr>
              <a:t>885</a:t>
            </a:r>
            <a:endParaRPr lang="en-US" sz="1050" dirty="0"/>
          </a:p>
        </p:txBody>
      </p:sp>
      <p:sp>
        <p:nvSpPr>
          <p:cNvPr id="26" name="fd6"/>
          <p:cNvSpPr txBox="1"/>
          <p:nvPr/>
        </p:nvSpPr>
        <p:spPr>
          <a:xfrm>
            <a:off x="2578608" y="4242816"/>
            <a:ext cx="4114800" cy="292608"/>
          </a:xfrm>
          <a:prstGeom prst="rect">
            <a:avLst/>
          </a:prstGeom>
          <a:noFill/>
          <a:ln/>
        </p:spPr>
        <p:txBody>
          <a:bodyPr wrap="square" lIns="0" tIns="0" rIns="0" bIns="0" rtlCol="0" anchor="ctr"/>
          <a:lstStyle/>
          <a:p>
            <a:pPr indent="0" marL="0">
              <a:buNone/>
            </a:pPr>
            <a:r>
              <a:rPr lang="en-US" sz="1100" dirty="0">
                <a:solidFill>
                  <a:srgbClr val="DCE6F2"/>
                </a:solidFill>
              </a:rPr>
              <a:t>seven passes to a fixed point</a:t>
            </a:r>
            <a:endParaRPr lang="en-US" sz="1100" dirty="0"/>
          </a:p>
        </p:txBody>
      </p:sp>
      <p:sp>
        <p:nvSpPr>
          <p:cNvPr id="27" name="ff7"/>
          <p:cNvSpPr txBox="1"/>
          <p:nvPr/>
        </p:nvSpPr>
        <p:spPr>
          <a:xfrm>
            <a:off x="768096" y="4608576"/>
            <a:ext cx="1188720" cy="292608"/>
          </a:xfrm>
          <a:prstGeom prst="rect">
            <a:avLst/>
          </a:prstGeom>
          <a:noFill/>
          <a:ln/>
        </p:spPr>
        <p:txBody>
          <a:bodyPr wrap="square" lIns="0" tIns="0" rIns="0" bIns="0" rtlCol="0" anchor="ctr"/>
          <a:lstStyle/>
          <a:p>
            <a:pPr indent="0" marL="0">
              <a:buNone/>
            </a:pPr>
            <a:r>
              <a:rPr lang="en-US" sz="1100" dirty="0">
                <a:solidFill>
                  <a:srgbClr val="35C6A8"/>
                </a:solidFill>
                <a:latin typeface="Courier New" pitchFamily="34" charset="0"/>
                <a:ea typeface="Courier New" pitchFamily="34" charset="-122"/>
                <a:cs typeface="Courier New" pitchFamily="34" charset="-120"/>
              </a:rPr>
              <a:t>analysis.c</a:t>
            </a:r>
            <a:endParaRPr lang="en-US" sz="1100" dirty="0"/>
          </a:p>
        </p:txBody>
      </p:sp>
      <p:sp>
        <p:nvSpPr>
          <p:cNvPr id="28" name="fn7"/>
          <p:cNvSpPr txBox="1"/>
          <p:nvPr/>
        </p:nvSpPr>
        <p:spPr>
          <a:xfrm>
            <a:off x="1956816" y="4608576"/>
            <a:ext cx="457200" cy="292608"/>
          </a:xfrm>
          <a:prstGeom prst="rect">
            <a:avLst/>
          </a:prstGeom>
          <a:noFill/>
          <a:ln/>
        </p:spPr>
        <p:txBody>
          <a:bodyPr wrap="square" lIns="0" tIns="0" rIns="0" bIns="0" rtlCol="0" anchor="ctr"/>
          <a:lstStyle/>
          <a:p>
            <a:pPr algn="r" indent="0" marL="0">
              <a:buNone/>
            </a:pPr>
            <a:r>
              <a:rPr lang="en-US" sz="1050" dirty="0">
                <a:solidFill>
                  <a:srgbClr val="8D9CAF"/>
                </a:solidFill>
                <a:latin typeface="Courier New" pitchFamily="34" charset="0"/>
                <a:ea typeface="Courier New" pitchFamily="34" charset="-122"/>
                <a:cs typeface="Courier New" pitchFamily="34" charset="-120"/>
              </a:rPr>
              <a:t>286</a:t>
            </a:r>
            <a:endParaRPr lang="en-US" sz="1050" dirty="0"/>
          </a:p>
        </p:txBody>
      </p:sp>
      <p:sp>
        <p:nvSpPr>
          <p:cNvPr id="29" name="fd7"/>
          <p:cNvSpPr txBox="1"/>
          <p:nvPr/>
        </p:nvSpPr>
        <p:spPr>
          <a:xfrm>
            <a:off x="2578608" y="4608576"/>
            <a:ext cx="4114800" cy="292608"/>
          </a:xfrm>
          <a:prstGeom prst="rect">
            <a:avLst/>
          </a:prstGeom>
          <a:noFill/>
          <a:ln/>
        </p:spPr>
        <p:txBody>
          <a:bodyPr wrap="square" lIns="0" tIns="0" rIns="0" bIns="0" rtlCol="0" anchor="ctr"/>
          <a:lstStyle/>
          <a:p>
            <a:pPr indent="0" marL="0">
              <a:buNone/>
            </a:pPr>
            <a:r>
              <a:rPr lang="en-US" sz="1100" dirty="0">
                <a:solidFill>
                  <a:srgbClr val="DCE6F2"/>
                </a:solidFill>
              </a:rPr>
              <a:t>ranges and clearance consistency</a:t>
            </a:r>
            <a:endParaRPr lang="en-US" sz="1100" dirty="0"/>
          </a:p>
        </p:txBody>
      </p:sp>
      <p:sp>
        <p:nvSpPr>
          <p:cNvPr id="30" name="ff8"/>
          <p:cNvSpPr txBox="1"/>
          <p:nvPr/>
        </p:nvSpPr>
        <p:spPr>
          <a:xfrm>
            <a:off x="768096" y="4974336"/>
            <a:ext cx="1188720" cy="292608"/>
          </a:xfrm>
          <a:prstGeom prst="rect">
            <a:avLst/>
          </a:prstGeom>
          <a:noFill/>
          <a:ln/>
        </p:spPr>
        <p:txBody>
          <a:bodyPr wrap="square" lIns="0" tIns="0" rIns="0" bIns="0" rtlCol="0" anchor="ctr"/>
          <a:lstStyle/>
          <a:p>
            <a:pPr indent="0" marL="0">
              <a:buNone/>
            </a:pPr>
            <a:r>
              <a:rPr lang="en-US" sz="1100" dirty="0">
                <a:solidFill>
                  <a:srgbClr val="35C6A8"/>
                </a:solidFill>
                <a:latin typeface="Courier New" pitchFamily="34" charset="0"/>
                <a:ea typeface="Courier New" pitchFamily="34" charset="-122"/>
                <a:cs typeface="Courier New" pitchFamily="34" charset="-120"/>
              </a:rPr>
              <a:t>codegen.c</a:t>
            </a:r>
            <a:endParaRPr lang="en-US" sz="1100" dirty="0"/>
          </a:p>
        </p:txBody>
      </p:sp>
      <p:sp>
        <p:nvSpPr>
          <p:cNvPr id="31" name="fn8"/>
          <p:cNvSpPr txBox="1"/>
          <p:nvPr/>
        </p:nvSpPr>
        <p:spPr>
          <a:xfrm>
            <a:off x="1956816" y="4974336"/>
            <a:ext cx="457200" cy="292608"/>
          </a:xfrm>
          <a:prstGeom prst="rect">
            <a:avLst/>
          </a:prstGeom>
          <a:noFill/>
          <a:ln/>
        </p:spPr>
        <p:txBody>
          <a:bodyPr wrap="square" lIns="0" tIns="0" rIns="0" bIns="0" rtlCol="0" anchor="ctr"/>
          <a:lstStyle/>
          <a:p>
            <a:pPr algn="r" indent="0" marL="0">
              <a:buNone/>
            </a:pPr>
            <a:r>
              <a:rPr lang="en-US" sz="1050" dirty="0">
                <a:solidFill>
                  <a:srgbClr val="8D9CAF"/>
                </a:solidFill>
                <a:latin typeface="Courier New" pitchFamily="34" charset="0"/>
                <a:ea typeface="Courier New" pitchFamily="34" charset="-122"/>
                <a:cs typeface="Courier New" pitchFamily="34" charset="-120"/>
              </a:rPr>
              <a:t>739</a:t>
            </a:r>
            <a:endParaRPr lang="en-US" sz="1050" dirty="0"/>
          </a:p>
        </p:txBody>
      </p:sp>
      <p:sp>
        <p:nvSpPr>
          <p:cNvPr id="32" name="fd8"/>
          <p:cNvSpPr txBox="1"/>
          <p:nvPr/>
        </p:nvSpPr>
        <p:spPr>
          <a:xfrm>
            <a:off x="2578608" y="4974336"/>
            <a:ext cx="4114800" cy="292608"/>
          </a:xfrm>
          <a:prstGeom prst="rect">
            <a:avLst/>
          </a:prstGeom>
          <a:noFill/>
          <a:ln/>
        </p:spPr>
        <p:txBody>
          <a:bodyPr wrap="square" lIns="0" tIns="0" rIns="0" bIns="0" rtlCol="0" anchor="ctr"/>
          <a:lstStyle/>
          <a:p>
            <a:pPr indent="0" marL="0">
              <a:buNone/>
            </a:pPr>
            <a:r>
              <a:rPr lang="en-US" sz="1100" dirty="0">
                <a:solidFill>
                  <a:srgbClr val="DCE6F2"/>
                </a:solidFill>
              </a:rPr>
              <a:t>next-use, allocation, bytecode, peephole</a:t>
            </a:r>
            <a:endParaRPr lang="en-US" sz="1100" dirty="0"/>
          </a:p>
        </p:txBody>
      </p:sp>
      <p:sp>
        <p:nvSpPr>
          <p:cNvPr id="33" name="ff9"/>
          <p:cNvSpPr txBox="1"/>
          <p:nvPr/>
        </p:nvSpPr>
        <p:spPr>
          <a:xfrm>
            <a:off x="768096" y="5340096"/>
            <a:ext cx="1188720" cy="292608"/>
          </a:xfrm>
          <a:prstGeom prst="rect">
            <a:avLst/>
          </a:prstGeom>
          <a:noFill/>
          <a:ln/>
        </p:spPr>
        <p:txBody>
          <a:bodyPr wrap="square" lIns="0" tIns="0" rIns="0" bIns="0" rtlCol="0" anchor="ctr"/>
          <a:lstStyle/>
          <a:p>
            <a:pPr indent="0" marL="0">
              <a:buNone/>
            </a:pPr>
            <a:r>
              <a:rPr lang="en-US" sz="1100" dirty="0">
                <a:solidFill>
                  <a:srgbClr val="35C6A8"/>
                </a:solidFill>
                <a:latin typeface="Courier New" pitchFamily="34" charset="0"/>
                <a:ea typeface="Courier New" pitchFamily="34" charset="-122"/>
                <a:cs typeface="Courier New" pitchFamily="34" charset="-120"/>
              </a:rPr>
              <a:t>vm.c</a:t>
            </a:r>
            <a:endParaRPr lang="en-US" sz="1100" dirty="0"/>
          </a:p>
        </p:txBody>
      </p:sp>
      <p:sp>
        <p:nvSpPr>
          <p:cNvPr id="34" name="fn9"/>
          <p:cNvSpPr txBox="1"/>
          <p:nvPr/>
        </p:nvSpPr>
        <p:spPr>
          <a:xfrm>
            <a:off x="1956816" y="5340096"/>
            <a:ext cx="457200" cy="292608"/>
          </a:xfrm>
          <a:prstGeom prst="rect">
            <a:avLst/>
          </a:prstGeom>
          <a:noFill/>
          <a:ln/>
        </p:spPr>
        <p:txBody>
          <a:bodyPr wrap="square" lIns="0" tIns="0" rIns="0" bIns="0" rtlCol="0" anchor="ctr"/>
          <a:lstStyle/>
          <a:p>
            <a:pPr algn="r" indent="0" marL="0">
              <a:buNone/>
            </a:pPr>
            <a:r>
              <a:rPr lang="en-US" sz="1050" dirty="0">
                <a:solidFill>
                  <a:srgbClr val="8D9CAF"/>
                </a:solidFill>
                <a:latin typeface="Courier New" pitchFamily="34" charset="0"/>
                <a:ea typeface="Courier New" pitchFamily="34" charset="-122"/>
                <a:cs typeface="Courier New" pitchFamily="34" charset="-120"/>
              </a:rPr>
              <a:t>826</a:t>
            </a:r>
            <a:endParaRPr lang="en-US" sz="1050" dirty="0"/>
          </a:p>
        </p:txBody>
      </p:sp>
      <p:sp>
        <p:nvSpPr>
          <p:cNvPr id="35" name="fd9"/>
          <p:cNvSpPr txBox="1"/>
          <p:nvPr/>
        </p:nvSpPr>
        <p:spPr>
          <a:xfrm>
            <a:off x="2578608" y="5340096"/>
            <a:ext cx="4114800" cy="292608"/>
          </a:xfrm>
          <a:prstGeom prst="rect">
            <a:avLst/>
          </a:prstGeom>
          <a:noFill/>
          <a:ln/>
        </p:spPr>
        <p:txBody>
          <a:bodyPr wrap="square" lIns="0" tIns="0" rIns="0" bIns="0" rtlCol="0" anchor="ctr"/>
          <a:lstStyle/>
          <a:p>
            <a:pPr indent="0" marL="0">
              <a:buNone/>
            </a:pPr>
            <a:r>
              <a:rPr lang="en-US" sz="1100" dirty="0">
                <a:solidFill>
                  <a:srgbClr val="DCE6F2"/>
                </a:solidFill>
              </a:rPr>
              <a:t>machine, flight model, separation monitor</a:t>
            </a:r>
            <a:endParaRPr lang="en-US" sz="1100" dirty="0"/>
          </a:p>
        </p:txBody>
      </p:sp>
      <p:sp>
        <p:nvSpPr>
          <p:cNvPr id="36" name="sb0"/>
          <p:cNvSpPr/>
          <p:nvPr/>
        </p:nvSpPr>
        <p:spPr>
          <a:xfrm>
            <a:off x="7150608" y="1572768"/>
            <a:ext cx="4474159" cy="932688"/>
          </a:xfrm>
          <a:prstGeom prst="roundRect">
            <a:avLst>
              <a:gd name="adj" fmla="val 6863"/>
            </a:avLst>
          </a:prstGeom>
          <a:solidFill>
            <a:srgbClr val="16233A"/>
          </a:solidFill>
          <a:ln w="12700">
            <a:solidFill>
              <a:srgbClr val="22344F"/>
            </a:solidFill>
            <a:prstDash val="solid"/>
          </a:ln>
        </p:spPr>
      </p:sp>
      <p:sp>
        <p:nvSpPr>
          <p:cNvPr id="37" name="sbig0"/>
          <p:cNvSpPr txBox="1"/>
          <p:nvPr/>
        </p:nvSpPr>
        <p:spPr>
          <a:xfrm>
            <a:off x="7333488" y="1627632"/>
            <a:ext cx="1371600" cy="822960"/>
          </a:xfrm>
          <a:prstGeom prst="rect">
            <a:avLst/>
          </a:prstGeom>
          <a:noFill/>
          <a:ln/>
        </p:spPr>
        <p:txBody>
          <a:bodyPr wrap="square" lIns="0" tIns="0" rIns="0" bIns="0" rtlCol="0" anchor="ctr"/>
          <a:lstStyle/>
          <a:p>
            <a:pPr indent="0" marL="0">
              <a:buNone/>
            </a:pPr>
            <a:r>
              <a:rPr lang="en-US" sz="3400" b="1" dirty="0">
                <a:solidFill>
                  <a:srgbClr val="35C6A8"/>
                </a:solidFill>
              </a:rPr>
              <a:t>336</a:t>
            </a:r>
            <a:endParaRPr lang="en-US" sz="3400" dirty="0"/>
          </a:p>
        </p:txBody>
      </p:sp>
      <p:sp>
        <p:nvSpPr>
          <p:cNvPr id="38" name="slab0"/>
          <p:cNvSpPr txBox="1"/>
          <p:nvPr/>
        </p:nvSpPr>
        <p:spPr>
          <a:xfrm>
            <a:off x="8750808" y="1627632"/>
            <a:ext cx="2691079" cy="822960"/>
          </a:xfrm>
          <a:prstGeom prst="rect">
            <a:avLst/>
          </a:prstGeom>
          <a:noFill/>
          <a:ln/>
        </p:spPr>
        <p:txBody>
          <a:bodyPr wrap="square" lIns="0" tIns="0" rIns="0" bIns="0" rtlCol="0" anchor="ctr"/>
          <a:lstStyle/>
          <a:p>
            <a:pPr indent="0" marL="0">
              <a:buNone/>
            </a:pPr>
            <a:r>
              <a:rPr lang="en-US" sz="1150" dirty="0">
                <a:solidFill>
                  <a:srgbClr val="DCE6F2"/>
                </a:solidFill>
              </a:rPr>
              <a:t>checks pass</a:t>
            </a:r>
            <a:endParaRPr lang="en-US" sz="1150" dirty="0"/>
          </a:p>
        </p:txBody>
      </p:sp>
      <p:sp>
        <p:nvSpPr>
          <p:cNvPr id="39" name="sb1"/>
          <p:cNvSpPr/>
          <p:nvPr/>
        </p:nvSpPr>
        <p:spPr>
          <a:xfrm>
            <a:off x="7150608" y="2670048"/>
            <a:ext cx="4474159" cy="932688"/>
          </a:xfrm>
          <a:prstGeom prst="roundRect">
            <a:avLst>
              <a:gd name="adj" fmla="val 6863"/>
            </a:avLst>
          </a:prstGeom>
          <a:solidFill>
            <a:srgbClr val="16233A"/>
          </a:solidFill>
          <a:ln w="12700">
            <a:solidFill>
              <a:srgbClr val="22344F"/>
            </a:solidFill>
            <a:prstDash val="solid"/>
          </a:ln>
        </p:spPr>
      </p:sp>
      <p:sp>
        <p:nvSpPr>
          <p:cNvPr id="40" name="sbig1"/>
          <p:cNvSpPr txBox="1"/>
          <p:nvPr/>
        </p:nvSpPr>
        <p:spPr>
          <a:xfrm>
            <a:off x="7333488" y="2724912"/>
            <a:ext cx="1371600" cy="822960"/>
          </a:xfrm>
          <a:prstGeom prst="rect">
            <a:avLst/>
          </a:prstGeom>
          <a:noFill/>
          <a:ln/>
        </p:spPr>
        <p:txBody>
          <a:bodyPr wrap="square" lIns="0" tIns="0" rIns="0" bIns="0" rtlCol="0" anchor="ctr"/>
          <a:lstStyle/>
          <a:p>
            <a:pPr indent="0" marL="0">
              <a:buNone/>
            </a:pPr>
            <a:r>
              <a:rPr lang="en-US" sz="3400" b="1" dirty="0">
                <a:solidFill>
                  <a:srgbClr val="E8A33D"/>
                </a:solidFill>
              </a:rPr>
              <a:t>18</a:t>
            </a:r>
            <a:endParaRPr lang="en-US" sz="3400" dirty="0"/>
          </a:p>
        </p:txBody>
      </p:sp>
      <p:sp>
        <p:nvSpPr>
          <p:cNvPr id="41" name="slab1"/>
          <p:cNvSpPr txBox="1"/>
          <p:nvPr/>
        </p:nvSpPr>
        <p:spPr>
          <a:xfrm>
            <a:off x="8750808" y="2724912"/>
            <a:ext cx="2691079" cy="822960"/>
          </a:xfrm>
          <a:prstGeom prst="rect">
            <a:avLst/>
          </a:prstGeom>
          <a:noFill/>
          <a:ln/>
        </p:spPr>
        <p:txBody>
          <a:bodyPr wrap="square" lIns="0" tIns="0" rIns="0" bIns="0" rtlCol="0" anchor="ctr"/>
          <a:lstStyle/>
          <a:p>
            <a:pPr indent="0" marL="0">
              <a:buNone/>
            </a:pPr>
            <a:r>
              <a:rPr lang="en-US" sz="1150" dirty="0">
                <a:solidFill>
                  <a:srgbClr val="DCE6F2"/>
                </a:solidFill>
              </a:rPr>
              <a:t>scenarios run twice, with and without the optimiser, and compared</a:t>
            </a:r>
            <a:endParaRPr lang="en-US" sz="1150" dirty="0"/>
          </a:p>
        </p:txBody>
      </p:sp>
      <p:sp>
        <p:nvSpPr>
          <p:cNvPr id="42" name="sb2"/>
          <p:cNvSpPr/>
          <p:nvPr/>
        </p:nvSpPr>
        <p:spPr>
          <a:xfrm>
            <a:off x="7150608" y="3767328"/>
            <a:ext cx="4474159" cy="932688"/>
          </a:xfrm>
          <a:prstGeom prst="roundRect">
            <a:avLst>
              <a:gd name="adj" fmla="val 6863"/>
            </a:avLst>
          </a:prstGeom>
          <a:solidFill>
            <a:srgbClr val="16233A"/>
          </a:solidFill>
          <a:ln w="12700">
            <a:solidFill>
              <a:srgbClr val="22344F"/>
            </a:solidFill>
            <a:prstDash val="solid"/>
          </a:ln>
        </p:spPr>
      </p:sp>
      <p:sp>
        <p:nvSpPr>
          <p:cNvPr id="43" name="sbig2"/>
          <p:cNvSpPr txBox="1"/>
          <p:nvPr/>
        </p:nvSpPr>
        <p:spPr>
          <a:xfrm>
            <a:off x="7333488" y="3822192"/>
            <a:ext cx="1371600" cy="822960"/>
          </a:xfrm>
          <a:prstGeom prst="rect">
            <a:avLst/>
          </a:prstGeom>
          <a:noFill/>
          <a:ln/>
        </p:spPr>
        <p:txBody>
          <a:bodyPr wrap="square" lIns="0" tIns="0" rIns="0" bIns="0" rtlCol="0" anchor="ctr"/>
          <a:lstStyle/>
          <a:p>
            <a:pPr indent="0" marL="0">
              <a:buNone/>
            </a:pPr>
            <a:r>
              <a:rPr lang="en-US" sz="3400" b="1" dirty="0">
                <a:solidFill>
                  <a:srgbClr val="35C6A8"/>
                </a:solidFill>
              </a:rPr>
              <a:t>0</a:t>
            </a:r>
            <a:endParaRPr lang="en-US" sz="3400" dirty="0"/>
          </a:p>
        </p:txBody>
      </p:sp>
      <p:sp>
        <p:nvSpPr>
          <p:cNvPr id="44" name="slab2"/>
          <p:cNvSpPr txBox="1"/>
          <p:nvPr/>
        </p:nvSpPr>
        <p:spPr>
          <a:xfrm>
            <a:off x="8750808" y="3822192"/>
            <a:ext cx="2691079" cy="822960"/>
          </a:xfrm>
          <a:prstGeom prst="rect">
            <a:avLst/>
          </a:prstGeom>
          <a:noFill/>
          <a:ln/>
        </p:spPr>
        <p:txBody>
          <a:bodyPr wrap="square" lIns="0" tIns="0" rIns="0" bIns="0" rtlCol="0" anchor="ctr"/>
          <a:lstStyle/>
          <a:p>
            <a:pPr indent="0" marL="0">
              <a:buNone/>
            </a:pPr>
            <a:r>
              <a:rPr lang="en-US" sz="1150" dirty="0">
                <a:solidFill>
                  <a:srgbClr val="DCE6F2"/>
                </a:solidFill>
              </a:rPr>
              <a:t>findings under AddressSanitizer and UBSan</a:t>
            </a:r>
            <a:endParaRPr lang="en-US" sz="1150" dirty="0"/>
          </a:p>
        </p:txBody>
      </p:sp>
      <p:sp>
        <p:nvSpPr>
          <p:cNvPr id="45" name="sb3"/>
          <p:cNvSpPr/>
          <p:nvPr/>
        </p:nvSpPr>
        <p:spPr>
          <a:xfrm>
            <a:off x="7150608" y="4864608"/>
            <a:ext cx="4474159" cy="932688"/>
          </a:xfrm>
          <a:prstGeom prst="roundRect">
            <a:avLst>
              <a:gd name="adj" fmla="val 6863"/>
            </a:avLst>
          </a:prstGeom>
          <a:solidFill>
            <a:srgbClr val="16233A"/>
          </a:solidFill>
          <a:ln w="12700">
            <a:solidFill>
              <a:srgbClr val="22344F"/>
            </a:solidFill>
            <a:prstDash val="solid"/>
          </a:ln>
        </p:spPr>
      </p:sp>
      <p:sp>
        <p:nvSpPr>
          <p:cNvPr id="46" name="sbig3"/>
          <p:cNvSpPr txBox="1"/>
          <p:nvPr/>
        </p:nvSpPr>
        <p:spPr>
          <a:xfrm>
            <a:off x="7333488" y="4919472"/>
            <a:ext cx="1371600" cy="822960"/>
          </a:xfrm>
          <a:prstGeom prst="rect">
            <a:avLst/>
          </a:prstGeom>
          <a:noFill/>
          <a:ln/>
        </p:spPr>
        <p:txBody>
          <a:bodyPr wrap="square" lIns="0" tIns="0" rIns="0" bIns="0" rtlCol="0" anchor="ctr"/>
          <a:lstStyle/>
          <a:p>
            <a:pPr indent="0" marL="0">
              <a:buNone/>
            </a:pPr>
            <a:r>
              <a:rPr lang="en-US" sz="3400" b="1" dirty="0">
                <a:solidFill>
                  <a:srgbClr val="35C6A8"/>
                </a:solidFill>
              </a:rPr>
              <a:t>3000</a:t>
            </a:r>
            <a:endParaRPr lang="en-US" sz="3400" dirty="0"/>
          </a:p>
        </p:txBody>
      </p:sp>
      <p:sp>
        <p:nvSpPr>
          <p:cNvPr id="47" name="slab3"/>
          <p:cNvSpPr txBox="1"/>
          <p:nvPr/>
        </p:nvSpPr>
        <p:spPr>
          <a:xfrm>
            <a:off x="8750808" y="4919472"/>
            <a:ext cx="2691079" cy="822960"/>
          </a:xfrm>
          <a:prstGeom prst="rect">
            <a:avLst/>
          </a:prstGeom>
          <a:noFill/>
          <a:ln/>
        </p:spPr>
        <p:txBody>
          <a:bodyPr wrap="square" lIns="0" tIns="0" rIns="0" bIns="0" rtlCol="0" anchor="ctr"/>
          <a:lstStyle/>
          <a:p>
            <a:pPr indent="0" marL="0">
              <a:buNone/>
            </a:pPr>
            <a:r>
              <a:rPr lang="en-US" sz="1150" dirty="0">
                <a:solidFill>
                  <a:srgbClr val="DCE6F2"/>
                </a:solidFill>
              </a:rPr>
              <a:t>fuzz inputs, no crash</a:t>
            </a:r>
            <a:endParaRPr lang="en-US" sz="1150" dirty="0"/>
          </a:p>
        </p:txBody>
      </p:sp>
      <p:sp>
        <p:nvSpPr>
          <p:cNvPr id="48" name="runline"/>
          <p:cNvSpPr txBox="1"/>
          <p:nvPr/>
        </p:nvSpPr>
        <p:spPr>
          <a:xfrm>
            <a:off x="566928" y="5907024"/>
            <a:ext cx="11057839" cy="292608"/>
          </a:xfrm>
          <a:prstGeom prst="rect">
            <a:avLst/>
          </a:prstGeom>
          <a:noFill/>
          <a:ln/>
        </p:spPr>
        <p:txBody>
          <a:bodyPr wrap="square" lIns="0" tIns="0" rIns="0" bIns="0" rtlCol="0" anchor="ctr"/>
          <a:lstStyle/>
          <a:p>
            <a:pPr indent="0" marL="0">
              <a:buNone/>
            </a:pPr>
            <a:r>
              <a:rPr lang="en-US" sz="1150" i="1" dirty="0">
                <a:solidFill>
                  <a:srgbClr val="35C6A8"/>
                </a:solidFill>
              </a:rPr>
              <a:t>make  ·  make test  ·  make fuzz  —  all three run clean from a fresh unzip of the submitted archive</a:t>
            </a:r>
            <a:endParaRPr lang="en-US" sz="115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5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500"/>
                                        <p:tgtEl>
                                          <p:spTgt spid="3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8"/>
                                        </p:tgtEl>
                                        <p:attrNameLst>
                                          <p:attrName>style.visibility</p:attrName>
                                        </p:attrNameLst>
                                      </p:cBhvr>
                                      <p:to>
                                        <p:strVal val="visible"/>
                                      </p:to>
                                    </p:set>
                                    <p:animEffect transition="in" filter="fade">
                                      <p:cBhvr>
                                        <p:cTn id="73" dur="500"/>
                                        <p:tgtEl>
                                          <p:spTgt spid="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500"/>
                                        <p:tgtEl>
                                          <p:spTgt spid="1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500"/>
                                        <p:tgtEl>
                                          <p:spTgt spid="1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500"/>
                                        <p:tgtEl>
                                          <p:spTgt spid="1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00"/>
                                        <p:tgtEl>
                                          <p:spTgt spid="2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500"/>
                                        <p:tgtEl>
                                          <p:spTgt spid="26"/>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500"/>
                                        <p:tgtEl>
                                          <p:spTgt spid="2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500"/>
                                        <p:tgtEl>
                                          <p:spTgt spid="35"/>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50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39"/>
                                        </p:tgtEl>
                                        <p:attrNameLst>
                                          <p:attrName>style.visibility</p:attrName>
                                        </p:attrNameLst>
                                      </p:cBhvr>
                                      <p:to>
                                        <p:strVal val="visible"/>
                                      </p:to>
                                    </p:set>
                                    <p:animEffect transition="in" filter="fade">
                                      <p:cBhvr>
                                        <p:cTn id="116" dur="500"/>
                                        <p:tgtEl>
                                          <p:spTgt spid="39"/>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0"/>
                                        </p:tgtEl>
                                        <p:attrNameLst>
                                          <p:attrName>style.visibility</p:attrName>
                                        </p:attrNameLst>
                                      </p:cBhvr>
                                      <p:to>
                                        <p:strVal val="visible"/>
                                      </p:to>
                                    </p:set>
                                    <p:animEffect transition="in" filter="fade">
                                      <p:cBhvr>
                                        <p:cTn id="119" dur="500"/>
                                        <p:tgtEl>
                                          <p:spTgt spid="40"/>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1"/>
                                        </p:tgtEl>
                                        <p:attrNameLst>
                                          <p:attrName>style.visibility</p:attrName>
                                        </p:attrNameLst>
                                      </p:cBhvr>
                                      <p:to>
                                        <p:strVal val="visible"/>
                                      </p:to>
                                    </p:set>
                                    <p:animEffect transition="in" filter="fade">
                                      <p:cBhvr>
                                        <p:cTn id="122" dur="500"/>
                                        <p:tgtEl>
                                          <p:spTgt spid="41"/>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500"/>
                                        <p:tgtEl>
                                          <p:spTgt spid="4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500"/>
                                        <p:tgtEl>
                                          <p:spTgt spid="43"/>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500"/>
                                        <p:tgtEl>
                                          <p:spTgt spid="44"/>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45"/>
                                        </p:tgtEl>
                                        <p:attrNameLst>
                                          <p:attrName>style.visibility</p:attrName>
                                        </p:attrNameLst>
                                      </p:cBhvr>
                                      <p:to>
                                        <p:strVal val="visible"/>
                                      </p:to>
                                    </p:set>
                                    <p:animEffect transition="in" filter="fade">
                                      <p:cBhvr>
                                        <p:cTn id="138" dur="500"/>
                                        <p:tgtEl>
                                          <p:spTgt spid="45"/>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6"/>
                                        </p:tgtEl>
                                        <p:attrNameLst>
                                          <p:attrName>style.visibility</p:attrName>
                                        </p:attrNameLst>
                                      </p:cBhvr>
                                      <p:to>
                                        <p:strVal val="visible"/>
                                      </p:to>
                                    </p:set>
                                    <p:animEffect transition="in" filter="fade">
                                      <p:cBhvr>
                                        <p:cTn id="141" dur="500"/>
                                        <p:tgtEl>
                                          <p:spTgt spid="46"/>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47"/>
                                        </p:tgtEl>
                                        <p:attrNameLst>
                                          <p:attrName>style.visibility</p:attrName>
                                        </p:attrNameLst>
                                      </p:cBhvr>
                                      <p:to>
                                        <p:strVal val="visible"/>
                                      </p:to>
                                    </p:set>
                                    <p:animEffect transition="in" filter="fade">
                                      <p:cBhvr>
                                        <p:cTn id="144" dur="500"/>
                                        <p:tgtEl>
                                          <p:spTgt spid="47"/>
                                        </p:tgtEl>
                                      </p:cBhvr>
                                    </p:animEffect>
                                  </p:childTnLst>
                                </p:cTn>
                              </p:par>
                            </p:childTnLst>
                          </p:cTn>
                        </p:par>
                      </p:childTnLst>
                    </p:cTn>
                  </p:par>
                  <p:par>
                    <p:cTn id="145" fill="hold">
                      <p:stCondLst>
                        <p:cond delay="indefinite"/>
                      </p:stCondLst>
                      <p:childTnLst>
                        <p:par>
                          <p:cTn id="146" fill="hold">
                            <p:stCondLst>
                              <p:cond delay="0"/>
                            </p:stCondLst>
                            <p:childTnLst>
                              <p:par>
                                <p:cTn id="147" presetID="10" presetClass="entr" presetSubtype="0" fill="hold" grpId="0" nodeType="clickEffect">
                                  <p:stCondLst>
                                    <p:cond delay="0"/>
                                  </p:stCondLst>
                                  <p:childTnLst>
                                    <p:set>
                                      <p:cBhvr>
                                        <p:cTn id="148" dur="1" fill="hold">
                                          <p:stCondLst>
                                            <p:cond delay="0"/>
                                          </p:stCondLst>
                                        </p:cTn>
                                        <p:tgtEl>
                                          <p:spTgt spid="48"/>
                                        </p:tgtEl>
                                        <p:attrNameLst>
                                          <p:attrName>style.visibility</p:attrName>
                                        </p:attrNameLst>
                                      </p:cBhvr>
                                      <p:to>
                                        <p:strVal val="visible"/>
                                      </p:to>
                                    </p:set>
                                    <p:animEffect transition="in" filter="fade">
                                      <p:cBhvr>
                                        <p:cTn id="14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9" grpId="0"/>
      <p:bldP spid="12" grpId="0"/>
      <p:bldP spid="15" grpId="0"/>
      <p:bldP spid="18" grpId="0"/>
      <p:bldP spid="21" grpId="0"/>
      <p:bldP spid="24" grpId="0"/>
      <p:bldP spid="27" grpId="0"/>
      <p:bldP spid="30" grpId="0"/>
      <p:bldP spid="33" grpId="0"/>
      <p:bldP spid="7" grpId="0"/>
      <p:bldP spid="10" grpId="0"/>
      <p:bldP spid="13" grpId="0"/>
      <p:bldP spid="16" grpId="0"/>
      <p:bldP spid="19" grpId="0"/>
      <p:bldP spid="22" grpId="0"/>
      <p:bldP spid="25" grpId="0"/>
      <p:bldP spid="28" grpId="0"/>
      <p:bldP spid="31" grpId="0"/>
      <p:bldP spid="34" grpId="0"/>
      <p:bldP spid="8" grpId="0"/>
      <p:bldP spid="11" grpId="0"/>
      <p:bldP spid="14" grpId="0"/>
      <p:bldP spid="17" grpId="0"/>
      <p:bldP spid="20" grpId="0"/>
      <p:bldP spid="23" grpId="0"/>
      <p:bldP spid="26" grpId="0"/>
      <p:bldP spid="29" grpId="0"/>
      <p:bldP spid="32"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Against the Compiler Design syllabus</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45 topics implemented, 1 partial, 3 worked on paper, 10 not covered — and the deck names all ten</a:t>
            </a:r>
            <a:endParaRPr lang="en-US" sz="1500" dirty="0"/>
          </a:p>
        </p:txBody>
      </p:sp>
      <p:sp>
        <p:nvSpPr>
          <p:cNvPr id="4" name="th1"/>
          <p:cNvSpPr txBox="1"/>
          <p:nvPr/>
        </p:nvSpPr>
        <p:spPr>
          <a:xfrm>
            <a:off x="1243584" y="1572768"/>
            <a:ext cx="1783080" cy="274320"/>
          </a:xfrm>
          <a:prstGeom prst="rect">
            <a:avLst/>
          </a:prstGeom>
          <a:noFill/>
          <a:ln/>
        </p:spPr>
        <p:txBody>
          <a:bodyPr wrap="square" lIns="0" tIns="0" rIns="0" bIns="0" rtlCol="0" anchor="ctr"/>
          <a:lstStyle/>
          <a:p>
            <a:pPr algn="l" indent="0" marL="0">
              <a:buNone/>
            </a:pPr>
            <a:r>
              <a:rPr lang="en-US" sz="950" b="1" spc="100" kern="0" dirty="0">
                <a:solidFill>
                  <a:srgbClr val="8D9CAF"/>
                </a:solidFill>
              </a:rPr>
              <a:t>Module</a:t>
            </a:r>
            <a:endParaRPr lang="en-US" sz="950" dirty="0"/>
          </a:p>
        </p:txBody>
      </p:sp>
      <p:sp>
        <p:nvSpPr>
          <p:cNvPr id="5" name="th2"/>
          <p:cNvSpPr txBox="1"/>
          <p:nvPr/>
        </p:nvSpPr>
        <p:spPr>
          <a:xfrm>
            <a:off x="3191256" y="1572768"/>
            <a:ext cx="4343400" cy="274320"/>
          </a:xfrm>
          <a:prstGeom prst="rect">
            <a:avLst/>
          </a:prstGeom>
          <a:noFill/>
          <a:ln/>
        </p:spPr>
        <p:txBody>
          <a:bodyPr wrap="square" lIns="0" tIns="0" rIns="0" bIns="0" rtlCol="0" anchor="ctr"/>
          <a:lstStyle/>
          <a:p>
            <a:pPr algn="l" indent="0" marL="0">
              <a:buNone/>
            </a:pPr>
            <a:r>
              <a:rPr lang="en-US" sz="950" b="1" spc="100" kern="0" dirty="0">
                <a:solidFill>
                  <a:srgbClr val="8D9CAF"/>
                </a:solidFill>
              </a:rPr>
              <a:t>Where it is in AeroDSL</a:t>
            </a:r>
            <a:endParaRPr lang="en-US" sz="950" dirty="0"/>
          </a:p>
        </p:txBody>
      </p:sp>
      <p:sp>
        <p:nvSpPr>
          <p:cNvPr id="6" name="th3"/>
          <p:cNvSpPr txBox="1"/>
          <p:nvPr/>
        </p:nvSpPr>
        <p:spPr>
          <a:xfrm>
            <a:off x="7699248" y="1572768"/>
            <a:ext cx="548640" cy="274320"/>
          </a:xfrm>
          <a:prstGeom prst="rect">
            <a:avLst/>
          </a:prstGeom>
          <a:noFill/>
          <a:ln/>
        </p:spPr>
        <p:txBody>
          <a:bodyPr wrap="square" lIns="0" tIns="0" rIns="0" bIns="0" rtlCol="0" anchor="ctr"/>
          <a:lstStyle/>
          <a:p>
            <a:pPr algn="ctr" indent="0" marL="0">
              <a:buNone/>
            </a:pPr>
            <a:r>
              <a:rPr lang="en-US" sz="950" b="1" spc="100" kern="0" dirty="0">
                <a:solidFill>
                  <a:srgbClr val="8D9CAF"/>
                </a:solidFill>
              </a:rPr>
              <a:t>impl.</a:t>
            </a:r>
            <a:endParaRPr lang="en-US" sz="950" dirty="0"/>
          </a:p>
        </p:txBody>
      </p:sp>
      <p:sp>
        <p:nvSpPr>
          <p:cNvPr id="7" name="th4"/>
          <p:cNvSpPr txBox="1"/>
          <p:nvPr/>
        </p:nvSpPr>
        <p:spPr>
          <a:xfrm>
            <a:off x="8412480" y="1572768"/>
            <a:ext cx="548640" cy="274320"/>
          </a:xfrm>
          <a:prstGeom prst="rect">
            <a:avLst/>
          </a:prstGeom>
          <a:noFill/>
          <a:ln/>
        </p:spPr>
        <p:txBody>
          <a:bodyPr wrap="square" lIns="0" tIns="0" rIns="0" bIns="0" rtlCol="0" anchor="ctr"/>
          <a:lstStyle/>
          <a:p>
            <a:pPr algn="ctr" indent="0" marL="0">
              <a:buNone/>
            </a:pPr>
            <a:r>
              <a:rPr lang="en-US" sz="950" b="1" spc="100" kern="0" dirty="0">
                <a:solidFill>
                  <a:srgbClr val="8D9CAF"/>
                </a:solidFill>
              </a:rPr>
              <a:t>part.</a:t>
            </a:r>
            <a:endParaRPr lang="en-US" sz="950" dirty="0"/>
          </a:p>
        </p:txBody>
      </p:sp>
      <p:sp>
        <p:nvSpPr>
          <p:cNvPr id="8" name="th5"/>
          <p:cNvSpPr txBox="1"/>
          <p:nvPr/>
        </p:nvSpPr>
        <p:spPr>
          <a:xfrm>
            <a:off x="9125712" y="1572768"/>
            <a:ext cx="548640" cy="274320"/>
          </a:xfrm>
          <a:prstGeom prst="rect">
            <a:avLst/>
          </a:prstGeom>
          <a:noFill/>
          <a:ln/>
        </p:spPr>
        <p:txBody>
          <a:bodyPr wrap="square" lIns="0" tIns="0" rIns="0" bIns="0" rtlCol="0" anchor="ctr"/>
          <a:lstStyle/>
          <a:p>
            <a:pPr algn="ctr" indent="0" marL="0">
              <a:buNone/>
            </a:pPr>
            <a:r>
              <a:rPr lang="en-US" sz="950" b="1" spc="100" kern="0" dirty="0">
                <a:solidFill>
                  <a:srgbClr val="8D9CAF"/>
                </a:solidFill>
              </a:rPr>
              <a:t>paper</a:t>
            </a:r>
            <a:endParaRPr lang="en-US" sz="950" dirty="0"/>
          </a:p>
        </p:txBody>
      </p:sp>
      <p:sp>
        <p:nvSpPr>
          <p:cNvPr id="9" name="th6"/>
          <p:cNvSpPr txBox="1"/>
          <p:nvPr/>
        </p:nvSpPr>
        <p:spPr>
          <a:xfrm>
            <a:off x="9838944" y="1572768"/>
            <a:ext cx="548640" cy="274320"/>
          </a:xfrm>
          <a:prstGeom prst="rect">
            <a:avLst/>
          </a:prstGeom>
          <a:noFill/>
          <a:ln/>
        </p:spPr>
        <p:txBody>
          <a:bodyPr wrap="square" lIns="0" tIns="0" rIns="0" bIns="0" rtlCol="0" anchor="ctr"/>
          <a:lstStyle/>
          <a:p>
            <a:pPr algn="ctr" indent="0" marL="0">
              <a:buNone/>
            </a:pPr>
            <a:r>
              <a:rPr lang="en-US" sz="950" b="1" spc="100" kern="0" dirty="0">
                <a:solidFill>
                  <a:srgbClr val="8D9CAF"/>
                </a:solidFill>
              </a:rPr>
              <a:t>not</a:t>
            </a:r>
            <a:endParaRPr lang="en-US" sz="950" dirty="0"/>
          </a:p>
        </p:txBody>
      </p:sp>
      <p:sp>
        <p:nvSpPr>
          <p:cNvPr id="10" name="row0"/>
          <p:cNvSpPr/>
          <p:nvPr/>
        </p:nvSpPr>
        <p:spPr>
          <a:xfrm>
            <a:off x="566928" y="1837944"/>
            <a:ext cx="11057839" cy="457200"/>
          </a:xfrm>
          <a:prstGeom prst="roundRect">
            <a:avLst>
              <a:gd name="adj" fmla="val 10000"/>
            </a:avLst>
          </a:prstGeom>
          <a:solidFill>
            <a:srgbClr val="16233A"/>
          </a:solidFill>
          <a:ln w="12700">
            <a:solidFill>
              <a:srgbClr val="333333"/>
            </a:solidFill>
            <a:prstDash val="solid"/>
          </a:ln>
        </p:spPr>
      </p:sp>
      <p:sp>
        <p:nvSpPr>
          <p:cNvPr id="11" name="m0"/>
          <p:cNvSpPr txBox="1"/>
          <p:nvPr/>
        </p:nvSpPr>
        <p:spPr>
          <a:xfrm>
            <a:off x="713232" y="1865376"/>
            <a:ext cx="365760" cy="402336"/>
          </a:xfrm>
          <a:prstGeom prst="rect">
            <a:avLst/>
          </a:prstGeom>
          <a:noFill/>
          <a:ln/>
        </p:spPr>
        <p:txBody>
          <a:bodyPr wrap="square" lIns="0" tIns="0" rIns="0" bIns="0" rtlCol="0" anchor="ctr"/>
          <a:lstStyle/>
          <a:p>
            <a:pPr indent="0" marL="0">
              <a:buNone/>
            </a:pPr>
            <a:r>
              <a:rPr lang="en-US" sz="1300" b="1" dirty="0">
                <a:solidFill>
                  <a:srgbClr val="35C6A8"/>
                </a:solidFill>
              </a:rPr>
              <a:t>1</a:t>
            </a:r>
            <a:endParaRPr lang="en-US" sz="1300" dirty="0"/>
          </a:p>
        </p:txBody>
      </p:sp>
      <p:sp>
        <p:nvSpPr>
          <p:cNvPr id="12" name="mn0"/>
          <p:cNvSpPr txBox="1"/>
          <p:nvPr/>
        </p:nvSpPr>
        <p:spPr>
          <a:xfrm>
            <a:off x="1243584" y="1865376"/>
            <a:ext cx="1783080" cy="402336"/>
          </a:xfrm>
          <a:prstGeom prst="rect">
            <a:avLst/>
          </a:prstGeom>
          <a:noFill/>
          <a:ln/>
        </p:spPr>
        <p:txBody>
          <a:bodyPr wrap="square" lIns="0" tIns="0" rIns="0" bIns="0" rtlCol="0" anchor="ctr"/>
          <a:lstStyle/>
          <a:p>
            <a:pPr indent="0" marL="0">
              <a:buNone/>
            </a:pPr>
            <a:r>
              <a:rPr lang="en-US" sz="1100" b="1" dirty="0">
                <a:solidFill>
                  <a:srgbClr val="FFFFFF"/>
                </a:solidFill>
              </a:rPr>
              <a:t>Lexical analysis</a:t>
            </a:r>
            <a:endParaRPr lang="en-US" sz="1100" dirty="0"/>
          </a:p>
        </p:txBody>
      </p:sp>
      <p:sp>
        <p:nvSpPr>
          <p:cNvPr id="13" name="mw0"/>
          <p:cNvSpPr txBox="1"/>
          <p:nvPr/>
        </p:nvSpPr>
        <p:spPr>
          <a:xfrm>
            <a:off x="3191256" y="1865376"/>
            <a:ext cx="4343400" cy="402336"/>
          </a:xfrm>
          <a:prstGeom prst="rect">
            <a:avLst/>
          </a:prstGeom>
          <a:noFill/>
          <a:ln/>
        </p:spPr>
        <p:txBody>
          <a:bodyPr wrap="square" lIns="0" tIns="0" rIns="0" bIns="0" rtlCol="0" anchor="ctr"/>
          <a:lstStyle/>
          <a:p>
            <a:pPr indent="0" marL="0">
              <a:buNone/>
            </a:pPr>
            <a:r>
              <a:rPr lang="en-US" sz="1000" dirty="0">
                <a:solidFill>
                  <a:srgbClr val="DCE6F2"/>
                </a:solidFill>
              </a:rPr>
              <a:t>Hand-written scanner, token specification, the FL320 / AI202 DFA</a:t>
            </a:r>
            <a:endParaRPr lang="en-US" sz="1000" dirty="0"/>
          </a:p>
        </p:txBody>
      </p:sp>
      <p:sp>
        <p:nvSpPr>
          <p:cNvPr id="14" name="mc0_0"/>
          <p:cNvSpPr txBox="1"/>
          <p:nvPr/>
        </p:nvSpPr>
        <p:spPr>
          <a:xfrm>
            <a:off x="7699248" y="1865376"/>
            <a:ext cx="548640" cy="402336"/>
          </a:xfrm>
          <a:prstGeom prst="rect">
            <a:avLst/>
          </a:prstGeom>
          <a:noFill/>
          <a:ln/>
        </p:spPr>
        <p:txBody>
          <a:bodyPr wrap="square" lIns="0" tIns="0" rIns="0" bIns="0" rtlCol="0" anchor="ctr"/>
          <a:lstStyle/>
          <a:p>
            <a:pPr algn="ctr" indent="0" marL="0">
              <a:buNone/>
            </a:pPr>
            <a:r>
              <a:rPr lang="en-US" sz="1250" b="1" dirty="0">
                <a:solidFill>
                  <a:srgbClr val="35C6A8"/>
                </a:solidFill>
                <a:latin typeface="Courier New" pitchFamily="34" charset="0"/>
                <a:ea typeface="Courier New" pitchFamily="34" charset="-122"/>
                <a:cs typeface="Courier New" pitchFamily="34" charset="-120"/>
              </a:rPr>
              <a:t>5</a:t>
            </a:r>
            <a:endParaRPr lang="en-US" sz="1250" dirty="0"/>
          </a:p>
        </p:txBody>
      </p:sp>
      <p:sp>
        <p:nvSpPr>
          <p:cNvPr id="15" name="mc0_1"/>
          <p:cNvSpPr txBox="1"/>
          <p:nvPr/>
        </p:nvSpPr>
        <p:spPr>
          <a:xfrm>
            <a:off x="8412480" y="1865376"/>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16" name="mc0_2"/>
          <p:cNvSpPr txBox="1"/>
          <p:nvPr/>
        </p:nvSpPr>
        <p:spPr>
          <a:xfrm>
            <a:off x="9125712" y="1865376"/>
            <a:ext cx="548640" cy="402336"/>
          </a:xfrm>
          <a:prstGeom prst="rect">
            <a:avLst/>
          </a:prstGeom>
          <a:noFill/>
          <a:ln/>
        </p:spPr>
        <p:txBody>
          <a:bodyPr wrap="square" lIns="0" tIns="0" rIns="0" bIns="0" rtlCol="0" anchor="ctr"/>
          <a:lstStyle/>
          <a:p>
            <a:pPr algn="ctr" indent="0" marL="0">
              <a:buNone/>
            </a:pPr>
            <a:r>
              <a:rPr lang="en-US" sz="1250" b="1" dirty="0">
                <a:solidFill>
                  <a:srgbClr val="7FA3DB"/>
                </a:solidFill>
                <a:latin typeface="Courier New" pitchFamily="34" charset="0"/>
                <a:ea typeface="Courier New" pitchFamily="34" charset="-122"/>
                <a:cs typeface="Courier New" pitchFamily="34" charset="-120"/>
              </a:rPr>
              <a:t>1</a:t>
            </a:r>
            <a:endParaRPr lang="en-US" sz="1250" dirty="0"/>
          </a:p>
        </p:txBody>
      </p:sp>
      <p:sp>
        <p:nvSpPr>
          <p:cNvPr id="17" name="mc0_3"/>
          <p:cNvSpPr txBox="1"/>
          <p:nvPr/>
        </p:nvSpPr>
        <p:spPr>
          <a:xfrm>
            <a:off x="9838944" y="1865376"/>
            <a:ext cx="548640" cy="402336"/>
          </a:xfrm>
          <a:prstGeom prst="rect">
            <a:avLst/>
          </a:prstGeom>
          <a:noFill/>
          <a:ln/>
        </p:spPr>
        <p:txBody>
          <a:bodyPr wrap="square" lIns="0" tIns="0" rIns="0" bIns="0" rtlCol="0" anchor="ctr"/>
          <a:lstStyle/>
          <a:p>
            <a:pPr algn="ctr" indent="0" marL="0">
              <a:buNone/>
            </a:pPr>
            <a:r>
              <a:rPr lang="en-US" sz="1250" b="1" dirty="0">
                <a:solidFill>
                  <a:srgbClr val="E85D75"/>
                </a:solidFill>
                <a:latin typeface="Courier New" pitchFamily="34" charset="0"/>
                <a:ea typeface="Courier New" pitchFamily="34" charset="-122"/>
                <a:cs typeface="Courier New" pitchFamily="34" charset="-120"/>
              </a:rPr>
              <a:t>2</a:t>
            </a:r>
            <a:endParaRPr lang="en-US" sz="1250" dirty="0"/>
          </a:p>
        </p:txBody>
      </p:sp>
      <p:sp>
        <p:nvSpPr>
          <p:cNvPr id="18" name="row1"/>
          <p:cNvSpPr/>
          <p:nvPr/>
        </p:nvSpPr>
        <p:spPr>
          <a:xfrm>
            <a:off x="566928" y="2313432"/>
            <a:ext cx="11057839" cy="457200"/>
          </a:xfrm>
          <a:prstGeom prst="roundRect">
            <a:avLst>
              <a:gd name="adj" fmla="val 10000"/>
            </a:avLst>
          </a:prstGeom>
          <a:solidFill>
            <a:srgbClr val="101C2E"/>
          </a:solidFill>
          <a:ln w="12700">
            <a:solidFill>
              <a:srgbClr val="333333"/>
            </a:solidFill>
            <a:prstDash val="solid"/>
          </a:ln>
        </p:spPr>
      </p:sp>
      <p:sp>
        <p:nvSpPr>
          <p:cNvPr id="19" name="m1"/>
          <p:cNvSpPr txBox="1"/>
          <p:nvPr/>
        </p:nvSpPr>
        <p:spPr>
          <a:xfrm>
            <a:off x="713232" y="2340864"/>
            <a:ext cx="365760" cy="402336"/>
          </a:xfrm>
          <a:prstGeom prst="rect">
            <a:avLst/>
          </a:prstGeom>
          <a:noFill/>
          <a:ln/>
        </p:spPr>
        <p:txBody>
          <a:bodyPr wrap="square" lIns="0" tIns="0" rIns="0" bIns="0" rtlCol="0" anchor="ctr"/>
          <a:lstStyle/>
          <a:p>
            <a:pPr indent="0" marL="0">
              <a:buNone/>
            </a:pPr>
            <a:r>
              <a:rPr lang="en-US" sz="1300" b="1" dirty="0">
                <a:solidFill>
                  <a:srgbClr val="35C6A8"/>
                </a:solidFill>
              </a:rPr>
              <a:t>2</a:t>
            </a:r>
            <a:endParaRPr lang="en-US" sz="1300" dirty="0"/>
          </a:p>
        </p:txBody>
      </p:sp>
      <p:sp>
        <p:nvSpPr>
          <p:cNvPr id="20" name="mn1"/>
          <p:cNvSpPr txBox="1"/>
          <p:nvPr/>
        </p:nvSpPr>
        <p:spPr>
          <a:xfrm>
            <a:off x="1243584" y="2340864"/>
            <a:ext cx="1783080" cy="402336"/>
          </a:xfrm>
          <a:prstGeom prst="rect">
            <a:avLst/>
          </a:prstGeom>
          <a:noFill/>
          <a:ln/>
        </p:spPr>
        <p:txBody>
          <a:bodyPr wrap="square" lIns="0" tIns="0" rIns="0" bIns="0" rtlCol="0" anchor="ctr"/>
          <a:lstStyle/>
          <a:p>
            <a:pPr indent="0" marL="0">
              <a:buNone/>
            </a:pPr>
            <a:r>
              <a:rPr lang="en-US" sz="1100" b="1" dirty="0">
                <a:solidFill>
                  <a:srgbClr val="FFFFFF"/>
                </a:solidFill>
              </a:rPr>
              <a:t>Syntax analysis</a:t>
            </a:r>
            <a:endParaRPr lang="en-US" sz="1100" dirty="0"/>
          </a:p>
        </p:txBody>
      </p:sp>
      <p:sp>
        <p:nvSpPr>
          <p:cNvPr id="21" name="mw1"/>
          <p:cNvSpPr txBox="1"/>
          <p:nvPr/>
        </p:nvSpPr>
        <p:spPr>
          <a:xfrm>
            <a:off x="3191256" y="2340864"/>
            <a:ext cx="4343400" cy="402336"/>
          </a:xfrm>
          <a:prstGeom prst="rect">
            <a:avLst/>
          </a:prstGeom>
          <a:noFill/>
          <a:ln/>
        </p:spPr>
        <p:txBody>
          <a:bodyPr wrap="square" lIns="0" tIns="0" rIns="0" bIns="0" rtlCol="0" anchor="ctr"/>
          <a:lstStyle/>
          <a:p>
            <a:pPr indent="0" marL="0">
              <a:buNone/>
            </a:pPr>
            <a:r>
              <a:rPr lang="en-US" sz="1000" dirty="0">
                <a:solidFill>
                  <a:srgbClr val="DCE6F2"/>
                </a:solidFill>
              </a:rPr>
              <a:t>LL(1) recursive descent; SLR table worked by hand in the docs</a:t>
            </a:r>
            <a:endParaRPr lang="en-US" sz="1000" dirty="0"/>
          </a:p>
        </p:txBody>
      </p:sp>
      <p:sp>
        <p:nvSpPr>
          <p:cNvPr id="22" name="mc1_0"/>
          <p:cNvSpPr txBox="1"/>
          <p:nvPr/>
        </p:nvSpPr>
        <p:spPr>
          <a:xfrm>
            <a:off x="7699248" y="2340864"/>
            <a:ext cx="548640" cy="402336"/>
          </a:xfrm>
          <a:prstGeom prst="rect">
            <a:avLst/>
          </a:prstGeom>
          <a:noFill/>
          <a:ln/>
        </p:spPr>
        <p:txBody>
          <a:bodyPr wrap="square" lIns="0" tIns="0" rIns="0" bIns="0" rtlCol="0" anchor="ctr"/>
          <a:lstStyle/>
          <a:p>
            <a:pPr algn="ctr" indent="0" marL="0">
              <a:buNone/>
            </a:pPr>
            <a:r>
              <a:rPr lang="en-US" sz="1250" b="1" dirty="0">
                <a:solidFill>
                  <a:srgbClr val="35C6A8"/>
                </a:solidFill>
                <a:latin typeface="Courier New" pitchFamily="34" charset="0"/>
                <a:ea typeface="Courier New" pitchFamily="34" charset="-122"/>
                <a:cs typeface="Courier New" pitchFamily="34" charset="-120"/>
              </a:rPr>
              <a:t>6</a:t>
            </a:r>
            <a:endParaRPr lang="en-US" sz="1250" dirty="0"/>
          </a:p>
        </p:txBody>
      </p:sp>
      <p:sp>
        <p:nvSpPr>
          <p:cNvPr id="23" name="mc1_1"/>
          <p:cNvSpPr txBox="1"/>
          <p:nvPr/>
        </p:nvSpPr>
        <p:spPr>
          <a:xfrm>
            <a:off x="8412480" y="2340864"/>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24" name="mc1_2"/>
          <p:cNvSpPr txBox="1"/>
          <p:nvPr/>
        </p:nvSpPr>
        <p:spPr>
          <a:xfrm>
            <a:off x="9125712" y="2340864"/>
            <a:ext cx="548640" cy="402336"/>
          </a:xfrm>
          <a:prstGeom prst="rect">
            <a:avLst/>
          </a:prstGeom>
          <a:noFill/>
          <a:ln/>
        </p:spPr>
        <p:txBody>
          <a:bodyPr wrap="square" lIns="0" tIns="0" rIns="0" bIns="0" rtlCol="0" anchor="ctr"/>
          <a:lstStyle/>
          <a:p>
            <a:pPr algn="ctr" indent="0" marL="0">
              <a:buNone/>
            </a:pPr>
            <a:r>
              <a:rPr lang="en-US" sz="1250" b="1" dirty="0">
                <a:solidFill>
                  <a:srgbClr val="7FA3DB"/>
                </a:solidFill>
                <a:latin typeface="Courier New" pitchFamily="34" charset="0"/>
                <a:ea typeface="Courier New" pitchFamily="34" charset="-122"/>
                <a:cs typeface="Courier New" pitchFamily="34" charset="-120"/>
              </a:rPr>
              <a:t>2</a:t>
            </a:r>
            <a:endParaRPr lang="en-US" sz="1250" dirty="0"/>
          </a:p>
        </p:txBody>
      </p:sp>
      <p:sp>
        <p:nvSpPr>
          <p:cNvPr id="25" name="mc1_3"/>
          <p:cNvSpPr txBox="1"/>
          <p:nvPr/>
        </p:nvSpPr>
        <p:spPr>
          <a:xfrm>
            <a:off x="9838944" y="2340864"/>
            <a:ext cx="548640" cy="402336"/>
          </a:xfrm>
          <a:prstGeom prst="rect">
            <a:avLst/>
          </a:prstGeom>
          <a:noFill/>
          <a:ln/>
        </p:spPr>
        <p:txBody>
          <a:bodyPr wrap="square" lIns="0" tIns="0" rIns="0" bIns="0" rtlCol="0" anchor="ctr"/>
          <a:lstStyle/>
          <a:p>
            <a:pPr algn="ctr" indent="0" marL="0">
              <a:buNone/>
            </a:pPr>
            <a:r>
              <a:rPr lang="en-US" sz="1250" b="1" dirty="0">
                <a:solidFill>
                  <a:srgbClr val="E85D75"/>
                </a:solidFill>
                <a:latin typeface="Courier New" pitchFamily="34" charset="0"/>
                <a:ea typeface="Courier New" pitchFamily="34" charset="-122"/>
                <a:cs typeface="Courier New" pitchFamily="34" charset="-120"/>
              </a:rPr>
              <a:t>2</a:t>
            </a:r>
            <a:endParaRPr lang="en-US" sz="1250" dirty="0"/>
          </a:p>
        </p:txBody>
      </p:sp>
      <p:sp>
        <p:nvSpPr>
          <p:cNvPr id="26" name="row2"/>
          <p:cNvSpPr/>
          <p:nvPr/>
        </p:nvSpPr>
        <p:spPr>
          <a:xfrm>
            <a:off x="566928" y="2788920"/>
            <a:ext cx="11057839" cy="457200"/>
          </a:xfrm>
          <a:prstGeom prst="roundRect">
            <a:avLst>
              <a:gd name="adj" fmla="val 10000"/>
            </a:avLst>
          </a:prstGeom>
          <a:solidFill>
            <a:srgbClr val="16233A"/>
          </a:solidFill>
          <a:ln w="12700">
            <a:solidFill>
              <a:srgbClr val="333333"/>
            </a:solidFill>
            <a:prstDash val="solid"/>
          </a:ln>
        </p:spPr>
      </p:sp>
      <p:sp>
        <p:nvSpPr>
          <p:cNvPr id="27" name="m2"/>
          <p:cNvSpPr txBox="1"/>
          <p:nvPr/>
        </p:nvSpPr>
        <p:spPr>
          <a:xfrm>
            <a:off x="713232" y="2816352"/>
            <a:ext cx="365760" cy="402336"/>
          </a:xfrm>
          <a:prstGeom prst="rect">
            <a:avLst/>
          </a:prstGeom>
          <a:noFill/>
          <a:ln/>
        </p:spPr>
        <p:txBody>
          <a:bodyPr wrap="square" lIns="0" tIns="0" rIns="0" bIns="0" rtlCol="0" anchor="ctr"/>
          <a:lstStyle/>
          <a:p>
            <a:pPr indent="0" marL="0">
              <a:buNone/>
            </a:pPr>
            <a:r>
              <a:rPr lang="en-US" sz="1300" b="1" dirty="0">
                <a:solidFill>
                  <a:srgbClr val="35C6A8"/>
                </a:solidFill>
              </a:rPr>
              <a:t>3</a:t>
            </a:r>
            <a:endParaRPr lang="en-US" sz="1300" dirty="0"/>
          </a:p>
        </p:txBody>
      </p:sp>
      <p:sp>
        <p:nvSpPr>
          <p:cNvPr id="28" name="mn2"/>
          <p:cNvSpPr txBox="1"/>
          <p:nvPr/>
        </p:nvSpPr>
        <p:spPr>
          <a:xfrm>
            <a:off x="1243584" y="2816352"/>
            <a:ext cx="1783080" cy="402336"/>
          </a:xfrm>
          <a:prstGeom prst="rect">
            <a:avLst/>
          </a:prstGeom>
          <a:noFill/>
          <a:ln/>
        </p:spPr>
        <p:txBody>
          <a:bodyPr wrap="square" lIns="0" tIns="0" rIns="0" bIns="0" rtlCol="0" anchor="ctr"/>
          <a:lstStyle/>
          <a:p>
            <a:pPr indent="0" marL="0">
              <a:buNone/>
            </a:pPr>
            <a:r>
              <a:rPr lang="en-US" sz="1100" b="1" dirty="0">
                <a:solidFill>
                  <a:srgbClr val="FFFFFF"/>
                </a:solidFill>
              </a:rPr>
              <a:t>Semantic analysis</a:t>
            </a:r>
            <a:endParaRPr lang="en-US" sz="1100" dirty="0"/>
          </a:p>
        </p:txBody>
      </p:sp>
      <p:sp>
        <p:nvSpPr>
          <p:cNvPr id="29" name="mw2"/>
          <p:cNvSpPr txBox="1"/>
          <p:nvPr/>
        </p:nvSpPr>
        <p:spPr>
          <a:xfrm>
            <a:off x="3191256" y="2816352"/>
            <a:ext cx="4343400" cy="402336"/>
          </a:xfrm>
          <a:prstGeom prst="rect">
            <a:avLst/>
          </a:prstGeom>
          <a:noFill/>
          <a:ln/>
        </p:spPr>
        <p:txBody>
          <a:bodyPr wrap="square" lIns="0" tIns="0" rIns="0" bIns="0" rtlCol="0" anchor="ctr"/>
          <a:lstStyle/>
          <a:p>
            <a:pPr indent="0" marL="0">
              <a:buNone/>
            </a:pPr>
            <a:r>
              <a:rPr lang="en-US" sz="1000" dirty="0">
                <a:solidFill>
                  <a:srgbClr val="DCE6F2"/>
                </a:solidFill>
              </a:rPr>
              <a:t>SDD over the AST; the L-attributed backpatching scheme</a:t>
            </a:r>
            <a:endParaRPr lang="en-US" sz="1000" dirty="0"/>
          </a:p>
        </p:txBody>
      </p:sp>
      <p:sp>
        <p:nvSpPr>
          <p:cNvPr id="30" name="mc2_0"/>
          <p:cNvSpPr txBox="1"/>
          <p:nvPr/>
        </p:nvSpPr>
        <p:spPr>
          <a:xfrm>
            <a:off x="7699248" y="2816352"/>
            <a:ext cx="548640" cy="402336"/>
          </a:xfrm>
          <a:prstGeom prst="rect">
            <a:avLst/>
          </a:prstGeom>
          <a:noFill/>
          <a:ln/>
        </p:spPr>
        <p:txBody>
          <a:bodyPr wrap="square" lIns="0" tIns="0" rIns="0" bIns="0" rtlCol="0" anchor="ctr"/>
          <a:lstStyle/>
          <a:p>
            <a:pPr algn="ctr" indent="0" marL="0">
              <a:buNone/>
            </a:pPr>
            <a:r>
              <a:rPr lang="en-US" sz="1250" b="1" dirty="0">
                <a:solidFill>
                  <a:srgbClr val="35C6A8"/>
                </a:solidFill>
                <a:latin typeface="Courier New" pitchFamily="34" charset="0"/>
                <a:ea typeface="Courier New" pitchFamily="34" charset="-122"/>
                <a:cs typeface="Courier New" pitchFamily="34" charset="-120"/>
              </a:rPr>
              <a:t>5</a:t>
            </a:r>
            <a:endParaRPr lang="en-US" sz="1250" dirty="0"/>
          </a:p>
        </p:txBody>
      </p:sp>
      <p:sp>
        <p:nvSpPr>
          <p:cNvPr id="31" name="mc2_1"/>
          <p:cNvSpPr txBox="1"/>
          <p:nvPr/>
        </p:nvSpPr>
        <p:spPr>
          <a:xfrm>
            <a:off x="8412480" y="2816352"/>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32" name="mc2_2"/>
          <p:cNvSpPr txBox="1"/>
          <p:nvPr/>
        </p:nvSpPr>
        <p:spPr>
          <a:xfrm>
            <a:off x="9125712" y="2816352"/>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33" name="mc2_3"/>
          <p:cNvSpPr txBox="1"/>
          <p:nvPr/>
        </p:nvSpPr>
        <p:spPr>
          <a:xfrm>
            <a:off x="9838944" y="2816352"/>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34" name="row3"/>
          <p:cNvSpPr/>
          <p:nvPr/>
        </p:nvSpPr>
        <p:spPr>
          <a:xfrm>
            <a:off x="566928" y="3264408"/>
            <a:ext cx="11057839" cy="457200"/>
          </a:xfrm>
          <a:prstGeom prst="roundRect">
            <a:avLst>
              <a:gd name="adj" fmla="val 10000"/>
            </a:avLst>
          </a:prstGeom>
          <a:solidFill>
            <a:srgbClr val="101C2E"/>
          </a:solidFill>
          <a:ln w="12700">
            <a:solidFill>
              <a:srgbClr val="333333"/>
            </a:solidFill>
            <a:prstDash val="solid"/>
          </a:ln>
        </p:spPr>
      </p:sp>
      <p:sp>
        <p:nvSpPr>
          <p:cNvPr id="35" name="m3"/>
          <p:cNvSpPr txBox="1"/>
          <p:nvPr/>
        </p:nvSpPr>
        <p:spPr>
          <a:xfrm>
            <a:off x="713232" y="3291840"/>
            <a:ext cx="365760" cy="402336"/>
          </a:xfrm>
          <a:prstGeom prst="rect">
            <a:avLst/>
          </a:prstGeom>
          <a:noFill/>
          <a:ln/>
        </p:spPr>
        <p:txBody>
          <a:bodyPr wrap="square" lIns="0" tIns="0" rIns="0" bIns="0" rtlCol="0" anchor="ctr"/>
          <a:lstStyle/>
          <a:p>
            <a:pPr indent="0" marL="0">
              <a:buNone/>
            </a:pPr>
            <a:r>
              <a:rPr lang="en-US" sz="1300" b="1" dirty="0">
                <a:solidFill>
                  <a:srgbClr val="35C6A8"/>
                </a:solidFill>
              </a:rPr>
              <a:t>4</a:t>
            </a:r>
            <a:endParaRPr lang="en-US" sz="1300" dirty="0"/>
          </a:p>
        </p:txBody>
      </p:sp>
      <p:sp>
        <p:nvSpPr>
          <p:cNvPr id="36" name="mn3"/>
          <p:cNvSpPr txBox="1"/>
          <p:nvPr/>
        </p:nvSpPr>
        <p:spPr>
          <a:xfrm>
            <a:off x="1243584" y="3291840"/>
            <a:ext cx="1783080" cy="402336"/>
          </a:xfrm>
          <a:prstGeom prst="rect">
            <a:avLst/>
          </a:prstGeom>
          <a:noFill/>
          <a:ln/>
        </p:spPr>
        <p:txBody>
          <a:bodyPr wrap="square" lIns="0" tIns="0" rIns="0" bIns="0" rtlCol="0" anchor="ctr"/>
          <a:lstStyle/>
          <a:p>
            <a:pPr indent="0" marL="0">
              <a:buNone/>
            </a:pPr>
            <a:r>
              <a:rPr lang="en-US" sz="1100" b="1" dirty="0">
                <a:solidFill>
                  <a:srgbClr val="FFFFFF"/>
                </a:solidFill>
              </a:rPr>
              <a:t>Intermediate code</a:t>
            </a:r>
            <a:endParaRPr lang="en-US" sz="1100" dirty="0"/>
          </a:p>
        </p:txBody>
      </p:sp>
      <p:sp>
        <p:nvSpPr>
          <p:cNvPr id="37" name="mw3"/>
          <p:cNvSpPr txBox="1"/>
          <p:nvPr/>
        </p:nvSpPr>
        <p:spPr>
          <a:xfrm>
            <a:off x="3191256" y="3291840"/>
            <a:ext cx="4343400" cy="402336"/>
          </a:xfrm>
          <a:prstGeom prst="rect">
            <a:avLst/>
          </a:prstGeom>
          <a:noFill/>
          <a:ln/>
        </p:spPr>
        <p:txBody>
          <a:bodyPr wrap="square" lIns="0" tIns="0" rIns="0" bIns="0" rtlCol="0" anchor="ctr"/>
          <a:lstStyle/>
          <a:p>
            <a:pPr indent="0" marL="0">
              <a:buNone/>
            </a:pPr>
            <a:r>
              <a:rPr lang="en-US" sz="1000" dirty="0">
                <a:solidFill>
                  <a:srgbClr val="DCE6F2"/>
                </a:solidFill>
              </a:rPr>
              <a:t>Quadruples, short-circuit backpatching, procedures</a:t>
            </a:r>
            <a:endParaRPr lang="en-US" sz="1000" dirty="0"/>
          </a:p>
        </p:txBody>
      </p:sp>
      <p:sp>
        <p:nvSpPr>
          <p:cNvPr id="38" name="mc3_0"/>
          <p:cNvSpPr txBox="1"/>
          <p:nvPr/>
        </p:nvSpPr>
        <p:spPr>
          <a:xfrm>
            <a:off x="7699248" y="3291840"/>
            <a:ext cx="548640" cy="402336"/>
          </a:xfrm>
          <a:prstGeom prst="rect">
            <a:avLst/>
          </a:prstGeom>
          <a:noFill/>
          <a:ln/>
        </p:spPr>
        <p:txBody>
          <a:bodyPr wrap="square" lIns="0" tIns="0" rIns="0" bIns="0" rtlCol="0" anchor="ctr"/>
          <a:lstStyle/>
          <a:p>
            <a:pPr algn="ctr" indent="0" marL="0">
              <a:buNone/>
            </a:pPr>
            <a:r>
              <a:rPr lang="en-US" sz="1250" b="1" dirty="0">
                <a:solidFill>
                  <a:srgbClr val="35C6A8"/>
                </a:solidFill>
                <a:latin typeface="Courier New" pitchFamily="34" charset="0"/>
                <a:ea typeface="Courier New" pitchFamily="34" charset="-122"/>
                <a:cs typeface="Courier New" pitchFamily="34" charset="-120"/>
              </a:rPr>
              <a:t>9</a:t>
            </a:r>
            <a:endParaRPr lang="en-US" sz="1250" dirty="0"/>
          </a:p>
        </p:txBody>
      </p:sp>
      <p:sp>
        <p:nvSpPr>
          <p:cNvPr id="39" name="mc3_1"/>
          <p:cNvSpPr txBox="1"/>
          <p:nvPr/>
        </p:nvSpPr>
        <p:spPr>
          <a:xfrm>
            <a:off x="8412480" y="3291840"/>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40" name="mc3_2"/>
          <p:cNvSpPr txBox="1"/>
          <p:nvPr/>
        </p:nvSpPr>
        <p:spPr>
          <a:xfrm>
            <a:off x="9125712" y="3291840"/>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41" name="mc3_3"/>
          <p:cNvSpPr txBox="1"/>
          <p:nvPr/>
        </p:nvSpPr>
        <p:spPr>
          <a:xfrm>
            <a:off x="9838944" y="3291840"/>
            <a:ext cx="548640" cy="402336"/>
          </a:xfrm>
          <a:prstGeom prst="rect">
            <a:avLst/>
          </a:prstGeom>
          <a:noFill/>
          <a:ln/>
        </p:spPr>
        <p:txBody>
          <a:bodyPr wrap="square" lIns="0" tIns="0" rIns="0" bIns="0" rtlCol="0" anchor="ctr"/>
          <a:lstStyle/>
          <a:p>
            <a:pPr algn="ctr" indent="0" marL="0">
              <a:buNone/>
            </a:pPr>
            <a:r>
              <a:rPr lang="en-US" sz="1250" b="1" dirty="0">
                <a:solidFill>
                  <a:srgbClr val="E85D75"/>
                </a:solidFill>
                <a:latin typeface="Courier New" pitchFamily="34" charset="0"/>
                <a:ea typeface="Courier New" pitchFamily="34" charset="-122"/>
                <a:cs typeface="Courier New" pitchFamily="34" charset="-120"/>
              </a:rPr>
              <a:t>1</a:t>
            </a:r>
            <a:endParaRPr lang="en-US" sz="1250" dirty="0"/>
          </a:p>
        </p:txBody>
      </p:sp>
      <p:sp>
        <p:nvSpPr>
          <p:cNvPr id="42" name="row4"/>
          <p:cNvSpPr/>
          <p:nvPr/>
        </p:nvSpPr>
        <p:spPr>
          <a:xfrm>
            <a:off x="566928" y="3739896"/>
            <a:ext cx="11057839" cy="457200"/>
          </a:xfrm>
          <a:prstGeom prst="roundRect">
            <a:avLst>
              <a:gd name="adj" fmla="val 10000"/>
            </a:avLst>
          </a:prstGeom>
          <a:solidFill>
            <a:srgbClr val="16233A"/>
          </a:solidFill>
          <a:ln w="12700">
            <a:solidFill>
              <a:srgbClr val="333333"/>
            </a:solidFill>
            <a:prstDash val="solid"/>
          </a:ln>
        </p:spPr>
      </p:sp>
      <p:sp>
        <p:nvSpPr>
          <p:cNvPr id="43" name="m4"/>
          <p:cNvSpPr txBox="1"/>
          <p:nvPr/>
        </p:nvSpPr>
        <p:spPr>
          <a:xfrm>
            <a:off x="713232" y="3767328"/>
            <a:ext cx="365760" cy="402336"/>
          </a:xfrm>
          <a:prstGeom prst="rect">
            <a:avLst/>
          </a:prstGeom>
          <a:noFill/>
          <a:ln/>
        </p:spPr>
        <p:txBody>
          <a:bodyPr wrap="square" lIns="0" tIns="0" rIns="0" bIns="0" rtlCol="0" anchor="ctr"/>
          <a:lstStyle/>
          <a:p>
            <a:pPr indent="0" marL="0">
              <a:buNone/>
            </a:pPr>
            <a:r>
              <a:rPr lang="en-US" sz="1300" b="1" dirty="0">
                <a:solidFill>
                  <a:srgbClr val="35C6A8"/>
                </a:solidFill>
              </a:rPr>
              <a:t>5</a:t>
            </a:r>
            <a:endParaRPr lang="en-US" sz="1300" dirty="0"/>
          </a:p>
        </p:txBody>
      </p:sp>
      <p:sp>
        <p:nvSpPr>
          <p:cNvPr id="44" name="mn4"/>
          <p:cNvSpPr txBox="1"/>
          <p:nvPr/>
        </p:nvSpPr>
        <p:spPr>
          <a:xfrm>
            <a:off x="1243584" y="3767328"/>
            <a:ext cx="1783080" cy="402336"/>
          </a:xfrm>
          <a:prstGeom prst="rect">
            <a:avLst/>
          </a:prstGeom>
          <a:noFill/>
          <a:ln/>
        </p:spPr>
        <p:txBody>
          <a:bodyPr wrap="square" lIns="0" tIns="0" rIns="0" bIns="0" rtlCol="0" anchor="ctr"/>
          <a:lstStyle/>
          <a:p>
            <a:pPr indent="0" marL="0">
              <a:buNone/>
            </a:pPr>
            <a:r>
              <a:rPr lang="en-US" sz="1100" b="1" dirty="0">
                <a:solidFill>
                  <a:srgbClr val="FFFFFF"/>
                </a:solidFill>
              </a:rPr>
              <a:t>Optimisation</a:t>
            </a:r>
            <a:endParaRPr lang="en-US" sz="1100" dirty="0"/>
          </a:p>
        </p:txBody>
      </p:sp>
      <p:sp>
        <p:nvSpPr>
          <p:cNvPr id="45" name="mw4"/>
          <p:cNvSpPr txBox="1"/>
          <p:nvPr/>
        </p:nvSpPr>
        <p:spPr>
          <a:xfrm>
            <a:off x="3191256" y="3767328"/>
            <a:ext cx="4343400" cy="402336"/>
          </a:xfrm>
          <a:prstGeom prst="rect">
            <a:avLst/>
          </a:prstGeom>
          <a:noFill/>
          <a:ln/>
        </p:spPr>
        <p:txBody>
          <a:bodyPr wrap="square" lIns="0" tIns="0" rIns="0" bIns="0" rtlCol="0" anchor="ctr"/>
          <a:lstStyle/>
          <a:p>
            <a:pPr indent="0" marL="0">
              <a:buNone/>
            </a:pPr>
            <a:r>
              <a:rPr lang="en-US" sz="1000" dirty="0">
                <a:solidFill>
                  <a:srgbClr val="DCE6F2"/>
                </a:solidFill>
              </a:rPr>
              <a:t>Blocks, DAG, dataflow, loops, peephole</a:t>
            </a:r>
            <a:endParaRPr lang="en-US" sz="1000" dirty="0"/>
          </a:p>
        </p:txBody>
      </p:sp>
      <p:sp>
        <p:nvSpPr>
          <p:cNvPr id="46" name="mc4_0"/>
          <p:cNvSpPr txBox="1"/>
          <p:nvPr/>
        </p:nvSpPr>
        <p:spPr>
          <a:xfrm>
            <a:off x="7699248" y="3767328"/>
            <a:ext cx="548640" cy="402336"/>
          </a:xfrm>
          <a:prstGeom prst="rect">
            <a:avLst/>
          </a:prstGeom>
          <a:noFill/>
          <a:ln/>
        </p:spPr>
        <p:txBody>
          <a:bodyPr wrap="square" lIns="0" tIns="0" rIns="0" bIns="0" rtlCol="0" anchor="ctr"/>
          <a:lstStyle/>
          <a:p>
            <a:pPr algn="ctr" indent="0" marL="0">
              <a:buNone/>
            </a:pPr>
            <a:r>
              <a:rPr lang="en-US" sz="1250" b="1" dirty="0">
                <a:solidFill>
                  <a:srgbClr val="35C6A8"/>
                </a:solidFill>
                <a:latin typeface="Courier New" pitchFamily="34" charset="0"/>
                <a:ea typeface="Courier New" pitchFamily="34" charset="-122"/>
                <a:cs typeface="Courier New" pitchFamily="34" charset="-120"/>
              </a:rPr>
              <a:t>10</a:t>
            </a:r>
            <a:endParaRPr lang="en-US" sz="1250" dirty="0"/>
          </a:p>
        </p:txBody>
      </p:sp>
      <p:sp>
        <p:nvSpPr>
          <p:cNvPr id="47" name="mc4_1"/>
          <p:cNvSpPr txBox="1"/>
          <p:nvPr/>
        </p:nvSpPr>
        <p:spPr>
          <a:xfrm>
            <a:off x="8412480" y="3767328"/>
            <a:ext cx="548640" cy="402336"/>
          </a:xfrm>
          <a:prstGeom prst="rect">
            <a:avLst/>
          </a:prstGeom>
          <a:noFill/>
          <a:ln/>
        </p:spPr>
        <p:txBody>
          <a:bodyPr wrap="square" lIns="0" tIns="0" rIns="0" bIns="0" rtlCol="0" anchor="ctr"/>
          <a:lstStyle/>
          <a:p>
            <a:pPr algn="ctr" indent="0" marL="0">
              <a:buNone/>
            </a:pPr>
            <a:r>
              <a:rPr lang="en-US" sz="1250" b="1" dirty="0">
                <a:solidFill>
                  <a:srgbClr val="E8A33D"/>
                </a:solidFill>
                <a:latin typeface="Courier New" pitchFamily="34" charset="0"/>
                <a:ea typeface="Courier New" pitchFamily="34" charset="-122"/>
                <a:cs typeface="Courier New" pitchFamily="34" charset="-120"/>
              </a:rPr>
              <a:t>1</a:t>
            </a:r>
            <a:endParaRPr lang="en-US" sz="1250" dirty="0"/>
          </a:p>
        </p:txBody>
      </p:sp>
      <p:sp>
        <p:nvSpPr>
          <p:cNvPr id="48" name="mc4_2"/>
          <p:cNvSpPr txBox="1"/>
          <p:nvPr/>
        </p:nvSpPr>
        <p:spPr>
          <a:xfrm>
            <a:off x="9125712" y="3767328"/>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49" name="mc4_3"/>
          <p:cNvSpPr txBox="1"/>
          <p:nvPr/>
        </p:nvSpPr>
        <p:spPr>
          <a:xfrm>
            <a:off x="9838944" y="3767328"/>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50" name="row5"/>
          <p:cNvSpPr/>
          <p:nvPr/>
        </p:nvSpPr>
        <p:spPr>
          <a:xfrm>
            <a:off x="566928" y="4215384"/>
            <a:ext cx="11057839" cy="457200"/>
          </a:xfrm>
          <a:prstGeom prst="roundRect">
            <a:avLst>
              <a:gd name="adj" fmla="val 10000"/>
            </a:avLst>
          </a:prstGeom>
          <a:solidFill>
            <a:srgbClr val="101C2E"/>
          </a:solidFill>
          <a:ln w="12700">
            <a:solidFill>
              <a:srgbClr val="333333"/>
            </a:solidFill>
            <a:prstDash val="solid"/>
          </a:ln>
        </p:spPr>
      </p:sp>
      <p:sp>
        <p:nvSpPr>
          <p:cNvPr id="51" name="m5"/>
          <p:cNvSpPr txBox="1"/>
          <p:nvPr/>
        </p:nvSpPr>
        <p:spPr>
          <a:xfrm>
            <a:off x="713232" y="4242816"/>
            <a:ext cx="365760" cy="402336"/>
          </a:xfrm>
          <a:prstGeom prst="rect">
            <a:avLst/>
          </a:prstGeom>
          <a:noFill/>
          <a:ln/>
        </p:spPr>
        <p:txBody>
          <a:bodyPr wrap="square" lIns="0" tIns="0" rIns="0" bIns="0" rtlCol="0" anchor="ctr"/>
          <a:lstStyle/>
          <a:p>
            <a:pPr indent="0" marL="0">
              <a:buNone/>
            </a:pPr>
            <a:r>
              <a:rPr lang="en-US" sz="1300" b="1" dirty="0">
                <a:solidFill>
                  <a:srgbClr val="35C6A8"/>
                </a:solidFill>
              </a:rPr>
              <a:t>6</a:t>
            </a:r>
            <a:endParaRPr lang="en-US" sz="1300" dirty="0"/>
          </a:p>
        </p:txBody>
      </p:sp>
      <p:sp>
        <p:nvSpPr>
          <p:cNvPr id="52" name="mn5"/>
          <p:cNvSpPr txBox="1"/>
          <p:nvPr/>
        </p:nvSpPr>
        <p:spPr>
          <a:xfrm>
            <a:off x="1243584" y="4242816"/>
            <a:ext cx="1783080" cy="402336"/>
          </a:xfrm>
          <a:prstGeom prst="rect">
            <a:avLst/>
          </a:prstGeom>
          <a:noFill/>
          <a:ln/>
        </p:spPr>
        <p:txBody>
          <a:bodyPr wrap="square" lIns="0" tIns="0" rIns="0" bIns="0" rtlCol="0" anchor="ctr"/>
          <a:lstStyle/>
          <a:p>
            <a:pPr indent="0" marL="0">
              <a:buNone/>
            </a:pPr>
            <a:r>
              <a:rPr lang="en-US" sz="1100" b="1" dirty="0">
                <a:solidFill>
                  <a:srgbClr val="FFFFFF"/>
                </a:solidFill>
              </a:rPr>
              <a:t>Code generation</a:t>
            </a:r>
            <a:endParaRPr lang="en-US" sz="1100" dirty="0"/>
          </a:p>
        </p:txBody>
      </p:sp>
      <p:sp>
        <p:nvSpPr>
          <p:cNvPr id="53" name="mw5"/>
          <p:cNvSpPr txBox="1"/>
          <p:nvPr/>
        </p:nvSpPr>
        <p:spPr>
          <a:xfrm>
            <a:off x="3191256" y="4242816"/>
            <a:ext cx="4343400" cy="402336"/>
          </a:xfrm>
          <a:prstGeom prst="rect">
            <a:avLst/>
          </a:prstGeom>
          <a:noFill/>
          <a:ln/>
        </p:spPr>
        <p:txBody>
          <a:bodyPr wrap="square" lIns="0" tIns="0" rIns="0" bIns="0" rtlCol="0" anchor="ctr"/>
          <a:lstStyle/>
          <a:p>
            <a:pPr indent="0" marL="0">
              <a:buNone/>
            </a:pPr>
            <a:r>
              <a:rPr lang="en-US" sz="1000" dirty="0">
                <a:solidFill>
                  <a:srgbClr val="DCE6F2"/>
                </a:solidFill>
              </a:rPr>
              <a:t>Next-use, register allocation, activation records</a:t>
            </a:r>
            <a:endParaRPr lang="en-US" sz="1000" dirty="0"/>
          </a:p>
        </p:txBody>
      </p:sp>
      <p:sp>
        <p:nvSpPr>
          <p:cNvPr id="54" name="mc5_0"/>
          <p:cNvSpPr txBox="1"/>
          <p:nvPr/>
        </p:nvSpPr>
        <p:spPr>
          <a:xfrm>
            <a:off x="7699248" y="4242816"/>
            <a:ext cx="548640" cy="402336"/>
          </a:xfrm>
          <a:prstGeom prst="rect">
            <a:avLst/>
          </a:prstGeom>
          <a:noFill/>
          <a:ln/>
        </p:spPr>
        <p:txBody>
          <a:bodyPr wrap="square" lIns="0" tIns="0" rIns="0" bIns="0" rtlCol="0" anchor="ctr"/>
          <a:lstStyle/>
          <a:p>
            <a:pPr algn="ctr" indent="0" marL="0">
              <a:buNone/>
            </a:pPr>
            <a:r>
              <a:rPr lang="en-US" sz="1250" b="1" dirty="0">
                <a:solidFill>
                  <a:srgbClr val="35C6A8"/>
                </a:solidFill>
                <a:latin typeface="Courier New" pitchFamily="34" charset="0"/>
                <a:ea typeface="Courier New" pitchFamily="34" charset="-122"/>
                <a:cs typeface="Courier New" pitchFamily="34" charset="-120"/>
              </a:rPr>
              <a:t>6</a:t>
            </a:r>
            <a:endParaRPr lang="en-US" sz="1250" dirty="0"/>
          </a:p>
        </p:txBody>
      </p:sp>
      <p:sp>
        <p:nvSpPr>
          <p:cNvPr id="55" name="mc5_1"/>
          <p:cNvSpPr txBox="1"/>
          <p:nvPr/>
        </p:nvSpPr>
        <p:spPr>
          <a:xfrm>
            <a:off x="8412480" y="4242816"/>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56" name="mc5_2"/>
          <p:cNvSpPr txBox="1"/>
          <p:nvPr/>
        </p:nvSpPr>
        <p:spPr>
          <a:xfrm>
            <a:off x="9125712" y="4242816"/>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57" name="mc5_3"/>
          <p:cNvSpPr txBox="1"/>
          <p:nvPr/>
        </p:nvSpPr>
        <p:spPr>
          <a:xfrm>
            <a:off x="9838944" y="4242816"/>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58" name="row6"/>
          <p:cNvSpPr/>
          <p:nvPr/>
        </p:nvSpPr>
        <p:spPr>
          <a:xfrm>
            <a:off x="566928" y="4690872"/>
            <a:ext cx="11057839" cy="457200"/>
          </a:xfrm>
          <a:prstGeom prst="roundRect">
            <a:avLst>
              <a:gd name="adj" fmla="val 10000"/>
            </a:avLst>
          </a:prstGeom>
          <a:solidFill>
            <a:srgbClr val="16233A"/>
          </a:solidFill>
          <a:ln w="12700">
            <a:solidFill>
              <a:srgbClr val="333333"/>
            </a:solidFill>
            <a:prstDash val="solid"/>
          </a:ln>
        </p:spPr>
      </p:sp>
      <p:sp>
        <p:nvSpPr>
          <p:cNvPr id="59" name="m6"/>
          <p:cNvSpPr txBox="1"/>
          <p:nvPr/>
        </p:nvSpPr>
        <p:spPr>
          <a:xfrm>
            <a:off x="713232" y="4718304"/>
            <a:ext cx="365760" cy="402336"/>
          </a:xfrm>
          <a:prstGeom prst="rect">
            <a:avLst/>
          </a:prstGeom>
          <a:noFill/>
          <a:ln/>
        </p:spPr>
        <p:txBody>
          <a:bodyPr wrap="square" lIns="0" tIns="0" rIns="0" bIns="0" rtlCol="0" anchor="ctr"/>
          <a:lstStyle/>
          <a:p>
            <a:pPr indent="0" marL="0">
              <a:buNone/>
            </a:pPr>
            <a:r>
              <a:rPr lang="en-US" sz="1300" b="1" dirty="0">
                <a:solidFill>
                  <a:srgbClr val="35C6A8"/>
                </a:solidFill>
              </a:rPr>
              <a:t>7</a:t>
            </a:r>
            <a:endParaRPr lang="en-US" sz="1300" dirty="0"/>
          </a:p>
        </p:txBody>
      </p:sp>
      <p:sp>
        <p:nvSpPr>
          <p:cNvPr id="60" name="mn6"/>
          <p:cNvSpPr txBox="1"/>
          <p:nvPr/>
        </p:nvSpPr>
        <p:spPr>
          <a:xfrm>
            <a:off x="1243584" y="4718304"/>
            <a:ext cx="1783080" cy="402336"/>
          </a:xfrm>
          <a:prstGeom prst="rect">
            <a:avLst/>
          </a:prstGeom>
          <a:noFill/>
          <a:ln/>
        </p:spPr>
        <p:txBody>
          <a:bodyPr wrap="square" lIns="0" tIns="0" rIns="0" bIns="0" rtlCol="0" anchor="ctr"/>
          <a:lstStyle/>
          <a:p>
            <a:pPr indent="0" marL="0">
              <a:buNone/>
            </a:pPr>
            <a:r>
              <a:rPr lang="en-US" sz="1100" b="1" dirty="0">
                <a:solidFill>
                  <a:srgbClr val="FFFFFF"/>
                </a:solidFill>
              </a:rPr>
              <a:t>Parallelism</a:t>
            </a:r>
            <a:endParaRPr lang="en-US" sz="1100" dirty="0"/>
          </a:p>
        </p:txBody>
      </p:sp>
      <p:sp>
        <p:nvSpPr>
          <p:cNvPr id="61" name="mw6"/>
          <p:cNvSpPr txBox="1"/>
          <p:nvPr/>
        </p:nvSpPr>
        <p:spPr>
          <a:xfrm>
            <a:off x="3191256" y="4718304"/>
            <a:ext cx="4343400" cy="402336"/>
          </a:xfrm>
          <a:prstGeom prst="rect">
            <a:avLst/>
          </a:prstGeom>
          <a:noFill/>
          <a:ln/>
        </p:spPr>
        <p:txBody>
          <a:bodyPr wrap="square" lIns="0" tIns="0" rIns="0" bIns="0" rtlCol="0" anchor="ctr"/>
          <a:lstStyle/>
          <a:p>
            <a:pPr indent="0" marL="0">
              <a:buNone/>
            </a:pPr>
            <a:r>
              <a:rPr lang="en-US" sz="1000" dirty="0">
                <a:solidFill>
                  <a:srgbClr val="DCE6F2"/>
                </a:solidFill>
              </a:rPr>
              <a:t>Domain-specific languages, SSA</a:t>
            </a:r>
            <a:endParaRPr lang="en-US" sz="1000" dirty="0"/>
          </a:p>
        </p:txBody>
      </p:sp>
      <p:sp>
        <p:nvSpPr>
          <p:cNvPr id="62" name="mc6_0"/>
          <p:cNvSpPr txBox="1"/>
          <p:nvPr/>
        </p:nvSpPr>
        <p:spPr>
          <a:xfrm>
            <a:off x="7699248" y="4718304"/>
            <a:ext cx="548640" cy="402336"/>
          </a:xfrm>
          <a:prstGeom prst="rect">
            <a:avLst/>
          </a:prstGeom>
          <a:noFill/>
          <a:ln/>
        </p:spPr>
        <p:txBody>
          <a:bodyPr wrap="square" lIns="0" tIns="0" rIns="0" bIns="0" rtlCol="0" anchor="ctr"/>
          <a:lstStyle/>
          <a:p>
            <a:pPr algn="ctr" indent="0" marL="0">
              <a:buNone/>
            </a:pPr>
            <a:r>
              <a:rPr lang="en-US" sz="1250" b="1" dirty="0">
                <a:solidFill>
                  <a:srgbClr val="35C6A8"/>
                </a:solidFill>
                <a:latin typeface="Courier New" pitchFamily="34" charset="0"/>
                <a:ea typeface="Courier New" pitchFamily="34" charset="-122"/>
                <a:cs typeface="Courier New" pitchFamily="34" charset="-120"/>
              </a:rPr>
              <a:t>4</a:t>
            </a:r>
            <a:endParaRPr lang="en-US" sz="1250" dirty="0"/>
          </a:p>
        </p:txBody>
      </p:sp>
      <p:sp>
        <p:nvSpPr>
          <p:cNvPr id="63" name="mc6_1"/>
          <p:cNvSpPr txBox="1"/>
          <p:nvPr/>
        </p:nvSpPr>
        <p:spPr>
          <a:xfrm>
            <a:off x="8412480" y="4718304"/>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64" name="mc6_2"/>
          <p:cNvSpPr txBox="1"/>
          <p:nvPr/>
        </p:nvSpPr>
        <p:spPr>
          <a:xfrm>
            <a:off x="9125712" y="4718304"/>
            <a:ext cx="548640" cy="402336"/>
          </a:xfrm>
          <a:prstGeom prst="rect">
            <a:avLst/>
          </a:prstGeom>
          <a:noFill/>
          <a:ln/>
        </p:spPr>
        <p:txBody>
          <a:bodyPr wrap="square" lIns="0" tIns="0" rIns="0" bIns="0" rtlCol="0" anchor="ctr"/>
          <a:lstStyle/>
          <a:p>
            <a:pPr algn="ctr" indent="0" marL="0">
              <a:buNone/>
            </a:pPr>
            <a:r>
              <a:rPr lang="en-US" sz="1250" b="1" dirty="0">
                <a:solidFill>
                  <a:srgbClr val="8D9CAF"/>
                </a:solidFill>
                <a:latin typeface="Courier New" pitchFamily="34" charset="0"/>
                <a:ea typeface="Courier New" pitchFamily="34" charset="-122"/>
                <a:cs typeface="Courier New" pitchFamily="34" charset="-120"/>
              </a:rPr>
              <a:t>0</a:t>
            </a:r>
            <a:endParaRPr lang="en-US" sz="1250" dirty="0"/>
          </a:p>
        </p:txBody>
      </p:sp>
      <p:sp>
        <p:nvSpPr>
          <p:cNvPr id="65" name="mc6_3"/>
          <p:cNvSpPr txBox="1"/>
          <p:nvPr/>
        </p:nvSpPr>
        <p:spPr>
          <a:xfrm>
            <a:off x="9838944" y="4718304"/>
            <a:ext cx="548640" cy="402336"/>
          </a:xfrm>
          <a:prstGeom prst="rect">
            <a:avLst/>
          </a:prstGeom>
          <a:noFill/>
          <a:ln/>
        </p:spPr>
        <p:txBody>
          <a:bodyPr wrap="square" lIns="0" tIns="0" rIns="0" bIns="0" rtlCol="0" anchor="ctr"/>
          <a:lstStyle/>
          <a:p>
            <a:pPr algn="ctr" indent="0" marL="0">
              <a:buNone/>
            </a:pPr>
            <a:r>
              <a:rPr lang="en-US" sz="1250" b="1" dirty="0">
                <a:solidFill>
                  <a:srgbClr val="E85D75"/>
                </a:solidFill>
                <a:latin typeface="Courier New" pitchFamily="34" charset="0"/>
                <a:ea typeface="Courier New" pitchFamily="34" charset="-122"/>
                <a:cs typeface="Courier New" pitchFamily="34" charset="-120"/>
              </a:rPr>
              <a:t>5</a:t>
            </a:r>
            <a:endParaRPr lang="en-US" sz="1250" dirty="0"/>
          </a:p>
        </p:txBody>
      </p:sp>
      <p:sp>
        <p:nvSpPr>
          <p:cNvPr id="66" name="syl"/>
          <p:cNvSpPr/>
          <p:nvPr/>
        </p:nvSpPr>
        <p:spPr>
          <a:xfrm>
            <a:off x="566928" y="5248656"/>
            <a:ext cx="11057839" cy="987552"/>
          </a:xfrm>
          <a:prstGeom prst="roundRect">
            <a:avLst>
              <a:gd name="adj" fmla="val 6481"/>
            </a:avLst>
          </a:prstGeom>
          <a:solidFill>
            <a:srgbClr val="16233A"/>
          </a:solidFill>
          <a:ln w="12700">
            <a:solidFill>
              <a:srgbClr val="22344F"/>
            </a:solidFill>
            <a:prstDash val="solid"/>
          </a:ln>
        </p:spPr>
      </p:sp>
      <p:sp>
        <p:nvSpPr>
          <p:cNvPr id="67" name="syl_h"/>
          <p:cNvSpPr txBox="1"/>
          <p:nvPr/>
        </p:nvSpPr>
        <p:spPr>
          <a:xfrm>
            <a:off x="749808" y="5394960"/>
            <a:ext cx="10692079" cy="274320"/>
          </a:xfrm>
          <a:prstGeom prst="rect">
            <a:avLst/>
          </a:prstGeom>
          <a:noFill/>
          <a:ln/>
        </p:spPr>
        <p:txBody>
          <a:bodyPr wrap="square" lIns="0" tIns="0" rIns="0" bIns="0" rtlCol="0" anchor="ctr"/>
          <a:lstStyle/>
          <a:p>
            <a:pPr indent="0" marL="0">
              <a:buNone/>
            </a:pPr>
            <a:r>
              <a:rPr lang="en-US" sz="1300" b="1" dirty="0">
                <a:solidFill>
                  <a:srgbClr val="E85D75"/>
                </a:solidFill>
              </a:rPr>
              <a:t>The ten not covered, named</a:t>
            </a:r>
            <a:endParaRPr lang="en-US" sz="1300" dirty="0"/>
          </a:p>
        </p:txBody>
      </p:sp>
      <p:sp>
        <p:nvSpPr>
          <p:cNvPr id="68" name="syl_b"/>
          <p:cNvSpPr txBox="1"/>
          <p:nvPr/>
        </p:nvSpPr>
        <p:spPr>
          <a:xfrm>
            <a:off x="749808" y="5724144"/>
            <a:ext cx="10692079" cy="365760"/>
          </a:xfrm>
          <a:prstGeom prst="rect">
            <a:avLst/>
          </a:prstGeom>
          <a:noFill/>
          <a:ln/>
        </p:spPr>
        <p:txBody>
          <a:bodyPr wrap="square" lIns="0" tIns="0" rIns="0" bIns="0" rtlCol="0" anchor="t"/>
          <a:lstStyle/>
          <a:p>
            <a:pPr indent="0" marL="0">
              <a:lnSpc>
                <a:spcPts val="1397"/>
              </a:lnSpc>
              <a:buNone/>
            </a:pPr>
            <a:r>
              <a:rPr lang="en-US" sz="1050" dirty="0">
                <a:solidFill>
                  <a:srgbClr val="DCE6F2"/>
                </a:solidFill>
              </a:rPr>
              <a:t>LLVM · Lex · operator-precedence parsing · CLR and LALR construction · switch statements · automatic parallelisation · cache-locality optimisation · vectorisation · instruction scheduling · software pipelining. Fifty-nine topics in all; a project claiming every one of them would not be believable.</a:t>
            </a:r>
            <a:endParaRPr lang="en-US" sz="105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500"/>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500"/>
                                        <p:tgtEl>
                                          <p:spTgt spid="2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500"/>
                                        <p:tgtEl>
                                          <p:spTgt spid="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500"/>
                                        <p:tgtEl>
                                          <p:spTgt spid="3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500"/>
                                        <p:tgtEl>
                                          <p:spTgt spid="3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500"/>
                                        <p:tgtEl>
                                          <p:spTgt spid="33"/>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5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500"/>
                                        <p:tgtEl>
                                          <p:spTgt spid="3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500"/>
                                        <p:tgtEl>
                                          <p:spTgt spid="36"/>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5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500"/>
                                        <p:tgtEl>
                                          <p:spTgt spid="38"/>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500"/>
                                        <p:tgtEl>
                                          <p:spTgt spid="39"/>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500"/>
                                        <p:tgtEl>
                                          <p:spTgt spid="40"/>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1"/>
                                        </p:tgtEl>
                                        <p:attrNameLst>
                                          <p:attrName>style.visibility</p:attrName>
                                        </p:attrNameLst>
                                      </p:cBhvr>
                                      <p:to>
                                        <p:strVal val="visible"/>
                                      </p:to>
                                    </p:set>
                                    <p:animEffect transition="in" filter="fade">
                                      <p:cBhvr>
                                        <p:cTn id="106" dur="500"/>
                                        <p:tgtEl>
                                          <p:spTgt spid="41"/>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500"/>
                                        <p:tgtEl>
                                          <p:spTgt spid="42"/>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4" dur="500"/>
                                        <p:tgtEl>
                                          <p:spTgt spid="43"/>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7" dur="500"/>
                                        <p:tgtEl>
                                          <p:spTgt spid="44"/>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20" dur="500"/>
                                        <p:tgtEl>
                                          <p:spTgt spid="45"/>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3" dur="500"/>
                                        <p:tgtEl>
                                          <p:spTgt spid="46"/>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6" dur="500"/>
                                        <p:tgtEl>
                                          <p:spTgt spid="47"/>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9" dur="500"/>
                                        <p:tgtEl>
                                          <p:spTgt spid="48"/>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2" dur="500"/>
                                        <p:tgtEl>
                                          <p:spTgt spid="49"/>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7" dur="500"/>
                                        <p:tgtEl>
                                          <p:spTgt spid="50"/>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40" dur="500"/>
                                        <p:tgtEl>
                                          <p:spTgt spid="5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500"/>
                                        <p:tgtEl>
                                          <p:spTgt spid="52"/>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6" dur="500"/>
                                        <p:tgtEl>
                                          <p:spTgt spid="53"/>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9" dur="500"/>
                                        <p:tgtEl>
                                          <p:spTgt spid="54"/>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2" dur="500"/>
                                        <p:tgtEl>
                                          <p:spTgt spid="55"/>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5" dur="500"/>
                                        <p:tgtEl>
                                          <p:spTgt spid="56"/>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8" dur="500"/>
                                        <p:tgtEl>
                                          <p:spTgt spid="57"/>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500"/>
                                        <p:tgtEl>
                                          <p:spTgt spid="58"/>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Effect transition="in" filter="fade">
                                      <p:cBhvr>
                                        <p:cTn id="166" dur="500"/>
                                        <p:tgtEl>
                                          <p:spTgt spid="59"/>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0"/>
                                        </p:tgtEl>
                                        <p:attrNameLst>
                                          <p:attrName>style.visibility</p:attrName>
                                        </p:attrNameLst>
                                      </p:cBhvr>
                                      <p:to>
                                        <p:strVal val="visible"/>
                                      </p:to>
                                    </p:set>
                                    <p:animEffect transition="in" filter="fade">
                                      <p:cBhvr>
                                        <p:cTn id="169" dur="500"/>
                                        <p:tgtEl>
                                          <p:spTgt spid="60"/>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1"/>
                                        </p:tgtEl>
                                        <p:attrNameLst>
                                          <p:attrName>style.visibility</p:attrName>
                                        </p:attrNameLst>
                                      </p:cBhvr>
                                      <p:to>
                                        <p:strVal val="visible"/>
                                      </p:to>
                                    </p:set>
                                    <p:animEffect transition="in" filter="fade">
                                      <p:cBhvr>
                                        <p:cTn id="172" dur="500"/>
                                        <p:tgtEl>
                                          <p:spTgt spid="61"/>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2"/>
                                        </p:tgtEl>
                                        <p:attrNameLst>
                                          <p:attrName>style.visibility</p:attrName>
                                        </p:attrNameLst>
                                      </p:cBhvr>
                                      <p:to>
                                        <p:strVal val="visible"/>
                                      </p:to>
                                    </p:set>
                                    <p:animEffect transition="in" filter="fade">
                                      <p:cBhvr>
                                        <p:cTn id="175" dur="500"/>
                                        <p:tgtEl>
                                          <p:spTgt spid="62"/>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3"/>
                                        </p:tgtEl>
                                        <p:attrNameLst>
                                          <p:attrName>style.visibility</p:attrName>
                                        </p:attrNameLst>
                                      </p:cBhvr>
                                      <p:to>
                                        <p:strVal val="visible"/>
                                      </p:to>
                                    </p:set>
                                    <p:animEffect transition="in" filter="fade">
                                      <p:cBhvr>
                                        <p:cTn id="178" dur="500"/>
                                        <p:tgtEl>
                                          <p:spTgt spid="63"/>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4"/>
                                        </p:tgtEl>
                                        <p:attrNameLst>
                                          <p:attrName>style.visibility</p:attrName>
                                        </p:attrNameLst>
                                      </p:cBhvr>
                                      <p:to>
                                        <p:strVal val="visible"/>
                                      </p:to>
                                    </p:set>
                                    <p:animEffect transition="in" filter="fade">
                                      <p:cBhvr>
                                        <p:cTn id="181" dur="500"/>
                                        <p:tgtEl>
                                          <p:spTgt spid="64"/>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5"/>
                                        </p:tgtEl>
                                        <p:attrNameLst>
                                          <p:attrName>style.visibility</p:attrName>
                                        </p:attrNameLst>
                                      </p:cBhvr>
                                      <p:to>
                                        <p:strVal val="visible"/>
                                      </p:to>
                                    </p:set>
                                    <p:animEffect transition="in" filter="fade">
                                      <p:cBhvr>
                                        <p:cTn id="184" dur="500"/>
                                        <p:tgtEl>
                                          <p:spTgt spid="65"/>
                                        </p:tgtEl>
                                      </p:cBhvr>
                                    </p:animEffect>
                                  </p:childTnLst>
                                </p:cTn>
                              </p:par>
                            </p:childTnLst>
                          </p:cTn>
                        </p:par>
                      </p:childTnLst>
                    </p:cTn>
                  </p:par>
                  <p:par>
                    <p:cTn id="185" fill="hold">
                      <p:stCondLst>
                        <p:cond delay="indefinite"/>
                      </p:stCondLst>
                      <p:childTnLst>
                        <p:par>
                          <p:cTn id="186" fill="hold">
                            <p:stCondLst>
                              <p:cond delay="0"/>
                            </p:stCondLst>
                            <p:childTnLst>
                              <p:par>
                                <p:cTn id="187" presetID="10" presetClass="entr" presetSubtype="0" fill="hold" grpId="0" nodeType="click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5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50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6" grpId="0"/>
      <p:bldP spid="67" grpId="0"/>
      <p:bldP spid="68"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What it is not, and what comes next</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The four limitations I would raise before you had to ask me.</a:t>
            </a:r>
            <a:endParaRPr lang="en-US" sz="1500" dirty="0"/>
          </a:p>
        </p:txBody>
      </p:sp>
      <p:sp>
        <p:nvSpPr>
          <p:cNvPr id="4" name="w1"/>
          <p:cNvSpPr/>
          <p:nvPr/>
        </p:nvSpPr>
        <p:spPr>
          <a:xfrm>
            <a:off x="566928" y="1572768"/>
            <a:ext cx="5391760" cy="1316736"/>
          </a:xfrm>
          <a:prstGeom prst="roundRect">
            <a:avLst>
              <a:gd name="adj" fmla="val 4861"/>
            </a:avLst>
          </a:prstGeom>
          <a:solidFill>
            <a:srgbClr val="16233A"/>
          </a:solidFill>
          <a:ln w="12700">
            <a:solidFill>
              <a:srgbClr val="22344F"/>
            </a:solidFill>
            <a:prstDash val="solid"/>
          </a:ln>
        </p:spPr>
      </p:sp>
      <p:sp>
        <p:nvSpPr>
          <p:cNvPr id="5" name="w1_h"/>
          <p:cNvSpPr txBox="1"/>
          <p:nvPr/>
        </p:nvSpPr>
        <p:spPr>
          <a:xfrm>
            <a:off x="749808" y="1719072"/>
            <a:ext cx="5026000" cy="274320"/>
          </a:xfrm>
          <a:prstGeom prst="rect">
            <a:avLst/>
          </a:prstGeom>
          <a:noFill/>
          <a:ln/>
        </p:spPr>
        <p:txBody>
          <a:bodyPr wrap="square" lIns="0" tIns="0" rIns="0" bIns="0" rtlCol="0" anchor="ctr"/>
          <a:lstStyle/>
          <a:p>
            <a:pPr indent="0" marL="0">
              <a:buNone/>
            </a:pPr>
            <a:r>
              <a:rPr lang="en-US" sz="1300" b="1" dirty="0">
                <a:solidFill>
                  <a:srgbClr val="E85D75"/>
                </a:solidFill>
              </a:rPr>
              <a:t>The flight model is the weakest part</a:t>
            </a:r>
            <a:endParaRPr lang="en-US" sz="1300" dirty="0"/>
          </a:p>
        </p:txBody>
      </p:sp>
      <p:sp>
        <p:nvSpPr>
          <p:cNvPr id="6" name="w1_b"/>
          <p:cNvSpPr txBox="1"/>
          <p:nvPr/>
        </p:nvSpPr>
        <p:spPr>
          <a:xfrm>
            <a:off x="749808" y="2048256"/>
            <a:ext cx="5026000" cy="694944"/>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Fixed rates, no mass, no wind, no performance envelope. A scenario that depends on precise timing is only as good as this.</a:t>
            </a:r>
            <a:endParaRPr lang="en-US" sz="1200" dirty="0"/>
          </a:p>
        </p:txBody>
      </p:sp>
      <p:sp>
        <p:nvSpPr>
          <p:cNvPr id="7" name="w2"/>
          <p:cNvSpPr/>
          <p:nvPr/>
        </p:nvSpPr>
        <p:spPr>
          <a:xfrm>
            <a:off x="6233008" y="1572768"/>
            <a:ext cx="5391760" cy="1316736"/>
          </a:xfrm>
          <a:prstGeom prst="roundRect">
            <a:avLst>
              <a:gd name="adj" fmla="val 4861"/>
            </a:avLst>
          </a:prstGeom>
          <a:solidFill>
            <a:srgbClr val="16233A"/>
          </a:solidFill>
          <a:ln w="12700">
            <a:solidFill>
              <a:srgbClr val="22344F"/>
            </a:solidFill>
            <a:prstDash val="solid"/>
          </a:ln>
        </p:spPr>
      </p:sp>
      <p:sp>
        <p:nvSpPr>
          <p:cNvPr id="8" name="w2_h"/>
          <p:cNvSpPr txBox="1"/>
          <p:nvPr/>
        </p:nvSpPr>
        <p:spPr>
          <a:xfrm>
            <a:off x="6415888" y="1719072"/>
            <a:ext cx="5026000" cy="274320"/>
          </a:xfrm>
          <a:prstGeom prst="rect">
            <a:avLst/>
          </a:prstGeom>
          <a:noFill/>
          <a:ln/>
        </p:spPr>
        <p:txBody>
          <a:bodyPr wrap="square" lIns="0" tIns="0" rIns="0" bIns="0" rtlCol="0" anchor="ctr"/>
          <a:lstStyle/>
          <a:p>
            <a:pPr indent="0" marL="0">
              <a:buNone/>
            </a:pPr>
            <a:r>
              <a:rPr lang="en-US" sz="1300" b="1" dirty="0">
                <a:solidFill>
                  <a:srgbClr val="E85D75"/>
                </a:solidFill>
              </a:rPr>
              <a:t>Units are a convention, not types</a:t>
            </a:r>
            <a:endParaRPr lang="en-US" sz="1300" dirty="0"/>
          </a:p>
        </p:txBody>
      </p:sp>
      <p:sp>
        <p:nvSpPr>
          <p:cNvPr id="9" name="w2_b"/>
          <p:cNvSpPr txBox="1"/>
          <p:nvPr/>
        </p:nvSpPr>
        <p:spPr>
          <a:xfrm>
            <a:off x="6415888" y="2048256"/>
            <a:ext cx="5026000" cy="694944"/>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clear AI202 climb 280 means 280 feet, and is accepted. The one place the language looks safer than it is.</a:t>
            </a:r>
            <a:endParaRPr lang="en-US" sz="1200" dirty="0"/>
          </a:p>
        </p:txBody>
      </p:sp>
      <p:sp>
        <p:nvSpPr>
          <p:cNvPr id="10" name="w3"/>
          <p:cNvSpPr/>
          <p:nvPr/>
        </p:nvSpPr>
        <p:spPr>
          <a:xfrm>
            <a:off x="566928" y="3054096"/>
            <a:ext cx="5391760" cy="1316736"/>
          </a:xfrm>
          <a:prstGeom prst="roundRect">
            <a:avLst>
              <a:gd name="adj" fmla="val 4861"/>
            </a:avLst>
          </a:prstGeom>
          <a:solidFill>
            <a:srgbClr val="16233A"/>
          </a:solidFill>
          <a:ln w="12700">
            <a:solidFill>
              <a:srgbClr val="22344F"/>
            </a:solidFill>
            <a:prstDash val="solid"/>
          </a:ln>
        </p:spPr>
      </p:sp>
      <p:sp>
        <p:nvSpPr>
          <p:cNvPr id="11" name="w3_h"/>
          <p:cNvSpPr txBox="1"/>
          <p:nvPr/>
        </p:nvSpPr>
        <p:spPr>
          <a:xfrm>
            <a:off x="749808" y="3200400"/>
            <a:ext cx="5026000" cy="274320"/>
          </a:xfrm>
          <a:prstGeom prst="rect">
            <a:avLst/>
          </a:prstGeom>
          <a:noFill/>
          <a:ln/>
        </p:spPr>
        <p:txBody>
          <a:bodyPr wrap="square" lIns="0" tIns="0" rIns="0" bIns="0" rtlCol="0" anchor="ctr"/>
          <a:lstStyle/>
          <a:p>
            <a:pPr indent="0" marL="0">
              <a:buNone/>
            </a:pPr>
            <a:r>
              <a:rPr lang="en-US" sz="1300" b="1" dirty="0">
                <a:solidFill>
                  <a:srgbClr val="E8A33D"/>
                </a:solidFill>
              </a:rPr>
              <a:t>SSA is built but unused</a:t>
            </a:r>
            <a:endParaRPr lang="en-US" sz="1300" dirty="0"/>
          </a:p>
        </p:txBody>
      </p:sp>
      <p:sp>
        <p:nvSpPr>
          <p:cNvPr id="12" name="w3_b"/>
          <p:cNvSpPr txBox="1"/>
          <p:nvPr/>
        </p:nvSpPr>
        <p:spPr>
          <a:xfrm>
            <a:off x="749808" y="3529584"/>
            <a:ext cx="5026000" cy="694944"/>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The construction is complete and printable, but no optimisation pass consumes it yet.</a:t>
            </a:r>
            <a:endParaRPr lang="en-US" sz="1200" dirty="0"/>
          </a:p>
        </p:txBody>
      </p:sp>
      <p:sp>
        <p:nvSpPr>
          <p:cNvPr id="13" name="w4"/>
          <p:cNvSpPr/>
          <p:nvPr/>
        </p:nvSpPr>
        <p:spPr>
          <a:xfrm>
            <a:off x="6233008" y="3054096"/>
            <a:ext cx="5391760" cy="1316736"/>
          </a:xfrm>
          <a:prstGeom prst="roundRect">
            <a:avLst>
              <a:gd name="adj" fmla="val 4861"/>
            </a:avLst>
          </a:prstGeom>
          <a:solidFill>
            <a:srgbClr val="16233A"/>
          </a:solidFill>
          <a:ln w="12700">
            <a:solidFill>
              <a:srgbClr val="22344F"/>
            </a:solidFill>
            <a:prstDash val="solid"/>
          </a:ln>
        </p:spPr>
      </p:sp>
      <p:sp>
        <p:nvSpPr>
          <p:cNvPr id="14" name="w4_h"/>
          <p:cNvSpPr txBox="1"/>
          <p:nvPr/>
        </p:nvSpPr>
        <p:spPr>
          <a:xfrm>
            <a:off x="6415888" y="3200400"/>
            <a:ext cx="5026000" cy="274320"/>
          </a:xfrm>
          <a:prstGeom prst="rect">
            <a:avLst/>
          </a:prstGeom>
          <a:noFill/>
          <a:ln/>
        </p:spPr>
        <p:txBody>
          <a:bodyPr wrap="square" lIns="0" tIns="0" rIns="0" bIns="0" rtlCol="0" anchor="ctr"/>
          <a:lstStyle/>
          <a:p>
            <a:pPr indent="0" marL="0">
              <a:buNone/>
            </a:pPr>
            <a:r>
              <a:rPr lang="en-US" sz="1300" b="1" dirty="0">
                <a:solidFill>
                  <a:srgbClr val="E8A33D"/>
                </a:solidFill>
              </a:rPr>
              <a:t>Unverified against a real simulator</a:t>
            </a:r>
            <a:endParaRPr lang="en-US" sz="1300" dirty="0"/>
          </a:p>
        </p:txBody>
      </p:sp>
      <p:sp>
        <p:nvSpPr>
          <p:cNvPr id="15" name="w4_b"/>
          <p:cNvSpPr txBox="1"/>
          <p:nvPr/>
        </p:nvSpPr>
        <p:spPr>
          <a:xfrm>
            <a:off x="6415888" y="3529584"/>
            <a:ext cx="5026000" cy="694944"/>
          </a:xfrm>
          <a:prstGeom prst="rect">
            <a:avLst/>
          </a:prstGeom>
          <a:noFill/>
          <a:ln/>
        </p:spPr>
        <p:txBody>
          <a:bodyPr wrap="square" lIns="0" tIns="0" rIns="0" bIns="0" rtlCol="0" anchor="t"/>
          <a:lstStyle/>
          <a:p>
            <a:pPr indent="0" marL="0">
              <a:lnSpc>
                <a:spcPts val="1596"/>
              </a:lnSpc>
              <a:buNone/>
            </a:pPr>
            <a:r>
              <a:rPr lang="en-US" sz="1200" dirty="0">
                <a:solidFill>
                  <a:srgbClr val="DCE6F2"/>
                </a:solidFill>
              </a:rPr>
              <a:t>The format matches the published BlueSky documentation. I have never loaded the file into BlueSky.</a:t>
            </a:r>
            <a:endParaRPr lang="en-US" sz="1200" dirty="0"/>
          </a:p>
        </p:txBody>
      </p:sp>
      <p:sp>
        <p:nvSpPr>
          <p:cNvPr id="16" name="concl"/>
          <p:cNvSpPr/>
          <p:nvPr/>
        </p:nvSpPr>
        <p:spPr>
          <a:xfrm>
            <a:off x="566928" y="4681728"/>
            <a:ext cx="11057839" cy="1207008"/>
          </a:xfrm>
          <a:prstGeom prst="roundRect">
            <a:avLst>
              <a:gd name="adj" fmla="val 5303"/>
            </a:avLst>
          </a:prstGeom>
          <a:solidFill>
            <a:srgbClr val="0F2B27"/>
          </a:solidFill>
          <a:ln w="19050">
            <a:solidFill>
              <a:srgbClr val="35C6A8"/>
            </a:solidFill>
            <a:prstDash val="solid"/>
          </a:ln>
        </p:spPr>
      </p:sp>
      <p:sp>
        <p:nvSpPr>
          <p:cNvPr id="17" name="concl_h"/>
          <p:cNvSpPr txBox="1"/>
          <p:nvPr/>
        </p:nvSpPr>
        <p:spPr>
          <a:xfrm>
            <a:off x="786384" y="4791456"/>
            <a:ext cx="2743200" cy="274320"/>
          </a:xfrm>
          <a:prstGeom prst="rect">
            <a:avLst/>
          </a:prstGeom>
          <a:noFill/>
          <a:ln/>
        </p:spPr>
        <p:txBody>
          <a:bodyPr wrap="square" lIns="0" tIns="0" rIns="0" bIns="0" rtlCol="0" anchor="ctr"/>
          <a:lstStyle/>
          <a:p>
            <a:pPr indent="0" marL="0">
              <a:buNone/>
            </a:pPr>
            <a:r>
              <a:rPr lang="en-US" sz="1250" b="1" dirty="0">
                <a:solidFill>
                  <a:srgbClr val="35C6A8"/>
                </a:solidFill>
              </a:rPr>
              <a:t>Next, in order</a:t>
            </a:r>
            <a:endParaRPr lang="en-US" sz="1250" dirty="0"/>
          </a:p>
        </p:txBody>
      </p:sp>
      <p:sp>
        <p:nvSpPr>
          <p:cNvPr id="18" name="concl_a"/>
          <p:cNvSpPr txBox="1"/>
          <p:nvPr/>
        </p:nvSpPr>
        <p:spPr>
          <a:xfrm>
            <a:off x="786384" y="5084064"/>
            <a:ext cx="10618927" cy="310896"/>
          </a:xfrm>
          <a:prstGeom prst="rect">
            <a:avLst/>
          </a:prstGeom>
          <a:noFill/>
          <a:ln/>
        </p:spPr>
        <p:txBody>
          <a:bodyPr wrap="square" lIns="0" tIns="0" rIns="0" bIns="0" rtlCol="0" anchor="ctr"/>
          <a:lstStyle/>
          <a:p>
            <a:pPr indent="0" marL="0">
              <a:buNone/>
            </a:pPr>
            <a:r>
              <a:rPr lang="en-US" sz="1250" dirty="0">
                <a:solidFill>
                  <a:srgbClr val="DCE6F2"/>
                </a:solidFill>
              </a:rPr>
              <a:t>1 · use the SSA form in the optimiser     2 · make units part of the type system     3 · load the output into BlueSky</a:t>
            </a:r>
            <a:endParaRPr lang="en-US" sz="1250" dirty="0"/>
          </a:p>
        </p:txBody>
      </p:sp>
      <p:sp>
        <p:nvSpPr>
          <p:cNvPr id="19" name="concl_b"/>
          <p:cNvSpPr txBox="1"/>
          <p:nvPr/>
        </p:nvSpPr>
        <p:spPr>
          <a:xfrm>
            <a:off x="786384" y="5431536"/>
            <a:ext cx="10618927" cy="365760"/>
          </a:xfrm>
          <a:prstGeom prst="rect">
            <a:avLst/>
          </a:prstGeom>
          <a:noFill/>
          <a:ln/>
        </p:spPr>
        <p:txBody>
          <a:bodyPr wrap="square" lIns="0" tIns="0" rIns="0" bIns="0" rtlCol="0" anchor="ctr"/>
          <a:lstStyle/>
          <a:p>
            <a:pPr indent="0" marL="0">
              <a:buNone/>
            </a:pPr>
            <a:r>
              <a:rPr lang="en-US" sz="1200" i="1" dirty="0">
                <a:solidFill>
                  <a:srgbClr val="8D9CAF"/>
                </a:solidFill>
              </a:rPr>
              <a:t>The claim is narrow: a small language with a complete compiler turns a class of authoring mistake into a compiler error — and the compiler is finished enough to show you every stage of it.</a:t>
            </a:r>
            <a:endParaRPr lang="en-US" sz="12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Appendix A · the grammar</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LL(1) by construction, which is what lets one function per production parse it</a:t>
            </a:r>
            <a:endParaRPr lang="en-US" sz="1500" dirty="0"/>
          </a:p>
        </p:txBody>
      </p:sp>
      <p:sp>
        <p:nvSpPr>
          <p:cNvPr id="4" name="g1"/>
          <p:cNvSpPr/>
          <p:nvPr/>
        </p:nvSpPr>
        <p:spPr>
          <a:xfrm>
            <a:off x="566928" y="1572768"/>
            <a:ext cx="5577840" cy="4800600"/>
          </a:xfrm>
          <a:prstGeom prst="roundRect">
            <a:avLst>
              <a:gd name="adj" fmla="val 1143"/>
            </a:avLst>
          </a:prstGeom>
          <a:solidFill>
            <a:srgbClr val="16233A"/>
          </a:solidFill>
          <a:ln w="12700">
            <a:solidFill>
              <a:srgbClr val="22344F"/>
            </a:solidFill>
            <a:prstDash val="solid"/>
          </a:ln>
        </p:spPr>
      </p:sp>
      <p:sp>
        <p:nvSpPr>
          <p:cNvPr id="5" name="g1_label"/>
          <p:cNvSpPr txBox="1"/>
          <p:nvPr/>
        </p:nvSpPr>
        <p:spPr>
          <a:xfrm>
            <a:off x="731520" y="1691640"/>
            <a:ext cx="5248656" cy="237744"/>
          </a:xfrm>
          <a:prstGeom prst="rect">
            <a:avLst/>
          </a:prstGeom>
          <a:noFill/>
          <a:ln/>
        </p:spPr>
        <p:txBody>
          <a:bodyPr wrap="square" lIns="0" tIns="0" rIns="0" bIns="0" rtlCol="0" anchor="ctr"/>
          <a:lstStyle/>
          <a:p>
            <a:pPr indent="0" marL="0">
              <a:buNone/>
            </a:pPr>
            <a:r>
              <a:rPr lang="en-US" sz="1050" b="1" spc="120" kern="0" dirty="0">
                <a:solidFill>
                  <a:srgbClr val="35C6A8"/>
                </a:solidFill>
              </a:rPr>
              <a:t>DECLARATIONS AND STATEMENTS</a:t>
            </a:r>
            <a:endParaRPr lang="en-US" sz="1050" dirty="0"/>
          </a:p>
        </p:txBody>
      </p:sp>
      <p:sp>
        <p:nvSpPr>
          <p:cNvPr id="6" name="g1_text"/>
          <p:cNvSpPr txBox="1"/>
          <p:nvPr/>
        </p:nvSpPr>
        <p:spPr>
          <a:xfrm>
            <a:off x="731520" y="2002536"/>
            <a:ext cx="5248656" cy="4261104"/>
          </a:xfrm>
          <a:prstGeom prst="rect">
            <a:avLst/>
          </a:prstGeom>
          <a:noFill/>
          <a:ln/>
        </p:spPr>
        <p:txBody>
          <a:bodyPr wrap="square" lIns="0" tIns="0" rIns="0" bIns="0" rtlCol="0" anchor="t"/>
          <a:lstStyle/>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program      ::= "scenario" STRING item*</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item         ::= fix_decl | flight_decl</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proc_decl | stmt</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fix_decl     ::= </a:t>
            </a:r>
            <a:r>
              <a:rPr lang="en-US" sz="960" b="1" dirty="0">
                <a:solidFill>
                  <a:srgbClr val="E8A33D"/>
                </a:solidFill>
                <a:latin typeface="Courier New" pitchFamily="34" charset="0"/>
                <a:ea typeface="Courier New" pitchFamily="34" charset="-122"/>
                <a:cs typeface="Courier New" pitchFamily="34" charset="-120"/>
              </a:rPr>
              <a:t>"fix"</a:t>
            </a:r>
            <a:r>
              <a:rPr lang="en-US" sz="960" dirty="0">
                <a:solidFill>
                  <a:srgbClr val="DCE6F2"/>
                </a:solidFill>
                <a:latin typeface="Courier New" pitchFamily="34" charset="0"/>
                <a:ea typeface="Courier New" pitchFamily="34" charset="-122"/>
                <a:cs typeface="Courier New" pitchFamily="34" charset="-120"/>
              </a:rPr>
              <a:t> CALLSIGN coord coord</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coord        ::= [ "-" ] NUMBER</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flight_decl  ::= </a:t>
            </a:r>
            <a:r>
              <a:rPr lang="en-US" sz="960" b="1" dirty="0">
                <a:solidFill>
                  <a:srgbClr val="E8A33D"/>
                </a:solidFill>
                <a:latin typeface="Courier New" pitchFamily="34" charset="0"/>
                <a:ea typeface="Courier New" pitchFamily="34" charset="-122"/>
                <a:cs typeface="Courier New" pitchFamily="34" charset="-120"/>
              </a:rPr>
              <a:t>"flight"</a:t>
            </a:r>
            <a:r>
              <a:rPr lang="en-US" sz="960" dirty="0">
                <a:solidFill>
                  <a:srgbClr val="DCE6F2"/>
                </a:solidFill>
                <a:latin typeface="Courier New" pitchFamily="34" charset="0"/>
                <a:ea typeface="Courier New" pitchFamily="34" charset="-122"/>
                <a:cs typeface="Courier New" pitchFamily="34" charset="-120"/>
              </a:rPr>
              <a:t> CALLSIGN</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"type" CALLSIGN ] "enter" CALLSIGN</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"alt" expr "hdg" expr "spd" expr</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proc_decl    ::= </a:t>
            </a:r>
            <a:r>
              <a:rPr lang="en-US" sz="960" b="1" dirty="0">
                <a:solidFill>
                  <a:srgbClr val="E8A33D"/>
                </a:solidFill>
                <a:latin typeface="Courier New" pitchFamily="34" charset="0"/>
                <a:ea typeface="Courier New" pitchFamily="34" charset="-122"/>
                <a:cs typeface="Courier New" pitchFamily="34" charset="-120"/>
              </a:rPr>
              <a:t>"proc"</a:t>
            </a:r>
            <a:r>
              <a:rPr lang="en-US" sz="960" dirty="0">
                <a:solidFill>
                  <a:srgbClr val="DCE6F2"/>
                </a:solidFill>
                <a:latin typeface="Courier New" pitchFamily="34" charset="0"/>
                <a:ea typeface="Courier New" pitchFamily="34" charset="-122"/>
                <a:cs typeface="Courier New" pitchFamily="34" charset="-120"/>
              </a:rPr>
              <a:t> IDENT "(" [ params ] ")"</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block "end"</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stmt         ::= "let" IDENT "=" expr</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IDENT "=" expr</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a:t>
            </a:r>
            <a:r>
              <a:rPr lang="en-US" sz="960" b="1" dirty="0">
                <a:solidFill>
                  <a:srgbClr val="E8A33D"/>
                </a:solidFill>
                <a:latin typeface="Courier New" pitchFamily="34" charset="0"/>
                <a:ea typeface="Courier New" pitchFamily="34" charset="-122"/>
                <a:cs typeface="Courier New" pitchFamily="34" charset="-120"/>
              </a:rPr>
              <a:t>"clear"</a:t>
            </a:r>
            <a:r>
              <a:rPr lang="en-US" sz="960" dirty="0">
                <a:solidFill>
                  <a:srgbClr val="DCE6F2"/>
                </a:solidFill>
                <a:latin typeface="Courier New" pitchFamily="34" charset="0"/>
                <a:ea typeface="Courier New" pitchFamily="34" charset="-122"/>
                <a:cs typeface="Courier New" pitchFamily="34" charset="-120"/>
              </a:rPr>
              <a:t> expr clear_op expr</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a:t>
            </a:r>
            <a:r>
              <a:rPr lang="en-US" sz="960" b="1" dirty="0">
                <a:solidFill>
                  <a:srgbClr val="E8A33D"/>
                </a:solidFill>
                <a:latin typeface="Courier New" pitchFamily="34" charset="0"/>
                <a:ea typeface="Courier New" pitchFamily="34" charset="-122"/>
                <a:cs typeface="Courier New" pitchFamily="34" charset="-120"/>
              </a:rPr>
              <a:t>"advance"</a:t>
            </a:r>
            <a:r>
              <a:rPr lang="en-US" sz="960" dirty="0">
                <a:solidFill>
                  <a:srgbClr val="DCE6F2"/>
                </a:solidFill>
                <a:latin typeface="Courier New" pitchFamily="34" charset="0"/>
                <a:ea typeface="Courier New" pitchFamily="34" charset="-122"/>
                <a:cs typeface="Courier New" pitchFamily="34" charset="-120"/>
              </a:rPr>
              <a:t> expr</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"if" expr "then" block</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"else" block ] "end"</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"while" expr "do" block "end"</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a:t>
            </a:r>
            <a:r>
              <a:rPr lang="en-US" sz="960" b="1" dirty="0">
                <a:solidFill>
                  <a:srgbClr val="E8A33D"/>
                </a:solidFill>
                <a:latin typeface="Courier New" pitchFamily="34" charset="0"/>
                <a:ea typeface="Courier New" pitchFamily="34" charset="-122"/>
                <a:cs typeface="Courier New" pitchFamily="34" charset="-120"/>
              </a:rPr>
              <a:t>"assert"</a:t>
            </a:r>
            <a:r>
              <a:rPr lang="en-US" sz="960" dirty="0">
                <a:solidFill>
                  <a:srgbClr val="DCE6F2"/>
                </a:solidFill>
                <a:latin typeface="Courier New" pitchFamily="34" charset="0"/>
                <a:ea typeface="Courier New" pitchFamily="34" charset="-122"/>
                <a:cs typeface="Courier New" pitchFamily="34" charset="-120"/>
              </a:rPr>
              <a:t> expr [ "," STRING ]</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"call" IDENT "(" [ args ] ")"</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"print" print_arg { "," print_arg }</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"return"</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clear_op     ::= "climb" | "descend" | "heading"</a:t>
            </a:r>
            <a:endParaRPr lang="en-US" sz="960" dirty="0"/>
          </a:p>
          <a:p>
            <a:pPr indent="0" marL="0">
              <a:lnSpc>
                <a:spcPts val="1267"/>
              </a:lnSpc>
              <a:buNone/>
            </a:pPr>
            <a:r>
              <a:rPr lang="en-US" sz="960" dirty="0">
                <a:solidFill>
                  <a:srgbClr val="DCE6F2"/>
                </a:solidFill>
                <a:latin typeface="Courier New" pitchFamily="34" charset="0"/>
                <a:ea typeface="Courier New" pitchFamily="34" charset="-122"/>
                <a:cs typeface="Courier New" pitchFamily="34" charset="-120"/>
              </a:rPr>
              <a:t>               | "speed" | "direct"</a:t>
            </a:r>
            <a:endParaRPr lang="en-US" sz="960" dirty="0"/>
          </a:p>
        </p:txBody>
      </p:sp>
      <p:sp>
        <p:nvSpPr>
          <p:cNvPr id="7" name="g2"/>
          <p:cNvSpPr/>
          <p:nvPr/>
        </p:nvSpPr>
        <p:spPr>
          <a:xfrm>
            <a:off x="6419088" y="1572768"/>
            <a:ext cx="5205679" cy="2907792"/>
          </a:xfrm>
          <a:prstGeom prst="roundRect">
            <a:avLst>
              <a:gd name="adj" fmla="val 1887"/>
            </a:avLst>
          </a:prstGeom>
          <a:solidFill>
            <a:srgbClr val="16233A"/>
          </a:solidFill>
          <a:ln w="12700">
            <a:solidFill>
              <a:srgbClr val="22344F"/>
            </a:solidFill>
            <a:prstDash val="solid"/>
          </a:ln>
        </p:spPr>
      </p:sp>
      <p:sp>
        <p:nvSpPr>
          <p:cNvPr id="8" name="g2_label"/>
          <p:cNvSpPr txBox="1"/>
          <p:nvPr/>
        </p:nvSpPr>
        <p:spPr>
          <a:xfrm>
            <a:off x="6583680" y="1691640"/>
            <a:ext cx="4876495" cy="237744"/>
          </a:xfrm>
          <a:prstGeom prst="rect">
            <a:avLst/>
          </a:prstGeom>
          <a:noFill/>
          <a:ln/>
        </p:spPr>
        <p:txBody>
          <a:bodyPr wrap="square" lIns="0" tIns="0" rIns="0" bIns="0" rtlCol="0" anchor="ctr"/>
          <a:lstStyle/>
          <a:p>
            <a:pPr indent="0" marL="0">
              <a:buNone/>
            </a:pPr>
            <a:r>
              <a:rPr lang="en-US" sz="1050" b="1" spc="120" kern="0" dirty="0">
                <a:solidFill>
                  <a:srgbClr val="35C6A8"/>
                </a:solidFill>
              </a:rPr>
              <a:t>EXPRESSIONS — ONE PRODUCTION PER PRECEDENCE LEVEL</a:t>
            </a:r>
            <a:endParaRPr lang="en-US" sz="1050" dirty="0"/>
          </a:p>
        </p:txBody>
      </p:sp>
      <p:sp>
        <p:nvSpPr>
          <p:cNvPr id="9" name="g2_text"/>
          <p:cNvSpPr txBox="1"/>
          <p:nvPr/>
        </p:nvSpPr>
        <p:spPr>
          <a:xfrm>
            <a:off x="6583680" y="2002536"/>
            <a:ext cx="4876495" cy="2368296"/>
          </a:xfrm>
          <a:prstGeom prst="rect">
            <a:avLst/>
          </a:prstGeom>
          <a:noFill/>
          <a:ln/>
        </p:spPr>
        <p:txBody>
          <a:bodyPr wrap="square" lIns="0" tIns="0" rIns="0" bIns="0" rtlCol="0" anchor="t"/>
          <a:lstStyle/>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expr      ::= or_expr</a:t>
            </a:r>
            <a:endParaRPr lang="en-US" sz="1000" dirty="0"/>
          </a:p>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or_expr   ::= and_expr { "or" and_expr }</a:t>
            </a:r>
            <a:endParaRPr lang="en-US" sz="1000" dirty="0"/>
          </a:p>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and_expr  ::= not_expr { "and" not_expr }</a:t>
            </a:r>
            <a:endParaRPr lang="en-US" sz="1000" dirty="0"/>
          </a:p>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not_expr  ::= "not" not_expr | rel_expr</a:t>
            </a:r>
            <a:endParaRPr lang="en-US" sz="1000" dirty="0"/>
          </a:p>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rel_expr  ::= add_expr [ </a:t>
            </a:r>
            <a:r>
              <a:rPr lang="en-US" sz="1000" b="1" dirty="0">
                <a:solidFill>
                  <a:srgbClr val="E8A33D"/>
                </a:solidFill>
                <a:latin typeface="Courier New" pitchFamily="34" charset="0"/>
                <a:ea typeface="Courier New" pitchFamily="34" charset="-122"/>
                <a:cs typeface="Courier New" pitchFamily="34" charset="-120"/>
              </a:rPr>
              <a:t>rel_op</a:t>
            </a:r>
            <a:r>
              <a:rPr lang="en-US" sz="1000" dirty="0">
                <a:solidFill>
                  <a:srgbClr val="DCE6F2"/>
                </a:solidFill>
                <a:latin typeface="Courier New" pitchFamily="34" charset="0"/>
                <a:ea typeface="Courier New" pitchFamily="34" charset="-122"/>
                <a:cs typeface="Courier New" pitchFamily="34" charset="-120"/>
              </a:rPr>
              <a:t> add_expr ]    </a:t>
            </a:r>
            <a:r>
              <a:rPr lang="en-US" sz="1000" b="1" dirty="0">
                <a:solidFill>
                  <a:srgbClr val="E8A33D"/>
                </a:solidFill>
                <a:latin typeface="Courier New" pitchFamily="34" charset="0"/>
                <a:ea typeface="Courier New" pitchFamily="34" charset="-122"/>
                <a:cs typeface="Courier New" pitchFamily="34" charset="-120"/>
              </a:rPr>
              <a:t>non-associative</a:t>
            </a:r>
            <a:endParaRPr lang="en-US" sz="1000" dirty="0"/>
          </a:p>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add_expr  ::= mul_expr { ("+" | "-") mul_expr }</a:t>
            </a:r>
            <a:endParaRPr lang="en-US" sz="1000" dirty="0"/>
          </a:p>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mul_expr  ::= unary { ("*" | "/" | "%") unary }</a:t>
            </a:r>
            <a:endParaRPr lang="en-US" sz="1000" dirty="0"/>
          </a:p>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unary     ::= "-" unary | postfix</a:t>
            </a:r>
            <a:endParaRPr lang="en-US" sz="1000" dirty="0"/>
          </a:p>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postfix   ::= primary { "." field }</a:t>
            </a:r>
            <a:endParaRPr lang="en-US" sz="1000" dirty="0"/>
          </a:p>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field     ::= "alt" | "hdg" | "spd" | "lat" | "lon"</a:t>
            </a:r>
            <a:endParaRPr lang="en-US" sz="1000" dirty="0"/>
          </a:p>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primary   ::= NUMBER | FLEVEL | SPEED | "true" | "false"</a:t>
            </a:r>
            <a:endParaRPr lang="en-US" sz="1000" dirty="0"/>
          </a:p>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            | IDENT | CALLSIGN | builtin "(" args ")"</a:t>
            </a:r>
            <a:endParaRPr lang="en-US" sz="1000" dirty="0"/>
          </a:p>
          <a:p>
            <a:pPr indent="0" marL="0">
              <a:lnSpc>
                <a:spcPts val="1320"/>
              </a:lnSpc>
              <a:buNone/>
            </a:pPr>
            <a:r>
              <a:rPr lang="en-US" sz="1000" dirty="0">
                <a:solidFill>
                  <a:srgbClr val="DCE6F2"/>
                </a:solidFill>
                <a:latin typeface="Courier New" pitchFamily="34" charset="0"/>
                <a:ea typeface="Courier New" pitchFamily="34" charset="-122"/>
                <a:cs typeface="Courier New" pitchFamily="34" charset="-120"/>
              </a:rPr>
              <a:t>            | "(" expr ")"</a:t>
            </a:r>
            <a:endParaRPr lang="en-US" sz="1000" dirty="0"/>
          </a:p>
        </p:txBody>
      </p:sp>
      <p:sp>
        <p:nvSpPr>
          <p:cNvPr id="10" name="g3"/>
          <p:cNvSpPr/>
          <p:nvPr/>
        </p:nvSpPr>
        <p:spPr>
          <a:xfrm>
            <a:off x="6419088" y="4663440"/>
            <a:ext cx="5205679" cy="1389888"/>
          </a:xfrm>
          <a:prstGeom prst="roundRect">
            <a:avLst>
              <a:gd name="adj" fmla="val 4605"/>
            </a:avLst>
          </a:prstGeom>
          <a:solidFill>
            <a:srgbClr val="16233A"/>
          </a:solidFill>
          <a:ln w="12700">
            <a:solidFill>
              <a:srgbClr val="22344F"/>
            </a:solidFill>
            <a:prstDash val="solid"/>
          </a:ln>
        </p:spPr>
      </p:sp>
      <p:sp>
        <p:nvSpPr>
          <p:cNvPr id="11" name="g3_h"/>
          <p:cNvSpPr txBox="1"/>
          <p:nvPr/>
        </p:nvSpPr>
        <p:spPr>
          <a:xfrm>
            <a:off x="6601968" y="4809744"/>
            <a:ext cx="4839919" cy="274320"/>
          </a:xfrm>
          <a:prstGeom prst="rect">
            <a:avLst/>
          </a:prstGeom>
          <a:noFill/>
          <a:ln/>
        </p:spPr>
        <p:txBody>
          <a:bodyPr wrap="square" lIns="0" tIns="0" rIns="0" bIns="0" rtlCol="0" anchor="ctr"/>
          <a:lstStyle/>
          <a:p>
            <a:pPr indent="0" marL="0">
              <a:buNone/>
            </a:pPr>
            <a:r>
              <a:rPr lang="en-US" sz="1300" b="1" dirty="0">
                <a:solidFill>
                  <a:srgbClr val="35C6A8"/>
                </a:solidFill>
              </a:rPr>
              <a:t>Three places it could have been ambiguous, and is not</a:t>
            </a:r>
            <a:endParaRPr lang="en-US" sz="1300" dirty="0"/>
          </a:p>
        </p:txBody>
      </p:sp>
      <p:sp>
        <p:nvSpPr>
          <p:cNvPr id="12" name="g3_b"/>
          <p:cNvSpPr txBox="1"/>
          <p:nvPr/>
        </p:nvSpPr>
        <p:spPr>
          <a:xfrm>
            <a:off x="6601968" y="5138928"/>
            <a:ext cx="4839919" cy="768096"/>
          </a:xfrm>
          <a:prstGeom prst="rect">
            <a:avLst/>
          </a:prstGeom>
          <a:noFill/>
          <a:ln/>
        </p:spPr>
        <p:txBody>
          <a:bodyPr wrap="square" lIns="0" tIns="0" rIns="0" bIns="0" rtlCol="0" anchor="t"/>
          <a:lstStyle/>
          <a:p>
            <a:pPr indent="0" marL="0">
              <a:lnSpc>
                <a:spcPts val="1463"/>
              </a:lnSpc>
              <a:buNone/>
            </a:pPr>
            <a:r>
              <a:rPr lang="en-US" sz="1100" dirty="0">
                <a:solidFill>
                  <a:srgbClr val="DCE6F2"/>
                </a:solidFill>
              </a:rPr>
              <a:t>end closes every block, so there is no dangling else. A comparison cannot chain, so a &lt; b &lt; c is a syntax error rather than nonsense. fix and flight are both keywords and type names, but only ever in different positions.</a:t>
            </a:r>
            <a:endParaRPr lang="en-US" sz="11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Appendix B · what is core, what is depth</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Nothing was deleted. This is about which parts carry the story and which are held in reserve.</a:t>
            </a:r>
            <a:endParaRPr lang="en-US" sz="1500" dirty="0"/>
          </a:p>
        </p:txBody>
      </p:sp>
      <p:sp>
        <p:nvSpPr>
          <p:cNvPr id="4" name="gg0"/>
          <p:cNvSpPr/>
          <p:nvPr/>
        </p:nvSpPr>
        <p:spPr>
          <a:xfrm>
            <a:off x="566928" y="1572768"/>
            <a:ext cx="11057839" cy="969264"/>
          </a:xfrm>
          <a:prstGeom prst="roundRect">
            <a:avLst>
              <a:gd name="adj" fmla="val 6604"/>
            </a:avLst>
          </a:prstGeom>
          <a:solidFill>
            <a:srgbClr val="16233A"/>
          </a:solidFill>
          <a:ln w="12700">
            <a:solidFill>
              <a:srgbClr val="22344F"/>
            </a:solidFill>
            <a:prstDash val="solid"/>
          </a:ln>
        </p:spPr>
      </p:sp>
      <p:sp>
        <p:nvSpPr>
          <p:cNvPr id="5" name="gp0"/>
          <p:cNvSpPr/>
          <p:nvPr/>
        </p:nvSpPr>
        <p:spPr>
          <a:xfrm>
            <a:off x="749808" y="1700784"/>
            <a:ext cx="1600200" cy="274320"/>
          </a:xfrm>
          <a:prstGeom prst="roundRect">
            <a:avLst>
              <a:gd name="adj" fmla="val 50000"/>
            </a:avLst>
          </a:prstGeom>
          <a:solidFill>
            <a:srgbClr val="35C6A8"/>
          </a:solidFill>
          <a:ln w="12700">
            <a:solidFill>
              <a:srgbClr val="333333"/>
            </a:solidFill>
            <a:prstDash val="solid"/>
          </a:ln>
        </p:spPr>
      </p:sp>
      <p:sp>
        <p:nvSpPr>
          <p:cNvPr id="6" name="gp0_t"/>
          <p:cNvSpPr txBox="1"/>
          <p:nvPr/>
        </p:nvSpPr>
        <p:spPr>
          <a:xfrm>
            <a:off x="749808" y="1700784"/>
            <a:ext cx="1600200"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MUST HAVE</a:t>
            </a:r>
            <a:endParaRPr lang="en-US" sz="950" dirty="0"/>
          </a:p>
        </p:txBody>
      </p:sp>
      <p:sp>
        <p:nvSpPr>
          <p:cNvPr id="7" name="gi0"/>
          <p:cNvSpPr txBox="1"/>
          <p:nvPr/>
        </p:nvSpPr>
        <p:spPr>
          <a:xfrm>
            <a:off x="2532888" y="1664208"/>
            <a:ext cx="8863279" cy="475488"/>
          </a:xfrm>
          <a:prstGeom prst="rect">
            <a:avLst/>
          </a:prstGeom>
          <a:noFill/>
          <a:ln/>
        </p:spPr>
        <p:txBody>
          <a:bodyPr wrap="square" lIns="0" tIns="0" rIns="0" bIns="0" rtlCol="0" anchor="t"/>
          <a:lstStyle/>
          <a:p>
            <a:pPr indent="0" marL="0">
              <a:buNone/>
            </a:pPr>
            <a:r>
              <a:rPr lang="en-US" sz="1050" dirty="0">
                <a:solidFill>
                  <a:srgbClr val="FFFFFF"/>
                </a:solidFill>
              </a:rPr>
              <a:t>Lexer · parser · AST · symbol table · type checking · three-address code with backpatching · basic blocks · constant folding and propagation · dead code · code generation · the AeroVM · the scenario file · domain range and clearance checks · the state barrier</a:t>
            </a:r>
            <a:endParaRPr lang="en-US" sz="1050" dirty="0"/>
          </a:p>
        </p:txBody>
      </p:sp>
      <p:sp>
        <p:nvSpPr>
          <p:cNvPr id="8" name="gw0"/>
          <p:cNvSpPr txBox="1"/>
          <p:nvPr/>
        </p:nvSpPr>
        <p:spPr>
          <a:xfrm>
            <a:off x="2532888" y="2139696"/>
            <a:ext cx="8863279" cy="365760"/>
          </a:xfrm>
          <a:prstGeom prst="rect">
            <a:avLst/>
          </a:prstGeom>
          <a:noFill/>
          <a:ln/>
        </p:spPr>
        <p:txBody>
          <a:bodyPr wrap="square" lIns="0" tIns="0" rIns="0" bIns="0" rtlCol="0" anchor="t"/>
          <a:lstStyle/>
          <a:p>
            <a:pPr indent="0" marL="0">
              <a:buNone/>
            </a:pPr>
            <a:r>
              <a:rPr lang="en-US" sz="1050" i="1" dirty="0">
                <a:solidFill>
                  <a:srgbClr val="8D9CAF"/>
                </a:solidFill>
              </a:rPr>
              <a:t>These are the spine. Remove any one and either the pipeline stops or the domain claim stops being true.</a:t>
            </a:r>
            <a:endParaRPr lang="en-US" sz="1050" dirty="0"/>
          </a:p>
        </p:txBody>
      </p:sp>
      <p:sp>
        <p:nvSpPr>
          <p:cNvPr id="9" name="gg1"/>
          <p:cNvSpPr/>
          <p:nvPr/>
        </p:nvSpPr>
        <p:spPr>
          <a:xfrm>
            <a:off x="566928" y="2651760"/>
            <a:ext cx="11057839" cy="969264"/>
          </a:xfrm>
          <a:prstGeom prst="roundRect">
            <a:avLst>
              <a:gd name="adj" fmla="val 6604"/>
            </a:avLst>
          </a:prstGeom>
          <a:solidFill>
            <a:srgbClr val="101C2E"/>
          </a:solidFill>
          <a:ln w="12700">
            <a:solidFill>
              <a:srgbClr val="22344F"/>
            </a:solidFill>
            <a:prstDash val="solid"/>
          </a:ln>
        </p:spPr>
      </p:sp>
      <p:sp>
        <p:nvSpPr>
          <p:cNvPr id="10" name="gp1"/>
          <p:cNvSpPr/>
          <p:nvPr/>
        </p:nvSpPr>
        <p:spPr>
          <a:xfrm>
            <a:off x="749808" y="2779776"/>
            <a:ext cx="1600200" cy="274320"/>
          </a:xfrm>
          <a:prstGeom prst="roundRect">
            <a:avLst>
              <a:gd name="adj" fmla="val 50000"/>
            </a:avLst>
          </a:prstGeom>
          <a:solidFill>
            <a:srgbClr val="E8A33D"/>
          </a:solidFill>
          <a:ln w="12700">
            <a:solidFill>
              <a:srgbClr val="333333"/>
            </a:solidFill>
            <a:prstDash val="solid"/>
          </a:ln>
        </p:spPr>
      </p:sp>
      <p:sp>
        <p:nvSpPr>
          <p:cNvPr id="11" name="gp1_t"/>
          <p:cNvSpPr txBox="1"/>
          <p:nvPr/>
        </p:nvSpPr>
        <p:spPr>
          <a:xfrm>
            <a:off x="749808" y="2779776"/>
            <a:ext cx="1600200"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NICE TO HAVE</a:t>
            </a:r>
            <a:endParaRPr lang="en-US" sz="950" dirty="0"/>
          </a:p>
        </p:txBody>
      </p:sp>
      <p:sp>
        <p:nvSpPr>
          <p:cNvPr id="12" name="gi1"/>
          <p:cNvSpPr txBox="1"/>
          <p:nvPr/>
        </p:nvSpPr>
        <p:spPr>
          <a:xfrm>
            <a:off x="2532888" y="2743200"/>
            <a:ext cx="8863279" cy="475488"/>
          </a:xfrm>
          <a:prstGeom prst="rect">
            <a:avLst/>
          </a:prstGeom>
          <a:noFill/>
          <a:ln/>
        </p:spPr>
        <p:txBody>
          <a:bodyPr wrap="square" lIns="0" tIns="0" rIns="0" bIns="0" rtlCol="0" anchor="t"/>
          <a:lstStyle/>
          <a:p>
            <a:pPr indent="0" marL="0">
              <a:buNone/>
            </a:pPr>
            <a:r>
              <a:rPr lang="en-US" sz="1050" dirty="0">
                <a:solidFill>
                  <a:srgbClr val="FFFFFF"/>
                </a:solidFill>
              </a:rPr>
              <a:t>DAG common-subexpression elimination · loop-invariant code motion · dominators and natural loops · next-use register allocation with spilling · the peephole pass · the browser demonstration</a:t>
            </a:r>
            <a:endParaRPr lang="en-US" sz="1050" dirty="0"/>
          </a:p>
        </p:txBody>
      </p:sp>
      <p:sp>
        <p:nvSpPr>
          <p:cNvPr id="13" name="gw1"/>
          <p:cNvSpPr txBox="1"/>
          <p:nvPr/>
        </p:nvSpPr>
        <p:spPr>
          <a:xfrm>
            <a:off x="2532888" y="3218688"/>
            <a:ext cx="8863279" cy="365760"/>
          </a:xfrm>
          <a:prstGeom prst="rect">
            <a:avLst/>
          </a:prstGeom>
          <a:noFill/>
          <a:ln/>
        </p:spPr>
        <p:txBody>
          <a:bodyPr wrap="square" lIns="0" tIns="0" rIns="0" bIns="0" rtlCol="0" anchor="t"/>
          <a:lstStyle/>
          <a:p>
            <a:pPr indent="0" marL="0">
              <a:buNone/>
            </a:pPr>
            <a:r>
              <a:rPr lang="en-US" sz="1050" i="1" dirty="0">
                <a:solidFill>
                  <a:srgbClr val="8D9CAF"/>
                </a:solidFill>
              </a:rPr>
              <a:t>Each is a syllabus topic in its own right and each is cheap to explain on top of what is already there. Kept, and shown only if there is time.</a:t>
            </a:r>
            <a:endParaRPr lang="en-US" sz="1050" dirty="0"/>
          </a:p>
        </p:txBody>
      </p:sp>
      <p:sp>
        <p:nvSpPr>
          <p:cNvPr id="14" name="gg2"/>
          <p:cNvSpPr/>
          <p:nvPr/>
        </p:nvSpPr>
        <p:spPr>
          <a:xfrm>
            <a:off x="566928" y="3730752"/>
            <a:ext cx="11057839" cy="969264"/>
          </a:xfrm>
          <a:prstGeom prst="roundRect">
            <a:avLst>
              <a:gd name="adj" fmla="val 6604"/>
            </a:avLst>
          </a:prstGeom>
          <a:solidFill>
            <a:srgbClr val="16233A"/>
          </a:solidFill>
          <a:ln w="12700">
            <a:solidFill>
              <a:srgbClr val="22344F"/>
            </a:solidFill>
            <a:prstDash val="solid"/>
          </a:ln>
        </p:spPr>
      </p:sp>
      <p:sp>
        <p:nvSpPr>
          <p:cNvPr id="15" name="gp2"/>
          <p:cNvSpPr/>
          <p:nvPr/>
        </p:nvSpPr>
        <p:spPr>
          <a:xfrm>
            <a:off x="749808" y="3858768"/>
            <a:ext cx="1600200" cy="274320"/>
          </a:xfrm>
          <a:prstGeom prst="roundRect">
            <a:avLst>
              <a:gd name="adj" fmla="val 50000"/>
            </a:avLst>
          </a:prstGeom>
          <a:solidFill>
            <a:srgbClr val="7FA3DB"/>
          </a:solidFill>
          <a:ln w="12700">
            <a:solidFill>
              <a:srgbClr val="333333"/>
            </a:solidFill>
            <a:prstDash val="solid"/>
          </a:ln>
        </p:spPr>
      </p:sp>
      <p:sp>
        <p:nvSpPr>
          <p:cNvPr id="16" name="gp2_t"/>
          <p:cNvSpPr txBox="1"/>
          <p:nvPr/>
        </p:nvSpPr>
        <p:spPr>
          <a:xfrm>
            <a:off x="749808" y="3858768"/>
            <a:ext cx="1600200"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HELD IN RESERVE</a:t>
            </a:r>
            <a:endParaRPr lang="en-US" sz="950" dirty="0"/>
          </a:p>
        </p:txBody>
      </p:sp>
      <p:sp>
        <p:nvSpPr>
          <p:cNvPr id="17" name="gi2"/>
          <p:cNvSpPr txBox="1"/>
          <p:nvPr/>
        </p:nvSpPr>
        <p:spPr>
          <a:xfrm>
            <a:off x="2532888" y="3822192"/>
            <a:ext cx="8863279" cy="475488"/>
          </a:xfrm>
          <a:prstGeom prst="rect">
            <a:avLst/>
          </a:prstGeom>
          <a:noFill/>
          <a:ln/>
        </p:spPr>
        <p:txBody>
          <a:bodyPr wrap="square" lIns="0" tIns="0" rIns="0" bIns="0" rtlCol="0" anchor="t"/>
          <a:lstStyle/>
          <a:p>
            <a:pPr indent="0" marL="0">
              <a:buNone/>
            </a:pPr>
            <a:r>
              <a:rPr lang="en-US" sz="1050" dirty="0">
                <a:solidFill>
                  <a:srgbClr val="FFFFFF"/>
                </a:solidFill>
              </a:rPr>
              <a:t>SSA construction with dominance frontiers · the control-flow-graph dump · the next-use dump · the fuzz harness</a:t>
            </a:r>
            <a:endParaRPr lang="en-US" sz="1050" dirty="0"/>
          </a:p>
        </p:txBody>
      </p:sp>
      <p:sp>
        <p:nvSpPr>
          <p:cNvPr id="18" name="gw2"/>
          <p:cNvSpPr txBox="1"/>
          <p:nvPr/>
        </p:nvSpPr>
        <p:spPr>
          <a:xfrm>
            <a:off x="2532888" y="4297680"/>
            <a:ext cx="8863279" cy="365760"/>
          </a:xfrm>
          <a:prstGeom prst="rect">
            <a:avLst/>
          </a:prstGeom>
          <a:noFill/>
          <a:ln/>
        </p:spPr>
        <p:txBody>
          <a:bodyPr wrap="square" lIns="0" tIns="0" rIns="0" bIns="0" rtlCol="0" anchor="t"/>
          <a:lstStyle/>
          <a:p>
            <a:pPr indent="0" marL="0">
              <a:buNone/>
            </a:pPr>
            <a:r>
              <a:rPr lang="en-US" sz="1050" i="1" dirty="0">
                <a:solidFill>
                  <a:srgbClr val="8D9CAF"/>
                </a:solidFill>
              </a:rPr>
              <a:t>Real, tested, and genuinely not needed to understand the project. They answer “is there more?” rather than “what is this?”.</a:t>
            </a:r>
            <a:endParaRPr lang="en-US" sz="1050" dirty="0"/>
          </a:p>
        </p:txBody>
      </p:sp>
      <p:sp>
        <p:nvSpPr>
          <p:cNvPr id="19" name="gg3"/>
          <p:cNvSpPr/>
          <p:nvPr/>
        </p:nvSpPr>
        <p:spPr>
          <a:xfrm>
            <a:off x="566928" y="4809744"/>
            <a:ext cx="11057839" cy="969264"/>
          </a:xfrm>
          <a:prstGeom prst="roundRect">
            <a:avLst>
              <a:gd name="adj" fmla="val 6604"/>
            </a:avLst>
          </a:prstGeom>
          <a:solidFill>
            <a:srgbClr val="101C2E"/>
          </a:solidFill>
          <a:ln w="12700">
            <a:solidFill>
              <a:srgbClr val="22344F"/>
            </a:solidFill>
            <a:prstDash val="solid"/>
          </a:ln>
        </p:spPr>
      </p:sp>
      <p:sp>
        <p:nvSpPr>
          <p:cNvPr id="20" name="gp3"/>
          <p:cNvSpPr/>
          <p:nvPr/>
        </p:nvSpPr>
        <p:spPr>
          <a:xfrm>
            <a:off x="749808" y="4937760"/>
            <a:ext cx="1600200" cy="274320"/>
          </a:xfrm>
          <a:prstGeom prst="roundRect">
            <a:avLst>
              <a:gd name="adj" fmla="val 50000"/>
            </a:avLst>
          </a:prstGeom>
          <a:solidFill>
            <a:srgbClr val="8D9CAF"/>
          </a:solidFill>
          <a:ln w="12700">
            <a:solidFill>
              <a:srgbClr val="333333"/>
            </a:solidFill>
            <a:prstDash val="solid"/>
          </a:ln>
        </p:spPr>
      </p:sp>
      <p:sp>
        <p:nvSpPr>
          <p:cNvPr id="21" name="gp3_t"/>
          <p:cNvSpPr txBox="1"/>
          <p:nvPr/>
        </p:nvSpPr>
        <p:spPr>
          <a:xfrm>
            <a:off x="749808" y="4937760"/>
            <a:ext cx="1600200"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DELIBERATELY ABSENT</a:t>
            </a:r>
            <a:endParaRPr lang="en-US" sz="950" dirty="0"/>
          </a:p>
        </p:txBody>
      </p:sp>
      <p:sp>
        <p:nvSpPr>
          <p:cNvPr id="22" name="gi3"/>
          <p:cNvSpPr txBox="1"/>
          <p:nvPr/>
        </p:nvSpPr>
        <p:spPr>
          <a:xfrm>
            <a:off x="2532888" y="4901184"/>
            <a:ext cx="8863279" cy="475488"/>
          </a:xfrm>
          <a:prstGeom prst="rect">
            <a:avLst/>
          </a:prstGeom>
          <a:noFill/>
          <a:ln/>
        </p:spPr>
        <p:txBody>
          <a:bodyPr wrap="square" lIns="0" tIns="0" rIns="0" bIns="0" rtlCol="0" anchor="t"/>
          <a:lstStyle/>
          <a:p>
            <a:pPr indent="0" marL="0">
              <a:buNone/>
            </a:pPr>
            <a:r>
              <a:rPr lang="en-US" sz="1050" dirty="0">
                <a:solidFill>
                  <a:srgbClr val="FFFFFF"/>
                </a:solidFill>
              </a:rPr>
              <a:t>Arrays and records · modules · procedures returning values · a global register allocator · global CSE · unit-aware types · any link to real aviation data or systems</a:t>
            </a:r>
            <a:endParaRPr lang="en-US" sz="1050" dirty="0"/>
          </a:p>
        </p:txBody>
      </p:sp>
      <p:sp>
        <p:nvSpPr>
          <p:cNvPr id="23" name="gw3"/>
          <p:cNvSpPr txBox="1"/>
          <p:nvPr/>
        </p:nvSpPr>
        <p:spPr>
          <a:xfrm>
            <a:off x="2532888" y="5376672"/>
            <a:ext cx="8863279" cy="365760"/>
          </a:xfrm>
          <a:prstGeom prst="rect">
            <a:avLst/>
          </a:prstGeom>
          <a:noFill/>
          <a:ln/>
        </p:spPr>
        <p:txBody>
          <a:bodyPr wrap="square" lIns="0" tIns="0" rIns="0" bIns="0" rtlCol="0" anchor="t"/>
          <a:lstStyle/>
          <a:p>
            <a:pPr indent="0" marL="0">
              <a:buNone/>
            </a:pPr>
            <a:r>
              <a:rPr lang="en-US" sz="1050" i="1" dirty="0">
                <a:solidFill>
                  <a:srgbClr val="8D9CAF"/>
                </a:solidFill>
              </a:rPr>
              <a:t>Each was considered and left out: the first four for scope, unit types as the single best future extension, the last as a hard line the project does not cross.</a:t>
            </a:r>
            <a:endParaRPr lang="en-US" sz="1050" dirty="0"/>
          </a:p>
        </p:txBody>
      </p:sp>
      <p:sp>
        <p:nvSpPr>
          <p:cNvPr id="24" name="gnote"/>
          <p:cNvSpPr txBox="1"/>
          <p:nvPr/>
        </p:nvSpPr>
        <p:spPr>
          <a:xfrm>
            <a:off x="566928" y="5998464"/>
            <a:ext cx="11057839" cy="365760"/>
          </a:xfrm>
          <a:prstGeom prst="rect">
            <a:avLst/>
          </a:prstGeom>
          <a:noFill/>
          <a:ln/>
        </p:spPr>
        <p:txBody>
          <a:bodyPr wrap="square" lIns="0" tIns="0" rIns="0" bIns="0" rtlCol="0" anchor="ctr"/>
          <a:lstStyle/>
          <a:p>
            <a:pPr indent="0" marL="0">
              <a:buNone/>
            </a:pPr>
            <a:r>
              <a:rPr lang="en-US" sz="1200" i="1" dirty="0">
                <a:solidFill>
                  <a:srgbClr val="35C6A8"/>
                </a:solidFill>
              </a:rPr>
              <a:t>The student-sized version of this project is a smaller story, not a smaller codebase. Working, tested, documented code is not worth deleting to look simpler.</a:t>
            </a:r>
            <a:endParaRPr lang="en-US" sz="12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Appendix C · how the animation in this deck works</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Recorded here so nothing in the deck is claimed to move when it does not</a:t>
            </a:r>
            <a:endParaRPr lang="en-US" sz="1500" dirty="0"/>
          </a:p>
        </p:txBody>
      </p:sp>
      <p:sp>
        <p:nvSpPr>
          <p:cNvPr id="4" name="ar0"/>
          <p:cNvSpPr/>
          <p:nvPr/>
        </p:nvSpPr>
        <p:spPr>
          <a:xfrm>
            <a:off x="566928" y="1572768"/>
            <a:ext cx="11057839" cy="786384"/>
          </a:xfrm>
          <a:prstGeom prst="roundRect">
            <a:avLst>
              <a:gd name="adj" fmla="val 6977"/>
            </a:avLst>
          </a:prstGeom>
          <a:solidFill>
            <a:srgbClr val="16233A"/>
          </a:solidFill>
          <a:ln w="12700">
            <a:solidFill>
              <a:srgbClr val="333333"/>
            </a:solidFill>
            <a:prstDash val="solid"/>
          </a:ln>
        </p:spPr>
      </p:sp>
      <p:sp>
        <p:nvSpPr>
          <p:cNvPr id="5" name="ap0"/>
          <p:cNvSpPr/>
          <p:nvPr/>
        </p:nvSpPr>
        <p:spPr>
          <a:xfrm>
            <a:off x="749808" y="1700784"/>
            <a:ext cx="1097280" cy="274320"/>
          </a:xfrm>
          <a:prstGeom prst="roundRect">
            <a:avLst>
              <a:gd name="adj" fmla="val 50000"/>
            </a:avLst>
          </a:prstGeom>
          <a:solidFill>
            <a:srgbClr val="35C6A8"/>
          </a:solidFill>
          <a:ln w="12700">
            <a:solidFill>
              <a:srgbClr val="333333"/>
            </a:solidFill>
            <a:prstDash val="solid"/>
          </a:ln>
        </p:spPr>
      </p:sp>
      <p:sp>
        <p:nvSpPr>
          <p:cNvPr id="6" name="ap0_t"/>
          <p:cNvSpPr txBox="1"/>
          <p:nvPr/>
        </p:nvSpPr>
        <p:spPr>
          <a:xfrm>
            <a:off x="749808" y="1700784"/>
            <a:ext cx="1097280"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NATIVE</a:t>
            </a:r>
            <a:endParaRPr lang="en-US" sz="950" dirty="0"/>
          </a:p>
        </p:txBody>
      </p:sp>
      <p:sp>
        <p:nvSpPr>
          <p:cNvPr id="7" name="aw0"/>
          <p:cNvSpPr txBox="1"/>
          <p:nvPr/>
        </p:nvSpPr>
        <p:spPr>
          <a:xfrm>
            <a:off x="2029968" y="1664208"/>
            <a:ext cx="3017520" cy="676656"/>
          </a:xfrm>
          <a:prstGeom prst="rect">
            <a:avLst/>
          </a:prstGeom>
          <a:noFill/>
          <a:ln/>
        </p:spPr>
        <p:txBody>
          <a:bodyPr wrap="square" lIns="0" tIns="0" rIns="0" bIns="0" rtlCol="0" anchor="ctr"/>
          <a:lstStyle/>
          <a:p>
            <a:pPr indent="0" marL="0">
              <a:buNone/>
            </a:pPr>
            <a:r>
              <a:rPr lang="en-US" sz="1150" b="1" dirty="0">
                <a:solidFill>
                  <a:srgbClr val="FFFFFF"/>
                </a:solidFill>
              </a:rPr>
              <a:t>Entrance animations on every build step</a:t>
            </a:r>
            <a:endParaRPr lang="en-US" sz="1150" dirty="0"/>
          </a:p>
        </p:txBody>
      </p:sp>
      <p:sp>
        <p:nvSpPr>
          <p:cNvPr id="8" name="ad0"/>
          <p:cNvSpPr txBox="1"/>
          <p:nvPr/>
        </p:nvSpPr>
        <p:spPr>
          <a:xfrm>
            <a:off x="5138928" y="1664208"/>
            <a:ext cx="6302959" cy="676656"/>
          </a:xfrm>
          <a:prstGeom prst="rect">
            <a:avLst/>
          </a:prstGeom>
          <a:noFill/>
          <a:ln/>
        </p:spPr>
        <p:txBody>
          <a:bodyPr wrap="square" lIns="0" tIns="0" rIns="0" bIns="0" rtlCol="0" anchor="ctr"/>
          <a:lstStyle/>
          <a:p>
            <a:pPr indent="0" marL="0">
              <a:buNone/>
            </a:pPr>
            <a:r>
              <a:rPr lang="en-US" sz="1050" dirty="0">
                <a:solidFill>
                  <a:srgbClr val="DCE6F2"/>
                </a:solidFill>
              </a:rPr>
              <a:t>Real PowerPoint click-triggered fade entrances (presetID 10, presetClass entr), written as a &lt;p:timing&gt; tree directly into each slide's XML. pptxgenjs has no animation API, so this was post-processed into the package.</a:t>
            </a:r>
            <a:endParaRPr lang="en-US" sz="1050" dirty="0"/>
          </a:p>
        </p:txBody>
      </p:sp>
      <p:sp>
        <p:nvSpPr>
          <p:cNvPr id="9" name="ar1"/>
          <p:cNvSpPr/>
          <p:nvPr/>
        </p:nvSpPr>
        <p:spPr>
          <a:xfrm>
            <a:off x="566928" y="2441448"/>
            <a:ext cx="11057839" cy="786384"/>
          </a:xfrm>
          <a:prstGeom prst="roundRect">
            <a:avLst>
              <a:gd name="adj" fmla="val 6977"/>
            </a:avLst>
          </a:prstGeom>
          <a:solidFill>
            <a:srgbClr val="101C2E"/>
          </a:solidFill>
          <a:ln w="12700">
            <a:solidFill>
              <a:srgbClr val="333333"/>
            </a:solidFill>
            <a:prstDash val="solid"/>
          </a:ln>
        </p:spPr>
      </p:sp>
      <p:sp>
        <p:nvSpPr>
          <p:cNvPr id="10" name="ap1"/>
          <p:cNvSpPr/>
          <p:nvPr/>
        </p:nvSpPr>
        <p:spPr>
          <a:xfrm>
            <a:off x="749808" y="2569464"/>
            <a:ext cx="1097280" cy="274320"/>
          </a:xfrm>
          <a:prstGeom prst="roundRect">
            <a:avLst>
              <a:gd name="adj" fmla="val 50000"/>
            </a:avLst>
          </a:prstGeom>
          <a:solidFill>
            <a:srgbClr val="35C6A8"/>
          </a:solidFill>
          <a:ln w="12700">
            <a:solidFill>
              <a:srgbClr val="333333"/>
            </a:solidFill>
            <a:prstDash val="solid"/>
          </a:ln>
        </p:spPr>
      </p:sp>
      <p:sp>
        <p:nvSpPr>
          <p:cNvPr id="11" name="ap1_t"/>
          <p:cNvSpPr txBox="1"/>
          <p:nvPr/>
        </p:nvSpPr>
        <p:spPr>
          <a:xfrm>
            <a:off x="749808" y="2569464"/>
            <a:ext cx="1097280"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NATIVE</a:t>
            </a:r>
            <a:endParaRPr lang="en-US" sz="950" dirty="0"/>
          </a:p>
        </p:txBody>
      </p:sp>
      <p:sp>
        <p:nvSpPr>
          <p:cNvPr id="12" name="aw1"/>
          <p:cNvSpPr txBox="1"/>
          <p:nvPr/>
        </p:nvSpPr>
        <p:spPr>
          <a:xfrm>
            <a:off x="2029968" y="2532888"/>
            <a:ext cx="3017520" cy="676656"/>
          </a:xfrm>
          <a:prstGeom prst="rect">
            <a:avLst/>
          </a:prstGeom>
          <a:noFill/>
          <a:ln/>
        </p:spPr>
        <p:txBody>
          <a:bodyPr wrap="square" lIns="0" tIns="0" rIns="0" bIns="0" rtlCol="0" anchor="ctr"/>
          <a:lstStyle/>
          <a:p>
            <a:pPr indent="0" marL="0">
              <a:buNone/>
            </a:pPr>
            <a:r>
              <a:rPr lang="en-US" sz="1150" b="1" dirty="0">
                <a:solidFill>
                  <a:srgbClr val="FFFFFF"/>
                </a:solidFill>
              </a:rPr>
              <a:t>Slide transitions</a:t>
            </a:r>
            <a:endParaRPr lang="en-US" sz="1150" dirty="0"/>
          </a:p>
        </p:txBody>
      </p:sp>
      <p:sp>
        <p:nvSpPr>
          <p:cNvPr id="13" name="ad1"/>
          <p:cNvSpPr txBox="1"/>
          <p:nvPr/>
        </p:nvSpPr>
        <p:spPr>
          <a:xfrm>
            <a:off x="5138928" y="2532888"/>
            <a:ext cx="6302959" cy="676656"/>
          </a:xfrm>
          <a:prstGeom prst="rect">
            <a:avLst/>
          </a:prstGeom>
          <a:noFill/>
          <a:ln/>
        </p:spPr>
        <p:txBody>
          <a:bodyPr wrap="square" lIns="0" tIns="0" rIns="0" bIns="0" rtlCol="0" anchor="ctr"/>
          <a:lstStyle/>
          <a:p>
            <a:pPr indent="0" marL="0">
              <a:buNone/>
            </a:pPr>
            <a:r>
              <a:rPr lang="en-US" sz="1050" dirty="0">
                <a:solidFill>
                  <a:srgbClr val="DCE6F2"/>
                </a:solidFill>
              </a:rPr>
              <a:t>A &lt;p:transition&gt; fade on every slide. Universally supported.</a:t>
            </a:r>
            <a:endParaRPr lang="en-US" sz="1050" dirty="0"/>
          </a:p>
        </p:txBody>
      </p:sp>
      <p:sp>
        <p:nvSpPr>
          <p:cNvPr id="14" name="ar2"/>
          <p:cNvSpPr/>
          <p:nvPr/>
        </p:nvSpPr>
        <p:spPr>
          <a:xfrm>
            <a:off x="566928" y="3310128"/>
            <a:ext cx="11057839" cy="786384"/>
          </a:xfrm>
          <a:prstGeom prst="roundRect">
            <a:avLst>
              <a:gd name="adj" fmla="val 6977"/>
            </a:avLst>
          </a:prstGeom>
          <a:solidFill>
            <a:srgbClr val="16233A"/>
          </a:solidFill>
          <a:ln w="12700">
            <a:solidFill>
              <a:srgbClr val="333333"/>
            </a:solidFill>
            <a:prstDash val="solid"/>
          </a:ln>
        </p:spPr>
      </p:sp>
      <p:sp>
        <p:nvSpPr>
          <p:cNvPr id="15" name="ap2"/>
          <p:cNvSpPr/>
          <p:nvPr/>
        </p:nvSpPr>
        <p:spPr>
          <a:xfrm>
            <a:off x="749808" y="3438144"/>
            <a:ext cx="1097280" cy="274320"/>
          </a:xfrm>
          <a:prstGeom prst="roundRect">
            <a:avLst>
              <a:gd name="adj" fmla="val 50000"/>
            </a:avLst>
          </a:prstGeom>
          <a:solidFill>
            <a:srgbClr val="8D9CAF"/>
          </a:solidFill>
          <a:ln w="12700">
            <a:solidFill>
              <a:srgbClr val="333333"/>
            </a:solidFill>
            <a:prstDash val="solid"/>
          </a:ln>
        </p:spPr>
      </p:sp>
      <p:sp>
        <p:nvSpPr>
          <p:cNvPr id="16" name="ap2_t"/>
          <p:cNvSpPr txBox="1"/>
          <p:nvPr/>
        </p:nvSpPr>
        <p:spPr>
          <a:xfrm>
            <a:off x="749808" y="3438144"/>
            <a:ext cx="1097280"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NOT USED</a:t>
            </a:r>
            <a:endParaRPr lang="en-US" sz="950" dirty="0"/>
          </a:p>
        </p:txBody>
      </p:sp>
      <p:sp>
        <p:nvSpPr>
          <p:cNvPr id="17" name="aw2"/>
          <p:cNvSpPr txBox="1"/>
          <p:nvPr/>
        </p:nvSpPr>
        <p:spPr>
          <a:xfrm>
            <a:off x="2029968" y="3401568"/>
            <a:ext cx="3017520" cy="676656"/>
          </a:xfrm>
          <a:prstGeom prst="rect">
            <a:avLst/>
          </a:prstGeom>
          <a:noFill/>
          <a:ln/>
        </p:spPr>
        <p:txBody>
          <a:bodyPr wrap="square" lIns="0" tIns="0" rIns="0" bIns="0" rtlCol="0" anchor="ctr"/>
          <a:lstStyle/>
          <a:p>
            <a:pPr indent="0" marL="0">
              <a:buNone/>
            </a:pPr>
            <a:r>
              <a:rPr lang="en-US" sz="1150" b="1" dirty="0">
                <a:solidFill>
                  <a:srgbClr val="FFFFFF"/>
                </a:solidFill>
              </a:rPr>
              <a:t>Morph transition</a:t>
            </a:r>
            <a:endParaRPr lang="en-US" sz="1150" dirty="0"/>
          </a:p>
        </p:txBody>
      </p:sp>
      <p:sp>
        <p:nvSpPr>
          <p:cNvPr id="18" name="ad2"/>
          <p:cNvSpPr txBox="1"/>
          <p:nvPr/>
        </p:nvSpPr>
        <p:spPr>
          <a:xfrm>
            <a:off x="5138928" y="3401568"/>
            <a:ext cx="6302959" cy="676656"/>
          </a:xfrm>
          <a:prstGeom prst="rect">
            <a:avLst/>
          </a:prstGeom>
          <a:noFill/>
          <a:ln/>
        </p:spPr>
        <p:txBody>
          <a:bodyPr wrap="square" lIns="0" tIns="0" rIns="0" bIns="0" rtlCol="0" anchor="ctr"/>
          <a:lstStyle/>
          <a:p>
            <a:pPr indent="0" marL="0">
              <a:buNone/>
            </a:pPr>
            <a:r>
              <a:rPr lang="en-US" sz="1050" dirty="0">
                <a:solidFill>
                  <a:srgbClr val="DCE6F2"/>
                </a:solidFill>
              </a:rPr>
              <a:t>Needs the PowerPoint 2019+ p168 namespace and degrades badly where it is unsupported. Fade was chosen instead; the deck says so rather than implying morph.</a:t>
            </a:r>
            <a:endParaRPr lang="en-US" sz="1050" dirty="0"/>
          </a:p>
        </p:txBody>
      </p:sp>
      <p:sp>
        <p:nvSpPr>
          <p:cNvPr id="19" name="ar3"/>
          <p:cNvSpPr/>
          <p:nvPr/>
        </p:nvSpPr>
        <p:spPr>
          <a:xfrm>
            <a:off x="566928" y="4178808"/>
            <a:ext cx="11057839" cy="786384"/>
          </a:xfrm>
          <a:prstGeom prst="roundRect">
            <a:avLst>
              <a:gd name="adj" fmla="val 6977"/>
            </a:avLst>
          </a:prstGeom>
          <a:solidFill>
            <a:srgbClr val="101C2E"/>
          </a:solidFill>
          <a:ln w="12700">
            <a:solidFill>
              <a:srgbClr val="333333"/>
            </a:solidFill>
            <a:prstDash val="solid"/>
          </a:ln>
        </p:spPr>
      </p:sp>
      <p:sp>
        <p:nvSpPr>
          <p:cNvPr id="20" name="ap3"/>
          <p:cNvSpPr/>
          <p:nvPr/>
        </p:nvSpPr>
        <p:spPr>
          <a:xfrm>
            <a:off x="749808" y="4306824"/>
            <a:ext cx="1097280" cy="274320"/>
          </a:xfrm>
          <a:prstGeom prst="roundRect">
            <a:avLst>
              <a:gd name="adj" fmla="val 50000"/>
            </a:avLst>
          </a:prstGeom>
          <a:solidFill>
            <a:srgbClr val="8D9CAF"/>
          </a:solidFill>
          <a:ln w="12700">
            <a:solidFill>
              <a:srgbClr val="333333"/>
            </a:solidFill>
            <a:prstDash val="solid"/>
          </a:ln>
        </p:spPr>
      </p:sp>
      <p:sp>
        <p:nvSpPr>
          <p:cNvPr id="21" name="ap3_t"/>
          <p:cNvSpPr txBox="1"/>
          <p:nvPr/>
        </p:nvSpPr>
        <p:spPr>
          <a:xfrm>
            <a:off x="749808" y="4306824"/>
            <a:ext cx="1097280"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NOT USED</a:t>
            </a:r>
            <a:endParaRPr lang="en-US" sz="950" dirty="0"/>
          </a:p>
        </p:txBody>
      </p:sp>
      <p:sp>
        <p:nvSpPr>
          <p:cNvPr id="22" name="aw3"/>
          <p:cNvSpPr txBox="1"/>
          <p:nvPr/>
        </p:nvSpPr>
        <p:spPr>
          <a:xfrm>
            <a:off x="2029968" y="4270248"/>
            <a:ext cx="3017520" cy="676656"/>
          </a:xfrm>
          <a:prstGeom prst="rect">
            <a:avLst/>
          </a:prstGeom>
          <a:noFill/>
          <a:ln/>
        </p:spPr>
        <p:txBody>
          <a:bodyPr wrap="square" lIns="0" tIns="0" rIns="0" bIns="0" rtlCol="0" anchor="ctr"/>
          <a:lstStyle/>
          <a:p>
            <a:pPr indent="0" marL="0">
              <a:buNone/>
            </a:pPr>
            <a:r>
              <a:rPr lang="en-US" sz="1150" b="1" dirty="0">
                <a:solidFill>
                  <a:srgbClr val="FFFFFF"/>
                </a:solidFill>
              </a:rPr>
              <a:t>Motion paths, spins, bounces, sound</a:t>
            </a:r>
            <a:endParaRPr lang="en-US" sz="1150" dirty="0"/>
          </a:p>
        </p:txBody>
      </p:sp>
      <p:sp>
        <p:nvSpPr>
          <p:cNvPr id="23" name="ad3"/>
          <p:cNvSpPr txBox="1"/>
          <p:nvPr/>
        </p:nvSpPr>
        <p:spPr>
          <a:xfrm>
            <a:off x="5138928" y="4270248"/>
            <a:ext cx="6302959" cy="676656"/>
          </a:xfrm>
          <a:prstGeom prst="rect">
            <a:avLst/>
          </a:prstGeom>
          <a:noFill/>
          <a:ln/>
        </p:spPr>
        <p:txBody>
          <a:bodyPr wrap="square" lIns="0" tIns="0" rIns="0" bIns="0" rtlCol="0" anchor="ctr"/>
          <a:lstStyle/>
          <a:p>
            <a:pPr indent="0" marL="0">
              <a:buNone/>
            </a:pPr>
            <a:r>
              <a:rPr lang="en-US" sz="1050" dirty="0">
                <a:solidFill>
                  <a:srgbClr val="DCE6F2"/>
                </a:solidFill>
              </a:rPr>
              <a:t>Deliberately excluded. Every animation here exists to sequence an explanation, not to decorate it.</a:t>
            </a:r>
            <a:endParaRPr lang="en-US" sz="1050" dirty="0"/>
          </a:p>
        </p:txBody>
      </p:sp>
      <p:sp>
        <p:nvSpPr>
          <p:cNvPr id="24" name="ar4"/>
          <p:cNvSpPr/>
          <p:nvPr/>
        </p:nvSpPr>
        <p:spPr>
          <a:xfrm>
            <a:off x="566928" y="5047488"/>
            <a:ext cx="11057839" cy="786384"/>
          </a:xfrm>
          <a:prstGeom prst="roundRect">
            <a:avLst>
              <a:gd name="adj" fmla="val 6977"/>
            </a:avLst>
          </a:prstGeom>
          <a:solidFill>
            <a:srgbClr val="16233A"/>
          </a:solidFill>
          <a:ln w="12700">
            <a:solidFill>
              <a:srgbClr val="333333"/>
            </a:solidFill>
            <a:prstDash val="solid"/>
          </a:ln>
        </p:spPr>
      </p:sp>
      <p:sp>
        <p:nvSpPr>
          <p:cNvPr id="25" name="ap4"/>
          <p:cNvSpPr/>
          <p:nvPr/>
        </p:nvSpPr>
        <p:spPr>
          <a:xfrm>
            <a:off x="749808" y="5175504"/>
            <a:ext cx="1097280" cy="274320"/>
          </a:xfrm>
          <a:prstGeom prst="roundRect">
            <a:avLst>
              <a:gd name="adj" fmla="val 50000"/>
            </a:avLst>
          </a:prstGeom>
          <a:solidFill>
            <a:srgbClr val="E8A33D"/>
          </a:solidFill>
          <a:ln w="12700">
            <a:solidFill>
              <a:srgbClr val="333333"/>
            </a:solidFill>
            <a:prstDash val="solid"/>
          </a:ln>
        </p:spPr>
      </p:sp>
      <p:sp>
        <p:nvSpPr>
          <p:cNvPr id="26" name="ap4_t"/>
          <p:cNvSpPr txBox="1"/>
          <p:nvPr/>
        </p:nvSpPr>
        <p:spPr>
          <a:xfrm>
            <a:off x="749808" y="5175504"/>
            <a:ext cx="1097280" cy="274320"/>
          </a:xfrm>
          <a:prstGeom prst="rect">
            <a:avLst/>
          </a:prstGeom>
          <a:noFill/>
          <a:ln/>
        </p:spPr>
        <p:txBody>
          <a:bodyPr wrap="square" lIns="0" tIns="0" rIns="0" bIns="0" rtlCol="0" anchor="ctr"/>
          <a:lstStyle/>
          <a:p>
            <a:pPr algn="ctr" indent="0" marL="0">
              <a:buNone/>
            </a:pPr>
            <a:r>
              <a:rPr lang="en-US" sz="950" b="1" spc="80" kern="0" dirty="0">
                <a:solidFill>
                  <a:srgbClr val="0A121E"/>
                </a:solidFill>
              </a:rPr>
              <a:t>FALLBACK</a:t>
            </a:r>
            <a:endParaRPr lang="en-US" sz="950" dirty="0"/>
          </a:p>
        </p:txBody>
      </p:sp>
      <p:sp>
        <p:nvSpPr>
          <p:cNvPr id="27" name="aw4"/>
          <p:cNvSpPr txBox="1"/>
          <p:nvPr/>
        </p:nvSpPr>
        <p:spPr>
          <a:xfrm>
            <a:off x="2029968" y="5138928"/>
            <a:ext cx="3017520" cy="676656"/>
          </a:xfrm>
          <a:prstGeom prst="rect">
            <a:avLst/>
          </a:prstGeom>
          <a:noFill/>
          <a:ln/>
        </p:spPr>
        <p:txBody>
          <a:bodyPr wrap="square" lIns="0" tIns="0" rIns="0" bIns="0" rtlCol="0" anchor="ctr"/>
          <a:lstStyle/>
          <a:p>
            <a:pPr indent="0" marL="0">
              <a:buNone/>
            </a:pPr>
            <a:r>
              <a:rPr lang="en-US" sz="1150" b="1" dirty="0">
                <a:solidFill>
                  <a:srgbClr val="FFFFFF"/>
                </a:solidFill>
              </a:rPr>
              <a:t>PDF export</a:t>
            </a:r>
            <a:endParaRPr lang="en-US" sz="1150" dirty="0"/>
          </a:p>
        </p:txBody>
      </p:sp>
      <p:sp>
        <p:nvSpPr>
          <p:cNvPr id="28" name="ad4"/>
          <p:cNvSpPr txBox="1"/>
          <p:nvPr/>
        </p:nvSpPr>
        <p:spPr>
          <a:xfrm>
            <a:off x="5138928" y="5138928"/>
            <a:ext cx="6302959" cy="676656"/>
          </a:xfrm>
          <a:prstGeom prst="rect">
            <a:avLst/>
          </a:prstGeom>
          <a:noFill/>
          <a:ln/>
        </p:spPr>
        <p:txBody>
          <a:bodyPr wrap="square" lIns="0" tIns="0" rIns="0" bIns="0" rtlCol="0" anchor="ctr"/>
          <a:lstStyle/>
          <a:p>
            <a:pPr indent="0" marL="0">
              <a:buNone/>
            </a:pPr>
            <a:r>
              <a:rPr lang="en-US" sz="1050" dirty="0">
                <a:solidFill>
                  <a:srgbClr val="DCE6F2"/>
                </a:solidFill>
              </a:rPr>
              <a:t>Animations do not survive PDF export, so every slide is laid out to be complete and readable with all build steps visible at once. Nothing is hidden behind an animation.</a:t>
            </a:r>
            <a:endParaRPr lang="en-US" sz="1050" dirty="0"/>
          </a:p>
        </p:txBody>
      </p:sp>
      <p:sp>
        <p:nvSpPr>
          <p:cNvPr id="29" name="anote"/>
          <p:cNvSpPr txBox="1"/>
          <p:nvPr/>
        </p:nvSpPr>
        <p:spPr>
          <a:xfrm>
            <a:off x="566928" y="6044184"/>
            <a:ext cx="11057839" cy="365760"/>
          </a:xfrm>
          <a:prstGeom prst="rect">
            <a:avLst/>
          </a:prstGeom>
          <a:noFill/>
          <a:ln/>
        </p:spPr>
        <p:txBody>
          <a:bodyPr wrap="square" lIns="0" tIns="0" rIns="0" bIns="0" rtlCol="0" anchor="ctr"/>
          <a:lstStyle/>
          <a:p>
            <a:pPr indent="0" marL="0">
              <a:buNone/>
            </a:pPr>
            <a:r>
              <a:rPr lang="en-US" sz="1200" i="1" dirty="0">
                <a:solidFill>
                  <a:srgbClr val="35C6A8"/>
                </a:solidFill>
              </a:rPr>
              <a:t>To present: each build step advances on a click, exactly like a normal PowerPoint build. Pressing through without pausing shows the finished slide.</a:t>
            </a:r>
            <a:endParaRPr lang="en-US" sz="12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66928" y="365760"/>
            <a:ext cx="11057839" cy="566928"/>
          </a:xfrm>
          <a:prstGeom prst="rect">
            <a:avLst/>
          </a:prstGeom>
          <a:noFill/>
          <a:ln/>
        </p:spPr>
        <p:txBody>
          <a:bodyPr wrap="square" lIns="0" tIns="0" rIns="0" bIns="0" rtlCol="0" anchor="ctr"/>
          <a:lstStyle/>
          <a:p>
            <a:pPr algn="l" indent="0" marL="0">
              <a:buNone/>
            </a:pPr>
            <a:r>
              <a:rPr lang="en-US" sz="2900" b="1" dirty="0">
                <a:solidFill>
                  <a:srgbClr val="FFFFFF"/>
                </a:solidFill>
              </a:rPr>
              <a:t>Appendix D · sources</a:t>
            </a:r>
            <a:endParaRPr lang="en-US" sz="2900" dirty="0"/>
          </a:p>
        </p:txBody>
      </p:sp>
      <p:sp>
        <p:nvSpPr>
          <p:cNvPr id="3" name="Text 0"/>
          <p:cNvSpPr/>
          <p:nvPr>
            <p:ph idx="101" type="body" hasCustomPrompt="1"/>
          </p:nvPr>
        </p:nvSpPr>
        <p:spPr>
          <a:xfrm>
            <a:off x="566928" y="932688"/>
            <a:ext cx="11057839" cy="384048"/>
          </a:xfrm>
          <a:prstGeom prst="rect">
            <a:avLst/>
          </a:prstGeom>
          <a:noFill/>
          <a:ln/>
        </p:spPr>
        <p:txBody>
          <a:bodyPr wrap="square" lIns="0" tIns="0" rIns="0" bIns="0" rtlCol="0" anchor="t"/>
          <a:lstStyle/>
          <a:p>
            <a:pPr algn="l" indent="0" marL="0">
              <a:buNone/>
            </a:pPr>
            <a:r>
              <a:rPr lang="en-US" sz="1500" dirty="0">
                <a:solidFill>
                  <a:srgbClr val="DCE6F2"/>
                </a:solidFill>
              </a:rPr>
              <a:t>Everything the deck attributes to someone else</a:t>
            </a:r>
            <a:endParaRPr lang="en-US" sz="1500" dirty="0"/>
          </a:p>
        </p:txBody>
      </p:sp>
      <p:sp>
        <p:nvSpPr>
          <p:cNvPr id="4" name="sw0"/>
          <p:cNvSpPr txBox="1"/>
          <p:nvPr/>
        </p:nvSpPr>
        <p:spPr>
          <a:xfrm>
            <a:off x="566928" y="1572768"/>
            <a:ext cx="4023360" cy="274320"/>
          </a:xfrm>
          <a:prstGeom prst="rect">
            <a:avLst/>
          </a:prstGeom>
          <a:noFill/>
          <a:ln/>
        </p:spPr>
        <p:txBody>
          <a:bodyPr wrap="square" lIns="0" tIns="0" rIns="0" bIns="0" rtlCol="0" anchor="ctr"/>
          <a:lstStyle/>
          <a:p>
            <a:pPr indent="0" marL="0">
              <a:buNone/>
            </a:pPr>
            <a:r>
              <a:rPr lang="en-US" sz="1150" b="1" dirty="0">
                <a:solidFill>
                  <a:srgbClr val="35C6A8"/>
                </a:solidFill>
              </a:rPr>
              <a:t>BlueSky scenario-file format</a:t>
            </a:r>
            <a:endParaRPr lang="en-US" sz="1150" dirty="0"/>
          </a:p>
        </p:txBody>
      </p:sp>
      <p:sp>
        <p:nvSpPr>
          <p:cNvPr id="5" name="sh0"/>
          <p:cNvSpPr txBox="1"/>
          <p:nvPr/>
        </p:nvSpPr>
        <p:spPr>
          <a:xfrm>
            <a:off x="566928" y="1847088"/>
            <a:ext cx="4023360" cy="256032"/>
          </a:xfrm>
          <a:prstGeom prst="rect">
            <a:avLst/>
          </a:prstGeom>
          <a:noFill/>
          <a:ln/>
        </p:spPr>
        <p:txBody>
          <a:bodyPr wrap="square" lIns="0" tIns="0" rIns="0" bIns="0" rtlCol="0" anchor="ctr"/>
          <a:lstStyle/>
          <a:p>
            <a:pPr indent="0" marL="0">
              <a:buNone/>
            </a:pPr>
            <a:r>
              <a:rPr lang="en-US" sz="1050" i="1" dirty="0">
                <a:solidFill>
                  <a:srgbClr val="8D9CAF"/>
                </a:solidFill>
              </a:rPr>
              <a:t>TU Delft CNS/ATM</a:t>
            </a:r>
            <a:endParaRPr lang="en-US" sz="1050" dirty="0"/>
          </a:p>
        </p:txBody>
      </p:sp>
      <p:sp>
        <p:nvSpPr>
          <p:cNvPr id="6" name="sd0"/>
          <p:cNvSpPr txBox="1"/>
          <p:nvPr/>
        </p:nvSpPr>
        <p:spPr>
          <a:xfrm>
            <a:off x="4773168" y="1572768"/>
            <a:ext cx="6851599" cy="658368"/>
          </a:xfrm>
          <a:prstGeom prst="rect">
            <a:avLst/>
          </a:prstGeom>
          <a:noFill/>
          <a:ln/>
        </p:spPr>
        <p:txBody>
          <a:bodyPr wrap="square" lIns="0" tIns="0" rIns="0" bIns="0" rtlCol="0" anchor="t"/>
          <a:lstStyle/>
          <a:p>
            <a:pPr indent="0" marL="0">
              <a:buNone/>
            </a:pPr>
            <a:r>
              <a:rPr lang="en-US" sz="1050" dirty="0">
                <a:solidFill>
                  <a:srgbClr val="DCE6F2"/>
                </a:solidFill>
              </a:rPr>
              <a:t>github.com/TUDelft-CNS-ATM/bluesky — wiki, “Scenario files”. The H:MM:SS.SS&gt; line format, the # comment convention and the CRE argument order on slides 2 and 5 are taken from this page.</a:t>
            </a:r>
            <a:endParaRPr lang="en-US" sz="1050" dirty="0"/>
          </a:p>
        </p:txBody>
      </p:sp>
      <p:sp>
        <p:nvSpPr>
          <p:cNvPr id="7" name="sw1"/>
          <p:cNvSpPr txBox="1"/>
          <p:nvPr/>
        </p:nvSpPr>
        <p:spPr>
          <a:xfrm>
            <a:off x="566928" y="2304288"/>
            <a:ext cx="4023360" cy="274320"/>
          </a:xfrm>
          <a:prstGeom prst="rect">
            <a:avLst/>
          </a:prstGeom>
          <a:noFill/>
          <a:ln/>
        </p:spPr>
        <p:txBody>
          <a:bodyPr wrap="square" lIns="0" tIns="0" rIns="0" bIns="0" rtlCol="0" anchor="ctr"/>
          <a:lstStyle/>
          <a:p>
            <a:pPr indent="0" marL="0">
              <a:buNone/>
            </a:pPr>
            <a:r>
              <a:rPr lang="en-US" sz="1150" b="1" dirty="0">
                <a:solidFill>
                  <a:srgbClr val="35C6A8"/>
                </a:solidFill>
              </a:rPr>
              <a:t>ATC scenario development lacks standard practice</a:t>
            </a:r>
            <a:endParaRPr lang="en-US" sz="1150" dirty="0"/>
          </a:p>
        </p:txBody>
      </p:sp>
      <p:sp>
        <p:nvSpPr>
          <p:cNvPr id="8" name="sh1"/>
          <p:cNvSpPr txBox="1"/>
          <p:nvPr/>
        </p:nvSpPr>
        <p:spPr>
          <a:xfrm>
            <a:off x="566928" y="2578608"/>
            <a:ext cx="4023360" cy="256032"/>
          </a:xfrm>
          <a:prstGeom prst="rect">
            <a:avLst/>
          </a:prstGeom>
          <a:noFill/>
          <a:ln/>
        </p:spPr>
        <p:txBody>
          <a:bodyPr wrap="square" lIns="0" tIns="0" rIns="0" bIns="0" rtlCol="0" anchor="ctr"/>
          <a:lstStyle/>
          <a:p>
            <a:pPr indent="0" marL="0">
              <a:buNone/>
            </a:pPr>
            <a:r>
              <a:rPr lang="en-US" sz="1050" i="1" dirty="0">
                <a:solidFill>
                  <a:srgbClr val="8D9CAF"/>
                </a:solidFill>
              </a:rPr>
              <a:t>Jafer, Updegrove &amp; Chhaya, 2017</a:t>
            </a:r>
            <a:endParaRPr lang="en-US" sz="1050" dirty="0"/>
          </a:p>
        </p:txBody>
      </p:sp>
      <p:sp>
        <p:nvSpPr>
          <p:cNvPr id="9" name="sd1"/>
          <p:cNvSpPr txBox="1"/>
          <p:nvPr/>
        </p:nvSpPr>
        <p:spPr>
          <a:xfrm>
            <a:off x="4773168" y="2304288"/>
            <a:ext cx="6851599" cy="658368"/>
          </a:xfrm>
          <a:prstGeom prst="rect">
            <a:avLst/>
          </a:prstGeom>
          <a:noFill/>
          <a:ln/>
        </p:spPr>
        <p:txBody>
          <a:bodyPr wrap="square" lIns="0" tIns="0" rIns="0" bIns="0" rtlCol="0" anchor="t"/>
          <a:lstStyle/>
          <a:p>
            <a:pPr indent="0" marL="0">
              <a:buNone/>
            </a:pPr>
            <a:r>
              <a:rPr lang="en-US" sz="1050" dirty="0">
                <a:solidFill>
                  <a:srgbClr val="DCE6F2"/>
                </a:solidFill>
              </a:rPr>
              <a:t>“Towards a Common Air Traffic Control Simulation Scenario Development”, SciTePress, pp. 52–70, DOI 10.5220/0007905000520070. Proposes an ATC Scenario Language extending ASDL.</a:t>
            </a:r>
            <a:endParaRPr lang="en-US" sz="1050" dirty="0"/>
          </a:p>
        </p:txBody>
      </p:sp>
      <p:sp>
        <p:nvSpPr>
          <p:cNvPr id="10" name="sw2"/>
          <p:cNvSpPr txBox="1"/>
          <p:nvPr/>
        </p:nvSpPr>
        <p:spPr>
          <a:xfrm>
            <a:off x="566928" y="3035808"/>
            <a:ext cx="4023360" cy="274320"/>
          </a:xfrm>
          <a:prstGeom prst="rect">
            <a:avLst/>
          </a:prstGeom>
          <a:noFill/>
          <a:ln/>
        </p:spPr>
        <p:txBody>
          <a:bodyPr wrap="square" lIns="0" tIns="0" rIns="0" bIns="0" rtlCol="0" anchor="ctr"/>
          <a:lstStyle/>
          <a:p>
            <a:pPr indent="0" marL="0">
              <a:buNone/>
            </a:pPr>
            <a:r>
              <a:rPr lang="en-US" sz="1150" b="1" dirty="0">
                <a:solidFill>
                  <a:srgbClr val="35C6A8"/>
                </a:solidFill>
              </a:rPr>
              <a:t>Aviation Scenario Definition Language (ASDL)</a:t>
            </a:r>
            <a:endParaRPr lang="en-US" sz="1150" dirty="0"/>
          </a:p>
        </p:txBody>
      </p:sp>
      <p:sp>
        <p:nvSpPr>
          <p:cNvPr id="11" name="sh2"/>
          <p:cNvSpPr txBox="1"/>
          <p:nvPr/>
        </p:nvSpPr>
        <p:spPr>
          <a:xfrm>
            <a:off x="566928" y="3310128"/>
            <a:ext cx="4023360" cy="256032"/>
          </a:xfrm>
          <a:prstGeom prst="rect">
            <a:avLst/>
          </a:prstGeom>
          <a:noFill/>
          <a:ln/>
        </p:spPr>
        <p:txBody>
          <a:bodyPr wrap="square" lIns="0" tIns="0" rIns="0" bIns="0" rtlCol="0" anchor="ctr"/>
          <a:lstStyle/>
          <a:p>
            <a:pPr indent="0" marL="0">
              <a:buNone/>
            </a:pPr>
            <a:r>
              <a:rPr lang="en-US" sz="1050" i="1" dirty="0">
                <a:solidFill>
                  <a:srgbClr val="8D9CAF"/>
                </a:solidFill>
              </a:rPr>
              <a:t>Jafer et al., Embry-Riddle</a:t>
            </a:r>
            <a:endParaRPr lang="en-US" sz="1050" dirty="0"/>
          </a:p>
        </p:txBody>
      </p:sp>
      <p:sp>
        <p:nvSpPr>
          <p:cNvPr id="12" name="sd2"/>
          <p:cNvSpPr txBox="1"/>
          <p:nvPr/>
        </p:nvSpPr>
        <p:spPr>
          <a:xfrm>
            <a:off x="4773168" y="3035808"/>
            <a:ext cx="6851599" cy="658368"/>
          </a:xfrm>
          <a:prstGeom prst="rect">
            <a:avLst/>
          </a:prstGeom>
          <a:noFill/>
          <a:ln/>
        </p:spPr>
        <p:txBody>
          <a:bodyPr wrap="square" lIns="0" tIns="0" rIns="0" bIns="0" rtlCol="0" anchor="t"/>
          <a:lstStyle/>
          <a:p>
            <a:pPr indent="0" marL="0">
              <a:buNone/>
            </a:pPr>
            <a:r>
              <a:rPr lang="en-US" sz="1050" dirty="0">
                <a:solidFill>
                  <a:srgbClr val="DCE6F2"/>
                </a:solidFill>
              </a:rPr>
              <a:t>A formal scenario definition language for aviation. The prior art AeroDSL's idea sits behind.</a:t>
            </a:r>
            <a:endParaRPr lang="en-US" sz="1050" dirty="0"/>
          </a:p>
        </p:txBody>
      </p:sp>
      <p:sp>
        <p:nvSpPr>
          <p:cNvPr id="13" name="sw3"/>
          <p:cNvSpPr txBox="1"/>
          <p:nvPr/>
        </p:nvSpPr>
        <p:spPr>
          <a:xfrm>
            <a:off x="566928" y="3767328"/>
            <a:ext cx="4023360" cy="274320"/>
          </a:xfrm>
          <a:prstGeom prst="rect">
            <a:avLst/>
          </a:prstGeom>
          <a:noFill/>
          <a:ln/>
        </p:spPr>
        <p:txBody>
          <a:bodyPr wrap="square" lIns="0" tIns="0" rIns="0" bIns="0" rtlCol="0" anchor="ctr"/>
          <a:lstStyle/>
          <a:p>
            <a:pPr indent="0" marL="0">
              <a:buNone/>
            </a:pPr>
            <a:r>
              <a:rPr lang="en-US" sz="1150" b="1" dirty="0">
                <a:solidFill>
                  <a:srgbClr val="35C6A8"/>
                </a:solidFill>
              </a:rPr>
              <a:t>Manual scenario design is a bottleneck</a:t>
            </a:r>
            <a:endParaRPr lang="en-US" sz="1150" dirty="0"/>
          </a:p>
        </p:txBody>
      </p:sp>
      <p:sp>
        <p:nvSpPr>
          <p:cNvPr id="14" name="sh3"/>
          <p:cNvSpPr txBox="1"/>
          <p:nvPr/>
        </p:nvSpPr>
        <p:spPr>
          <a:xfrm>
            <a:off x="566928" y="4041648"/>
            <a:ext cx="4023360" cy="256032"/>
          </a:xfrm>
          <a:prstGeom prst="rect">
            <a:avLst/>
          </a:prstGeom>
          <a:noFill/>
          <a:ln/>
        </p:spPr>
        <p:txBody>
          <a:bodyPr wrap="square" lIns="0" tIns="0" rIns="0" bIns="0" rtlCol="0" anchor="ctr"/>
          <a:lstStyle/>
          <a:p>
            <a:pPr indent="0" marL="0">
              <a:buNone/>
            </a:pPr>
            <a:r>
              <a:rPr lang="en-US" sz="1050" i="1" dirty="0">
                <a:solidFill>
                  <a:srgbClr val="8D9CAF"/>
                </a:solidFill>
              </a:rPr>
              <a:t>Gould, De Ath, Carvell &amp; Pepper, 2025</a:t>
            </a:r>
            <a:endParaRPr lang="en-US" sz="1050" dirty="0"/>
          </a:p>
        </p:txBody>
      </p:sp>
      <p:sp>
        <p:nvSpPr>
          <p:cNvPr id="15" name="sd3"/>
          <p:cNvSpPr txBox="1"/>
          <p:nvPr/>
        </p:nvSpPr>
        <p:spPr>
          <a:xfrm>
            <a:off x="4773168" y="3767328"/>
            <a:ext cx="6851599" cy="658368"/>
          </a:xfrm>
          <a:prstGeom prst="rect">
            <a:avLst/>
          </a:prstGeom>
          <a:noFill/>
          <a:ln/>
        </p:spPr>
        <p:txBody>
          <a:bodyPr wrap="square" lIns="0" tIns="0" rIns="0" bIns="0" rtlCol="0" anchor="t"/>
          <a:lstStyle/>
          <a:p>
            <a:pPr indent="0" marL="0">
              <a:buNone/>
            </a:pPr>
            <a:r>
              <a:rPr lang="en-US" sz="1050" dirty="0">
                <a:solidFill>
                  <a:srgbClr val="DCE6F2"/>
                </a:solidFill>
              </a:rPr>
              <a:t>“AirTrafficGen: Configurable Air Traffic Scenario Generation with Large Language Models”, arXiv:2508.02269. Describes manual design as “a demanding and time-consuming bottleneck”.</a:t>
            </a:r>
            <a:endParaRPr lang="en-US" sz="1050" dirty="0"/>
          </a:p>
        </p:txBody>
      </p:sp>
      <p:sp>
        <p:nvSpPr>
          <p:cNvPr id="16" name="sw4"/>
          <p:cNvSpPr txBox="1"/>
          <p:nvPr/>
        </p:nvSpPr>
        <p:spPr>
          <a:xfrm>
            <a:off x="566928" y="4498848"/>
            <a:ext cx="4023360" cy="274320"/>
          </a:xfrm>
          <a:prstGeom prst="rect">
            <a:avLst/>
          </a:prstGeom>
          <a:noFill/>
          <a:ln/>
        </p:spPr>
        <p:txBody>
          <a:bodyPr wrap="square" lIns="0" tIns="0" rIns="0" bIns="0" rtlCol="0" anchor="ctr"/>
          <a:lstStyle/>
          <a:p>
            <a:pPr indent="0" marL="0">
              <a:buNone/>
            </a:pPr>
            <a:r>
              <a:rPr lang="en-US" sz="1150" b="1" dirty="0">
                <a:solidFill>
                  <a:srgbClr val="35C6A8"/>
                </a:solidFill>
              </a:rPr>
              <a:t>Compiler technique throughout</a:t>
            </a:r>
            <a:endParaRPr lang="en-US" sz="1150" dirty="0"/>
          </a:p>
        </p:txBody>
      </p:sp>
      <p:sp>
        <p:nvSpPr>
          <p:cNvPr id="17" name="sh4"/>
          <p:cNvSpPr txBox="1"/>
          <p:nvPr/>
        </p:nvSpPr>
        <p:spPr>
          <a:xfrm>
            <a:off x="566928" y="4773168"/>
            <a:ext cx="4023360" cy="256032"/>
          </a:xfrm>
          <a:prstGeom prst="rect">
            <a:avLst/>
          </a:prstGeom>
          <a:noFill/>
          <a:ln/>
        </p:spPr>
        <p:txBody>
          <a:bodyPr wrap="square" lIns="0" tIns="0" rIns="0" bIns="0" rtlCol="0" anchor="ctr"/>
          <a:lstStyle/>
          <a:p>
            <a:pPr indent="0" marL="0">
              <a:buNone/>
            </a:pPr>
            <a:r>
              <a:rPr lang="en-US" sz="1050" i="1" dirty="0">
                <a:solidFill>
                  <a:srgbClr val="8D9CAF"/>
                </a:solidFill>
              </a:rPr>
              <a:t>Aho, Lam, Sethi &amp; Ullman</a:t>
            </a:r>
            <a:endParaRPr lang="en-US" sz="1050" dirty="0"/>
          </a:p>
        </p:txBody>
      </p:sp>
      <p:sp>
        <p:nvSpPr>
          <p:cNvPr id="18" name="sd4"/>
          <p:cNvSpPr txBox="1"/>
          <p:nvPr/>
        </p:nvSpPr>
        <p:spPr>
          <a:xfrm>
            <a:off x="4773168" y="4498848"/>
            <a:ext cx="6851599" cy="658368"/>
          </a:xfrm>
          <a:prstGeom prst="rect">
            <a:avLst/>
          </a:prstGeom>
          <a:noFill/>
          <a:ln/>
        </p:spPr>
        <p:txBody>
          <a:bodyPr wrap="square" lIns="0" tIns="0" rIns="0" bIns="0" rtlCol="0" anchor="t"/>
          <a:lstStyle/>
          <a:p>
            <a:pPr indent="0" marL="0">
              <a:buNone/>
            </a:pPr>
            <a:r>
              <a:rPr lang="en-US" sz="1050" dirty="0">
                <a:solidFill>
                  <a:srgbClr val="DCE6F2"/>
                </a:solidFill>
              </a:rPr>
              <a:t>Compilers: Principles, Techniques and Tools, 2nd ed. Backpatching, the DAG, next-use information and the register allocator follow the schemes in the text.</a:t>
            </a:r>
            <a:endParaRPr lang="en-US" sz="1050" dirty="0"/>
          </a:p>
        </p:txBody>
      </p:sp>
      <p:sp>
        <p:nvSpPr>
          <p:cNvPr id="19" name="sw5"/>
          <p:cNvSpPr txBox="1"/>
          <p:nvPr/>
        </p:nvSpPr>
        <p:spPr>
          <a:xfrm>
            <a:off x="566928" y="5230368"/>
            <a:ext cx="4023360" cy="274320"/>
          </a:xfrm>
          <a:prstGeom prst="rect">
            <a:avLst/>
          </a:prstGeom>
          <a:noFill/>
          <a:ln/>
        </p:spPr>
        <p:txBody>
          <a:bodyPr wrap="square" lIns="0" tIns="0" rIns="0" bIns="0" rtlCol="0" anchor="ctr"/>
          <a:lstStyle/>
          <a:p>
            <a:pPr indent="0" marL="0">
              <a:buNone/>
            </a:pPr>
            <a:r>
              <a:rPr lang="en-US" sz="1150" b="1" dirty="0">
                <a:solidFill>
                  <a:srgbClr val="35C6A8"/>
                </a:solidFill>
              </a:rPr>
              <a:t>SSA construction</a:t>
            </a:r>
            <a:endParaRPr lang="en-US" sz="1150" dirty="0"/>
          </a:p>
        </p:txBody>
      </p:sp>
      <p:sp>
        <p:nvSpPr>
          <p:cNvPr id="20" name="sh5"/>
          <p:cNvSpPr txBox="1"/>
          <p:nvPr/>
        </p:nvSpPr>
        <p:spPr>
          <a:xfrm>
            <a:off x="566928" y="5504688"/>
            <a:ext cx="4023360" cy="256032"/>
          </a:xfrm>
          <a:prstGeom prst="rect">
            <a:avLst/>
          </a:prstGeom>
          <a:noFill/>
          <a:ln/>
        </p:spPr>
        <p:txBody>
          <a:bodyPr wrap="square" lIns="0" tIns="0" rIns="0" bIns="0" rtlCol="0" anchor="ctr"/>
          <a:lstStyle/>
          <a:p>
            <a:pPr indent="0" marL="0">
              <a:buNone/>
            </a:pPr>
            <a:r>
              <a:rPr lang="en-US" sz="1050" i="1" dirty="0">
                <a:solidFill>
                  <a:srgbClr val="8D9CAF"/>
                </a:solidFill>
              </a:rPr>
              <a:t>Cytron et al.</a:t>
            </a:r>
            <a:endParaRPr lang="en-US" sz="1050" dirty="0"/>
          </a:p>
        </p:txBody>
      </p:sp>
      <p:sp>
        <p:nvSpPr>
          <p:cNvPr id="21" name="sd5"/>
          <p:cNvSpPr txBox="1"/>
          <p:nvPr/>
        </p:nvSpPr>
        <p:spPr>
          <a:xfrm>
            <a:off x="4773168" y="5230368"/>
            <a:ext cx="6851599" cy="658368"/>
          </a:xfrm>
          <a:prstGeom prst="rect">
            <a:avLst/>
          </a:prstGeom>
          <a:noFill/>
          <a:ln/>
        </p:spPr>
        <p:txBody>
          <a:bodyPr wrap="square" lIns="0" tIns="0" rIns="0" bIns="0" rtlCol="0" anchor="t"/>
          <a:lstStyle/>
          <a:p>
            <a:pPr indent="0" marL="0">
              <a:buNone/>
            </a:pPr>
            <a:r>
              <a:rPr lang="en-US" sz="1050" dirty="0">
                <a:solidFill>
                  <a:srgbClr val="DCE6F2"/>
                </a:solidFill>
              </a:rPr>
              <a:t>Dominance frontiers, phi placement and renaming over the dominator tree.</a:t>
            </a:r>
            <a:endParaRPr lang="en-US" sz="1050" dirty="0"/>
          </a:p>
        </p:txBody>
      </p:sp>
      <p:sp>
        <p:nvSpPr>
          <p:cNvPr id="22" name="snote"/>
          <p:cNvSpPr txBox="1"/>
          <p:nvPr/>
        </p:nvSpPr>
        <p:spPr>
          <a:xfrm>
            <a:off x="566928" y="6053328"/>
            <a:ext cx="11057839" cy="365760"/>
          </a:xfrm>
          <a:prstGeom prst="rect">
            <a:avLst/>
          </a:prstGeom>
          <a:noFill/>
          <a:ln/>
        </p:spPr>
        <p:txBody>
          <a:bodyPr wrap="square" lIns="0" tIns="0" rIns="0" bIns="0" rtlCol="0" anchor="ctr"/>
          <a:lstStyle/>
          <a:p>
            <a:pPr indent="0" marL="0">
              <a:buNone/>
            </a:pPr>
            <a:r>
              <a:rPr lang="en-US" sz="1200" i="1" dirty="0">
                <a:solidFill>
                  <a:srgbClr val="E8A33D"/>
                </a:solidFill>
              </a:rPr>
              <a:t>No industry statistic, interview, incident record or user study is quoted anywhere in this deck, because none was conducted.</a:t>
            </a:r>
            <a:endParaRPr lang="en-US" sz="1200" dirty="0"/>
          </a:p>
        </p:txBody>
      </p:sp>
      <p:sp>
        <p:nvSpPr>
          <p:cNvPr id="25" name="Slide Number Placeholder 0"/>
          <p:cNvSpPr>
            <a:spLocks noGrp="1"/>
          </p:cNvSpPr>
          <p:nvPr>
            <p:ph type="sldNum" sz="quarter" idx="4294967295"/>
          </p:nvPr>
        </p:nvSpPr>
        <p:spPr>
          <a:xfrm>
            <a:off x="11475720" y="641908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A5B70"/>
                </a:solidFill>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theme/theme1.xml><?xml version="1.0" encoding="utf-8"?>
<a:theme xmlns:a="http://schemas.openxmlformats.org/drawingml/2006/main" name="AeroDSL Radar">
  <a:themeElements>
    <a:clrScheme name="AeroDSL Radar">
      <a:dk1>
        <a:srgbClr val="0A121E"/>
      </a:dk1>
      <a:lt1>
        <a:srgbClr val="FFFFFF"/>
      </a:lt1>
      <a:dk2>
        <a:srgbClr val="0C1626"/>
      </a:dk2>
      <a:lt2>
        <a:srgbClr val="DCE6F2"/>
      </a:lt2>
      <a:accent1>
        <a:srgbClr val="35C6A8"/>
      </a:accent1>
      <a:accent2>
        <a:srgbClr val="E8A33D"/>
      </a:accent2>
      <a:accent3>
        <a:srgbClr val="E85D75"/>
      </a:accent3>
      <a:accent4>
        <a:srgbClr val="7FA3DB"/>
      </a:accent4>
      <a:accent5>
        <a:srgbClr val="8D9CAF"/>
      </a:accent5>
      <a:accent6>
        <a:srgbClr val="16233A"/>
      </a:accent6>
      <a:hlink>
        <a:srgbClr val="35C6A8"/>
      </a:hlink>
      <a:folHlink>
        <a:srgbClr val="8D9CAF"/>
      </a:folHlink>
    </a:clrScheme>
    <a:fontScheme name="AeroDSL Rada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AeroDSL: A Domain-Specific Language and Compiler for Simulated ATC Training Scenarios</dc:title>
  <dc:subject>Compiler Design course project review</dc:subject>
  <dc:creator>AeroDSL project</dc:creator>
  <cp:lastModifiedBy>AeroDSL project</cp:lastModifiedBy>
  <cp:revision>1</cp:revision>
  <dcterms:created xsi:type="dcterms:W3CDTF">2026-10-11T21:41:21Z</dcterms:created>
  <dcterms:modified xsi:type="dcterms:W3CDTF">2026-10-11T21:41:21Z</dcterms:modified>
</cp:coreProperties>
</file>